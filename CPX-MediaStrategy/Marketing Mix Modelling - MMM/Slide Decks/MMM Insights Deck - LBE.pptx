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 id="2147483672" r:id="rId5"/>
  </p:sldMasterIdLst>
  <p:notesMasterIdLst>
    <p:notesMasterId r:id="rId40"/>
  </p:notesMasterIdLst>
  <p:sldIdLst>
    <p:sldId id="276" r:id="rId6"/>
    <p:sldId id="342" r:id="rId7"/>
    <p:sldId id="284" r:id="rId8"/>
    <p:sldId id="412" r:id="rId9"/>
    <p:sldId id="399" r:id="rId10"/>
    <p:sldId id="411" r:id="rId11"/>
    <p:sldId id="398" r:id="rId12"/>
    <p:sldId id="351" r:id="rId13"/>
    <p:sldId id="397" r:id="rId14"/>
    <p:sldId id="407" r:id="rId15"/>
    <p:sldId id="375" r:id="rId16"/>
    <p:sldId id="376" r:id="rId17"/>
    <p:sldId id="390" r:id="rId18"/>
    <p:sldId id="391" r:id="rId19"/>
    <p:sldId id="379" r:id="rId20"/>
    <p:sldId id="383" r:id="rId21"/>
    <p:sldId id="402" r:id="rId22"/>
    <p:sldId id="403" r:id="rId23"/>
    <p:sldId id="382" r:id="rId24"/>
    <p:sldId id="396" r:id="rId25"/>
    <p:sldId id="408" r:id="rId26"/>
    <p:sldId id="258" r:id="rId27"/>
    <p:sldId id="371" r:id="rId28"/>
    <p:sldId id="372" r:id="rId29"/>
    <p:sldId id="373" r:id="rId30"/>
    <p:sldId id="384" r:id="rId31"/>
    <p:sldId id="385" r:id="rId32"/>
    <p:sldId id="374" r:id="rId33"/>
    <p:sldId id="279" r:id="rId34"/>
    <p:sldId id="361" r:id="rId35"/>
    <p:sldId id="409" r:id="rId36"/>
    <p:sldId id="350" r:id="rId37"/>
    <p:sldId id="410" r:id="rId38"/>
    <p:sldId id="395" r:id="rId3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84" userDrawn="1">
          <p15:clr>
            <a:srgbClr val="A4A3A4"/>
          </p15:clr>
        </p15:guide>
        <p15:guide id="2" pos="4416" userDrawn="1">
          <p15:clr>
            <a:srgbClr val="A4A3A4"/>
          </p15:clr>
        </p15:guide>
        <p15:guide id="3" pos="360" userDrawn="1">
          <p15:clr>
            <a:srgbClr val="A4A3A4"/>
          </p15:clr>
        </p15:guide>
        <p15:guide id="4" pos="4224" userDrawn="1">
          <p15:clr>
            <a:srgbClr val="A4A3A4"/>
          </p15:clr>
        </p15:guide>
        <p15:guide id="5" orient="horz" pos="768" userDrawn="1">
          <p15:clr>
            <a:srgbClr val="A4A3A4"/>
          </p15:clr>
        </p15:guide>
        <p15:guide id="6" pos="7296" userDrawn="1">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57B0D3D0-8A38-276B-CFF3-B71630BA4669}" name="Swati Mayo" initials="SM" userId="S::Swati.Mayo@cineplex.com::42721861-de89-4c64-94cc-c3145af6c770" providerId="AD"/>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777777"/>
    <a:srgbClr val="808080"/>
    <a:srgbClr val="96969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CCEACFA-80F3-44B6-A730-E2442CAD75CE}" v="8" dt="2026-03-02T18:07:21.748"/>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8286" autoAdjust="0"/>
    <p:restoredTop sz="83476" autoAdjust="0"/>
  </p:normalViewPr>
  <p:slideViewPr>
    <p:cSldViewPr snapToGrid="0">
      <p:cViewPr varScale="1">
        <p:scale>
          <a:sx n="92" d="100"/>
          <a:sy n="92" d="100"/>
        </p:scale>
        <p:origin x="182" y="67"/>
      </p:cViewPr>
      <p:guideLst>
        <p:guide orient="horz" pos="2184"/>
        <p:guide pos="4416"/>
        <p:guide pos="360"/>
        <p:guide pos="4224"/>
        <p:guide orient="horz" pos="768"/>
        <p:guide pos="7296"/>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slide" Target="slides/slide21.xml"/><Relationship Id="rId39" Type="http://schemas.openxmlformats.org/officeDocument/2006/relationships/slide" Target="slides/slide34.xml"/><Relationship Id="rId21" Type="http://schemas.openxmlformats.org/officeDocument/2006/relationships/slide" Target="slides/slide16.xml"/><Relationship Id="rId34" Type="http://schemas.openxmlformats.org/officeDocument/2006/relationships/slide" Target="slides/slide29.xml"/><Relationship Id="rId42" Type="http://schemas.openxmlformats.org/officeDocument/2006/relationships/viewProps" Target="viewProps.xml"/><Relationship Id="rId47" Type="http://schemas.microsoft.com/office/2018/10/relationships/authors" Target="authors.xml"/><Relationship Id="rId7" Type="http://schemas.openxmlformats.org/officeDocument/2006/relationships/slide" Target="slides/slide2.xml"/><Relationship Id="rId2" Type="http://schemas.openxmlformats.org/officeDocument/2006/relationships/customXml" Target="../customXml/item2.xml"/><Relationship Id="rId16" Type="http://schemas.openxmlformats.org/officeDocument/2006/relationships/slide" Target="slides/slide11.xml"/><Relationship Id="rId29" Type="http://schemas.openxmlformats.org/officeDocument/2006/relationships/slide" Target="slides/slide24.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slide" Target="slides/slide27.xml"/><Relationship Id="rId37" Type="http://schemas.openxmlformats.org/officeDocument/2006/relationships/slide" Target="slides/slide32.xml"/><Relationship Id="rId40" Type="http://schemas.openxmlformats.org/officeDocument/2006/relationships/notesMaster" Target="notesMasters/notesMaster1.xml"/><Relationship Id="rId45" Type="http://schemas.microsoft.com/office/2016/11/relationships/changesInfo" Target="changesInfos/changesInfo1.xml"/><Relationship Id="rId5" Type="http://schemas.openxmlformats.org/officeDocument/2006/relationships/slideMaster" Target="slideMasters/slideMaster2.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slide" Target="slides/slide31.xml"/><Relationship Id="rId10" Type="http://schemas.openxmlformats.org/officeDocument/2006/relationships/slide" Target="slides/slide5.xml"/><Relationship Id="rId19" Type="http://schemas.openxmlformats.org/officeDocument/2006/relationships/slide" Target="slides/slide14.xml"/><Relationship Id="rId31" Type="http://schemas.openxmlformats.org/officeDocument/2006/relationships/slide" Target="slides/slide26.xml"/><Relationship Id="rId44"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slide" Target="slides/slide25.xml"/><Relationship Id="rId35" Type="http://schemas.openxmlformats.org/officeDocument/2006/relationships/slide" Target="slides/slide30.xml"/><Relationship Id="rId43" Type="http://schemas.openxmlformats.org/officeDocument/2006/relationships/theme" Target="theme/theme1.xml"/><Relationship Id="rId8" Type="http://schemas.openxmlformats.org/officeDocument/2006/relationships/slide" Target="slides/slide3.xml"/><Relationship Id="rId3" Type="http://schemas.openxmlformats.org/officeDocument/2006/relationships/customXml" Target="../customXml/item3.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slide" Target="slides/slide28.xml"/><Relationship Id="rId38" Type="http://schemas.openxmlformats.org/officeDocument/2006/relationships/slide" Target="slides/slide33.xml"/><Relationship Id="rId46" Type="http://schemas.microsoft.com/office/2015/10/relationships/revisionInfo" Target="revisionInfo.xml"/><Relationship Id="rId20" Type="http://schemas.openxmlformats.org/officeDocument/2006/relationships/slide" Target="slides/slide15.xml"/><Relationship Id="rId41"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Ranjan Mishra" userId="165f9e9d-a88d-45a8-8f17-fd55e29b19ae" providerId="ADAL" clId="{78C45770-C3D7-4B66-8679-46169DE84B2C}"/>
    <pc:docChg chg="modSld">
      <pc:chgData name="Ranjan Mishra" userId="165f9e9d-a88d-45a8-8f17-fd55e29b19ae" providerId="ADAL" clId="{78C45770-C3D7-4B66-8679-46169DE84B2C}" dt="2026-03-02T18:07:21.748" v="7" actId="1036"/>
      <pc:docMkLst>
        <pc:docMk/>
      </pc:docMkLst>
      <pc:sldChg chg="modSp">
        <pc:chgData name="Ranjan Mishra" userId="165f9e9d-a88d-45a8-8f17-fd55e29b19ae" providerId="ADAL" clId="{78C45770-C3D7-4B66-8679-46169DE84B2C}" dt="2026-03-02T18:07:21.748" v="7" actId="1036"/>
        <pc:sldMkLst>
          <pc:docMk/>
          <pc:sldMk cId="1686630050" sldId="399"/>
        </pc:sldMkLst>
        <pc:picChg chg="mod">
          <ac:chgData name="Ranjan Mishra" userId="165f9e9d-a88d-45a8-8f17-fd55e29b19ae" providerId="ADAL" clId="{78C45770-C3D7-4B66-8679-46169DE84B2C}" dt="2026-03-02T18:07:21.748" v="7" actId="1036"/>
          <ac:picMkLst>
            <pc:docMk/>
            <pc:sldMk cId="1686630050" sldId="399"/>
            <ac:picMk id="1026" creationId="{345587D9-F658-0CC9-503C-39C3B47F0185}"/>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9594BA0-1222-4B3E-A707-560BAE46C488}" type="datetimeFigureOut">
              <a:rPr lang="en-US" smtClean="0"/>
              <a:t>3/2/2026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B566DE6-8BBA-4EBF-BFDA-AC520571F445}" type="slidenum">
              <a:rPr lang="en-US" smtClean="0"/>
              <a:t>‹#›</a:t>
            </a:fld>
            <a:endParaRPr lang="en-US"/>
          </a:p>
        </p:txBody>
      </p:sp>
    </p:spTree>
    <p:extLst>
      <p:ext uri="{BB962C8B-B14F-4D97-AF65-F5344CB8AC3E}">
        <p14:creationId xmlns:p14="http://schemas.microsoft.com/office/powerpoint/2010/main" val="223741933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Somewhere beyond ~$12M–$14M, the curve starts to flatten significantly.</a:t>
            </a:r>
          </a:p>
          <a:p>
            <a:r>
              <a:rPr lang="en-US" dirty="0"/>
              <a:t>This means there is an </a:t>
            </a:r>
            <a:r>
              <a:rPr lang="en-US" b="0" dirty="0"/>
              <a:t>optimal budget range </a:t>
            </a:r>
            <a:r>
              <a:rPr lang="en-US" dirty="0"/>
              <a:t>beyond which further investment may not justify the cost unless strategic goals change (e.g., market dominance).</a:t>
            </a:r>
          </a:p>
          <a:p>
            <a:endParaRPr lang="en-US" dirty="0"/>
          </a:p>
        </p:txBody>
      </p:sp>
      <p:sp>
        <p:nvSpPr>
          <p:cNvPr id="4" name="Slide Number Placeholder 3"/>
          <p:cNvSpPr>
            <a:spLocks noGrp="1"/>
          </p:cNvSpPr>
          <p:nvPr>
            <p:ph type="sldNum" sz="quarter" idx="5"/>
          </p:nvPr>
        </p:nvSpPr>
        <p:spPr/>
        <p:txBody>
          <a:bodyPr/>
          <a:lstStyle/>
          <a:p>
            <a:fld id="{3B566DE6-8BBA-4EBF-BFDA-AC520571F445}" type="slidenum">
              <a:rPr lang="en-US" smtClean="0"/>
              <a:t>5</a:t>
            </a:fld>
            <a:endParaRPr lang="en-US"/>
          </a:p>
        </p:txBody>
      </p:sp>
    </p:spTree>
    <p:extLst>
      <p:ext uri="{BB962C8B-B14F-4D97-AF65-F5344CB8AC3E}">
        <p14:creationId xmlns:p14="http://schemas.microsoft.com/office/powerpoint/2010/main" val="322051724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562800-5F10-42D1-1109-B8790C5E7FF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0961873-07A4-CA4B-060B-E866B991A5C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D27690A-EAD2-7251-30F5-66C70A148913}"/>
              </a:ext>
            </a:extLst>
          </p:cNvPr>
          <p:cNvSpPr>
            <a:spLocks noGrp="1"/>
          </p:cNvSpPr>
          <p:nvPr>
            <p:ph type="body" idx="1"/>
          </p:nvPr>
        </p:nvSpPr>
        <p:spPr/>
        <p:txBody>
          <a:bodyPr/>
          <a:lstStyle/>
          <a:p>
            <a:r>
              <a:rPr lang="en-US" dirty="0"/>
              <a:t>Somewhere beyond ~$12M–$14M, the curve starts to flatten significantly.</a:t>
            </a:r>
          </a:p>
          <a:p>
            <a:r>
              <a:rPr lang="en-US" dirty="0"/>
              <a:t>This means there is an </a:t>
            </a:r>
            <a:r>
              <a:rPr lang="en-US" b="0" dirty="0"/>
              <a:t>optimal budget range </a:t>
            </a:r>
            <a:r>
              <a:rPr lang="en-US" dirty="0"/>
              <a:t>beyond which further investment may not justify the cost unless strategic goals change (e.g., market dominance).</a:t>
            </a:r>
          </a:p>
          <a:p>
            <a:endParaRPr lang="en-US" dirty="0"/>
          </a:p>
        </p:txBody>
      </p:sp>
      <p:sp>
        <p:nvSpPr>
          <p:cNvPr id="4" name="Slide Number Placeholder 3">
            <a:extLst>
              <a:ext uri="{FF2B5EF4-FFF2-40B4-BE49-F238E27FC236}">
                <a16:creationId xmlns:a16="http://schemas.microsoft.com/office/drawing/2014/main" id="{FE2C9CAB-A118-F030-BD8B-8C4D029B9609}"/>
              </a:ext>
            </a:extLst>
          </p:cNvPr>
          <p:cNvSpPr>
            <a:spLocks noGrp="1"/>
          </p:cNvSpPr>
          <p:nvPr>
            <p:ph type="sldNum" sz="quarter" idx="5"/>
          </p:nvPr>
        </p:nvSpPr>
        <p:spPr/>
        <p:txBody>
          <a:bodyPr/>
          <a:lstStyle/>
          <a:p>
            <a:fld id="{3B566DE6-8BBA-4EBF-BFDA-AC520571F445}" type="slidenum">
              <a:rPr lang="en-US" smtClean="0"/>
              <a:t>6</a:t>
            </a:fld>
            <a:endParaRPr lang="en-US"/>
          </a:p>
        </p:txBody>
      </p:sp>
    </p:spTree>
    <p:extLst>
      <p:ext uri="{BB962C8B-B14F-4D97-AF65-F5344CB8AC3E}">
        <p14:creationId xmlns:p14="http://schemas.microsoft.com/office/powerpoint/2010/main" val="319907654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aims to </a:t>
            </a:r>
            <a:r>
              <a:rPr lang="en-US" b="0" dirty="0"/>
              <a:t>maximize profit contribution </a:t>
            </a:r>
            <a:r>
              <a:rPr lang="en-US" dirty="0"/>
              <a:t>by identifying the most efficient allocation of budget across location buckets, prioritizing those with higher incremental ROI.</a:t>
            </a:r>
          </a:p>
        </p:txBody>
      </p:sp>
      <p:sp>
        <p:nvSpPr>
          <p:cNvPr id="4" name="Slide Number Placeholder 3"/>
          <p:cNvSpPr>
            <a:spLocks noGrp="1"/>
          </p:cNvSpPr>
          <p:nvPr>
            <p:ph type="sldNum" sz="quarter" idx="5"/>
          </p:nvPr>
        </p:nvSpPr>
        <p:spPr/>
        <p:txBody>
          <a:bodyPr/>
          <a:lstStyle/>
          <a:p>
            <a:fld id="{3B566DE6-8BBA-4EBF-BFDA-AC520571F445}" type="slidenum">
              <a:rPr lang="en-US" smtClean="0"/>
              <a:t>7</a:t>
            </a:fld>
            <a:endParaRPr lang="en-US"/>
          </a:p>
        </p:txBody>
      </p:sp>
    </p:spTree>
    <p:extLst>
      <p:ext uri="{BB962C8B-B14F-4D97-AF65-F5344CB8AC3E}">
        <p14:creationId xmlns:p14="http://schemas.microsoft.com/office/powerpoint/2010/main" val="89230640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dirty="0"/>
              <a:t>Past spend proportions were compared to transaction contribution shares, and the 2026 allocation was optimized to better align investment with true performance impact</a:t>
            </a:r>
            <a:endParaRPr lang="en-US" dirty="0"/>
          </a:p>
        </p:txBody>
      </p:sp>
      <p:sp>
        <p:nvSpPr>
          <p:cNvPr id="4" name="Slide Number Placeholder 3"/>
          <p:cNvSpPr>
            <a:spLocks noGrp="1"/>
          </p:cNvSpPr>
          <p:nvPr>
            <p:ph type="sldNum" sz="quarter" idx="5"/>
          </p:nvPr>
        </p:nvSpPr>
        <p:spPr/>
        <p:txBody>
          <a:bodyPr/>
          <a:lstStyle/>
          <a:p>
            <a:fld id="{3B566DE6-8BBA-4EBF-BFDA-AC520571F445}" type="slidenum">
              <a:rPr lang="en-US" smtClean="0"/>
              <a:t>8</a:t>
            </a:fld>
            <a:endParaRPr lang="en-US"/>
          </a:p>
        </p:txBody>
      </p:sp>
    </p:spTree>
    <p:extLst>
      <p:ext uri="{BB962C8B-B14F-4D97-AF65-F5344CB8AC3E}">
        <p14:creationId xmlns:p14="http://schemas.microsoft.com/office/powerpoint/2010/main" val="283677638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20423B-2AF8-8A2D-DFB9-AE641A80A88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00A7574-0181-EC10-CF25-899492823C5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9C7EF9F-09BD-85C8-F6BD-D22C8DE7ABD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66D1F67-BDDD-32FD-172B-1CAE86C3432A}"/>
              </a:ext>
            </a:extLst>
          </p:cNvPr>
          <p:cNvSpPr>
            <a:spLocks noGrp="1"/>
          </p:cNvSpPr>
          <p:nvPr>
            <p:ph type="sldNum" sz="quarter" idx="5"/>
          </p:nvPr>
        </p:nvSpPr>
        <p:spPr/>
        <p:txBody>
          <a:bodyPr/>
          <a:lstStyle/>
          <a:p>
            <a:fld id="{3B566DE6-8BBA-4EBF-BFDA-AC520571F445}" type="slidenum">
              <a:rPr lang="en-US" smtClean="0"/>
              <a:t>11</a:t>
            </a:fld>
            <a:endParaRPr lang="en-US"/>
          </a:p>
        </p:txBody>
      </p:sp>
    </p:spTree>
    <p:extLst>
      <p:ext uri="{BB962C8B-B14F-4D97-AF65-F5344CB8AC3E}">
        <p14:creationId xmlns:p14="http://schemas.microsoft.com/office/powerpoint/2010/main" val="27619488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3BF482-2060-3CB2-AB98-1975A4F922E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72D8B4D-2E32-3B06-9903-4D95C127C19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E167D69-3479-3044-64C8-6661D0C798FC}"/>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a:p>
        </p:txBody>
      </p:sp>
      <p:sp>
        <p:nvSpPr>
          <p:cNvPr id="4" name="Slide Number Placeholder 3">
            <a:extLst>
              <a:ext uri="{FF2B5EF4-FFF2-40B4-BE49-F238E27FC236}">
                <a16:creationId xmlns:a16="http://schemas.microsoft.com/office/drawing/2014/main" id="{15AF5C93-6033-0298-C66E-77E5CC8863A9}"/>
              </a:ext>
            </a:extLst>
          </p:cNvPr>
          <p:cNvSpPr>
            <a:spLocks noGrp="1"/>
          </p:cNvSpPr>
          <p:nvPr>
            <p:ph type="sldNum" sz="quarter" idx="5"/>
          </p:nvPr>
        </p:nvSpPr>
        <p:spPr/>
        <p:txBody>
          <a:bodyPr/>
          <a:lstStyle/>
          <a:p>
            <a:fld id="{3B566DE6-8BBA-4EBF-BFDA-AC520571F445}" type="slidenum">
              <a:rPr lang="en-US" smtClean="0"/>
              <a:t>12</a:t>
            </a:fld>
            <a:endParaRPr lang="en-US"/>
          </a:p>
        </p:txBody>
      </p:sp>
    </p:spTree>
    <p:extLst>
      <p:ext uri="{BB962C8B-B14F-4D97-AF65-F5344CB8AC3E}">
        <p14:creationId xmlns:p14="http://schemas.microsoft.com/office/powerpoint/2010/main" val="178022480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12E9F1-DFC5-61C3-7B71-67223F8EB3F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718F411-AE8D-3373-863A-863D753A116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E1A3129-A6A1-8D8B-F5A6-005B8AA3CD5A}"/>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a:p>
        </p:txBody>
      </p:sp>
      <p:sp>
        <p:nvSpPr>
          <p:cNvPr id="4" name="Slide Number Placeholder 3">
            <a:extLst>
              <a:ext uri="{FF2B5EF4-FFF2-40B4-BE49-F238E27FC236}">
                <a16:creationId xmlns:a16="http://schemas.microsoft.com/office/drawing/2014/main" id="{6DA8DE52-705A-9775-592B-41ED56CB6E30}"/>
              </a:ext>
            </a:extLst>
          </p:cNvPr>
          <p:cNvSpPr>
            <a:spLocks noGrp="1"/>
          </p:cNvSpPr>
          <p:nvPr>
            <p:ph type="sldNum" sz="quarter" idx="5"/>
          </p:nvPr>
        </p:nvSpPr>
        <p:spPr/>
        <p:txBody>
          <a:bodyPr/>
          <a:lstStyle/>
          <a:p>
            <a:fld id="{3B566DE6-8BBA-4EBF-BFDA-AC520571F445}" type="slidenum">
              <a:rPr lang="en-US" smtClean="0"/>
              <a:t>13</a:t>
            </a:fld>
            <a:endParaRPr lang="en-US"/>
          </a:p>
        </p:txBody>
      </p:sp>
    </p:spTree>
    <p:extLst>
      <p:ext uri="{BB962C8B-B14F-4D97-AF65-F5344CB8AC3E}">
        <p14:creationId xmlns:p14="http://schemas.microsoft.com/office/powerpoint/2010/main" val="353839746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7B179E-4674-A4ED-499C-EA30133D328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CDF619E-DFB3-8F48-6925-AC1ACFFBB96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B2D3086-CF9B-0338-F8C3-281119F53408}"/>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a:p>
        </p:txBody>
      </p:sp>
      <p:sp>
        <p:nvSpPr>
          <p:cNvPr id="4" name="Slide Number Placeholder 3">
            <a:extLst>
              <a:ext uri="{FF2B5EF4-FFF2-40B4-BE49-F238E27FC236}">
                <a16:creationId xmlns:a16="http://schemas.microsoft.com/office/drawing/2014/main" id="{89FAA1F9-1598-81FB-0C2D-8CA88B084E47}"/>
              </a:ext>
            </a:extLst>
          </p:cNvPr>
          <p:cNvSpPr>
            <a:spLocks noGrp="1"/>
          </p:cNvSpPr>
          <p:nvPr>
            <p:ph type="sldNum" sz="quarter" idx="5"/>
          </p:nvPr>
        </p:nvSpPr>
        <p:spPr/>
        <p:txBody>
          <a:bodyPr/>
          <a:lstStyle/>
          <a:p>
            <a:fld id="{3B566DE6-8BBA-4EBF-BFDA-AC520571F445}" type="slidenum">
              <a:rPr lang="en-US" smtClean="0"/>
              <a:t>14</a:t>
            </a:fld>
            <a:endParaRPr lang="en-US"/>
          </a:p>
        </p:txBody>
      </p:sp>
    </p:spTree>
    <p:extLst>
      <p:ext uri="{BB962C8B-B14F-4D97-AF65-F5344CB8AC3E}">
        <p14:creationId xmlns:p14="http://schemas.microsoft.com/office/powerpoint/2010/main" val="415087783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B566DE6-8BBA-4EBF-BFDA-AC520571F445}" type="slidenum">
              <a:rPr lang="en-US" smtClean="0"/>
              <a:t>22</a:t>
            </a:fld>
            <a:endParaRPr lang="en-US"/>
          </a:p>
        </p:txBody>
      </p:sp>
    </p:spTree>
    <p:extLst>
      <p:ext uri="{BB962C8B-B14F-4D97-AF65-F5344CB8AC3E}">
        <p14:creationId xmlns:p14="http://schemas.microsoft.com/office/powerpoint/2010/main" val="322770490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880EC4-D173-45AB-FE4D-D1EDC961639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6263B4F-8818-1BDC-BC68-05711276040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4927DA2-807C-E9AF-019E-497CDBF7D48A}"/>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a:p>
        </p:txBody>
      </p:sp>
      <p:sp>
        <p:nvSpPr>
          <p:cNvPr id="4" name="Slide Number Placeholder 3">
            <a:extLst>
              <a:ext uri="{FF2B5EF4-FFF2-40B4-BE49-F238E27FC236}">
                <a16:creationId xmlns:a16="http://schemas.microsoft.com/office/drawing/2014/main" id="{6DAD2111-D95C-91DE-EB44-D36A3AA922A2}"/>
              </a:ext>
            </a:extLst>
          </p:cNvPr>
          <p:cNvSpPr>
            <a:spLocks noGrp="1"/>
          </p:cNvSpPr>
          <p:nvPr>
            <p:ph type="sldNum" sz="quarter" idx="5"/>
          </p:nvPr>
        </p:nvSpPr>
        <p:spPr/>
        <p:txBody>
          <a:bodyPr/>
          <a:lstStyle/>
          <a:p>
            <a:fld id="{3B566DE6-8BBA-4EBF-BFDA-AC520571F445}" type="slidenum">
              <a:rPr lang="en-US" smtClean="0"/>
              <a:t>23</a:t>
            </a:fld>
            <a:endParaRPr lang="en-US"/>
          </a:p>
        </p:txBody>
      </p:sp>
    </p:spTree>
    <p:extLst>
      <p:ext uri="{BB962C8B-B14F-4D97-AF65-F5344CB8AC3E}">
        <p14:creationId xmlns:p14="http://schemas.microsoft.com/office/powerpoint/2010/main" val="346795401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4F18D7-D55D-17E1-741A-0F7EEAB5BA6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E3CE3F2-CACB-D9F9-7654-84980586212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6F77711-2858-5D7C-68BF-E8DC81184753}"/>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a:p>
        </p:txBody>
      </p:sp>
      <p:sp>
        <p:nvSpPr>
          <p:cNvPr id="4" name="Slide Number Placeholder 3">
            <a:extLst>
              <a:ext uri="{FF2B5EF4-FFF2-40B4-BE49-F238E27FC236}">
                <a16:creationId xmlns:a16="http://schemas.microsoft.com/office/drawing/2014/main" id="{189CE407-67F2-21E7-2127-E6FE3319A196}"/>
              </a:ext>
            </a:extLst>
          </p:cNvPr>
          <p:cNvSpPr>
            <a:spLocks noGrp="1"/>
          </p:cNvSpPr>
          <p:nvPr>
            <p:ph type="sldNum" sz="quarter" idx="5"/>
          </p:nvPr>
        </p:nvSpPr>
        <p:spPr/>
        <p:txBody>
          <a:bodyPr/>
          <a:lstStyle/>
          <a:p>
            <a:fld id="{3B566DE6-8BBA-4EBF-BFDA-AC520571F445}" type="slidenum">
              <a:rPr lang="en-US" smtClean="0"/>
              <a:t>24</a:t>
            </a:fld>
            <a:endParaRPr lang="en-US"/>
          </a:p>
        </p:txBody>
      </p:sp>
    </p:spTree>
    <p:extLst>
      <p:ext uri="{BB962C8B-B14F-4D97-AF65-F5344CB8AC3E}">
        <p14:creationId xmlns:p14="http://schemas.microsoft.com/office/powerpoint/2010/main" val="243284205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9A3AA6-D9C3-A91F-4C5D-24045EE87FB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6275883-346E-A692-4489-EF4ABCBF3D9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861CA9D-A137-EA46-AEF5-B4174DDB610D}"/>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a:p>
        </p:txBody>
      </p:sp>
      <p:sp>
        <p:nvSpPr>
          <p:cNvPr id="4" name="Slide Number Placeholder 3">
            <a:extLst>
              <a:ext uri="{FF2B5EF4-FFF2-40B4-BE49-F238E27FC236}">
                <a16:creationId xmlns:a16="http://schemas.microsoft.com/office/drawing/2014/main" id="{EC9F7E12-E930-1DA6-DD4D-D0F5CA716821}"/>
              </a:ext>
            </a:extLst>
          </p:cNvPr>
          <p:cNvSpPr>
            <a:spLocks noGrp="1"/>
          </p:cNvSpPr>
          <p:nvPr>
            <p:ph type="sldNum" sz="quarter" idx="5"/>
          </p:nvPr>
        </p:nvSpPr>
        <p:spPr/>
        <p:txBody>
          <a:bodyPr/>
          <a:lstStyle/>
          <a:p>
            <a:fld id="{3B566DE6-8BBA-4EBF-BFDA-AC520571F445}" type="slidenum">
              <a:rPr lang="en-US" smtClean="0"/>
              <a:t>25</a:t>
            </a:fld>
            <a:endParaRPr lang="en-US"/>
          </a:p>
        </p:txBody>
      </p:sp>
    </p:spTree>
    <p:extLst>
      <p:ext uri="{BB962C8B-B14F-4D97-AF65-F5344CB8AC3E}">
        <p14:creationId xmlns:p14="http://schemas.microsoft.com/office/powerpoint/2010/main" val="96583940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9D909C-588E-5299-6729-55DA8D2C999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D3997DB-6895-60BA-1C29-AFF5592713B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0846444-671F-4BDD-C44F-619755E42265}"/>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a:p>
        </p:txBody>
      </p:sp>
      <p:sp>
        <p:nvSpPr>
          <p:cNvPr id="4" name="Slide Number Placeholder 3">
            <a:extLst>
              <a:ext uri="{FF2B5EF4-FFF2-40B4-BE49-F238E27FC236}">
                <a16:creationId xmlns:a16="http://schemas.microsoft.com/office/drawing/2014/main" id="{5E4ACC9C-2BAA-C3CE-2568-9C5A7BFB67B7}"/>
              </a:ext>
            </a:extLst>
          </p:cNvPr>
          <p:cNvSpPr>
            <a:spLocks noGrp="1"/>
          </p:cNvSpPr>
          <p:nvPr>
            <p:ph type="sldNum" sz="quarter" idx="5"/>
          </p:nvPr>
        </p:nvSpPr>
        <p:spPr/>
        <p:txBody>
          <a:bodyPr/>
          <a:lstStyle/>
          <a:p>
            <a:fld id="{3B566DE6-8BBA-4EBF-BFDA-AC520571F445}" type="slidenum">
              <a:rPr lang="en-US" smtClean="0"/>
              <a:t>26</a:t>
            </a:fld>
            <a:endParaRPr lang="en-US"/>
          </a:p>
        </p:txBody>
      </p:sp>
    </p:spTree>
    <p:extLst>
      <p:ext uri="{BB962C8B-B14F-4D97-AF65-F5344CB8AC3E}">
        <p14:creationId xmlns:p14="http://schemas.microsoft.com/office/powerpoint/2010/main" val="175163536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3F5AB6-6DD0-0B56-84CA-E7458EDD669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BFB370A-1133-47AC-7DC1-EF96C00C1A7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6122CA1-6E6F-A1D2-7213-6DAD1F7318F3}"/>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a:p>
        </p:txBody>
      </p:sp>
      <p:sp>
        <p:nvSpPr>
          <p:cNvPr id="4" name="Slide Number Placeholder 3">
            <a:extLst>
              <a:ext uri="{FF2B5EF4-FFF2-40B4-BE49-F238E27FC236}">
                <a16:creationId xmlns:a16="http://schemas.microsoft.com/office/drawing/2014/main" id="{C57C7A52-3B3C-53DA-BE54-E093BF2A7430}"/>
              </a:ext>
            </a:extLst>
          </p:cNvPr>
          <p:cNvSpPr>
            <a:spLocks noGrp="1"/>
          </p:cNvSpPr>
          <p:nvPr>
            <p:ph type="sldNum" sz="quarter" idx="5"/>
          </p:nvPr>
        </p:nvSpPr>
        <p:spPr/>
        <p:txBody>
          <a:bodyPr/>
          <a:lstStyle/>
          <a:p>
            <a:fld id="{3B566DE6-8BBA-4EBF-BFDA-AC520571F445}" type="slidenum">
              <a:rPr lang="en-US" smtClean="0"/>
              <a:t>27</a:t>
            </a:fld>
            <a:endParaRPr lang="en-US"/>
          </a:p>
        </p:txBody>
      </p:sp>
    </p:spTree>
    <p:extLst>
      <p:ext uri="{BB962C8B-B14F-4D97-AF65-F5344CB8AC3E}">
        <p14:creationId xmlns:p14="http://schemas.microsoft.com/office/powerpoint/2010/main" val="169645797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FFC5A0-9486-244E-0BDD-47E1B344882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A96B969-B595-9897-81E0-9F797BA5C88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3B93846-076D-17A5-8DC6-654E98286B6A}"/>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a:p>
        </p:txBody>
      </p:sp>
      <p:sp>
        <p:nvSpPr>
          <p:cNvPr id="4" name="Slide Number Placeholder 3">
            <a:extLst>
              <a:ext uri="{FF2B5EF4-FFF2-40B4-BE49-F238E27FC236}">
                <a16:creationId xmlns:a16="http://schemas.microsoft.com/office/drawing/2014/main" id="{C349F360-38D0-158E-2B33-B869BEBA19BB}"/>
              </a:ext>
            </a:extLst>
          </p:cNvPr>
          <p:cNvSpPr>
            <a:spLocks noGrp="1"/>
          </p:cNvSpPr>
          <p:nvPr>
            <p:ph type="sldNum" sz="quarter" idx="5"/>
          </p:nvPr>
        </p:nvSpPr>
        <p:spPr/>
        <p:txBody>
          <a:bodyPr/>
          <a:lstStyle/>
          <a:p>
            <a:fld id="{3B566DE6-8BBA-4EBF-BFDA-AC520571F445}" type="slidenum">
              <a:rPr lang="en-US" smtClean="0"/>
              <a:t>28</a:t>
            </a:fld>
            <a:endParaRPr lang="en-US"/>
          </a:p>
        </p:txBody>
      </p:sp>
    </p:spTree>
    <p:extLst>
      <p:ext uri="{BB962C8B-B14F-4D97-AF65-F5344CB8AC3E}">
        <p14:creationId xmlns:p14="http://schemas.microsoft.com/office/powerpoint/2010/main" val="93568953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B566DE6-8BBA-4EBF-BFDA-AC520571F445}" type="slidenum">
              <a:rPr lang="en-US" smtClean="0"/>
              <a:t>29</a:t>
            </a:fld>
            <a:endParaRPr lang="en-US"/>
          </a:p>
        </p:txBody>
      </p:sp>
    </p:spTree>
    <p:extLst>
      <p:ext uri="{BB962C8B-B14F-4D97-AF65-F5344CB8AC3E}">
        <p14:creationId xmlns:p14="http://schemas.microsoft.com/office/powerpoint/2010/main" val="411137705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1.Prioritize Meta and TikTok for awareness.</a:t>
            </a:r>
          </a:p>
          <a:p>
            <a:r>
              <a:rPr lang="en-US" dirty="0"/>
              <a:t>2.Increase SEM's budget for consideration while optimizing the spend on Programmatic.</a:t>
            </a:r>
          </a:p>
          <a:p>
            <a:r>
              <a:rPr lang="en-US" dirty="0"/>
              <a:t>3.Rebalance spend on LBE campaigns to optimize Meta’s spend and improve CTR.</a:t>
            </a:r>
          </a:p>
          <a:p>
            <a:r>
              <a:rPr lang="en-US" dirty="0"/>
              <a:t>4.Monitor performance on Snapchat with more targeted testing</a:t>
            </a:r>
          </a:p>
          <a:p>
            <a:endParaRPr lang="en-US" dirty="0"/>
          </a:p>
        </p:txBody>
      </p:sp>
      <p:sp>
        <p:nvSpPr>
          <p:cNvPr id="4" name="Slide Number Placeholder 3"/>
          <p:cNvSpPr>
            <a:spLocks noGrp="1"/>
          </p:cNvSpPr>
          <p:nvPr>
            <p:ph type="sldNum" sz="quarter" idx="5"/>
          </p:nvPr>
        </p:nvSpPr>
        <p:spPr/>
        <p:txBody>
          <a:bodyPr/>
          <a:lstStyle/>
          <a:p>
            <a:fld id="{3B566DE6-8BBA-4EBF-BFDA-AC520571F445}" type="slidenum">
              <a:rPr lang="en-US" smtClean="0"/>
              <a:t>31</a:t>
            </a:fld>
            <a:endParaRPr lang="en-US"/>
          </a:p>
        </p:txBody>
      </p:sp>
    </p:spTree>
    <p:extLst>
      <p:ext uri="{BB962C8B-B14F-4D97-AF65-F5344CB8AC3E}">
        <p14:creationId xmlns:p14="http://schemas.microsoft.com/office/powerpoint/2010/main" val="23076584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B566DE6-8BBA-4EBF-BFDA-AC520571F445}" type="slidenum">
              <a:rPr lang="en-US" smtClean="0"/>
              <a:t>32</a:t>
            </a:fld>
            <a:endParaRPr lang="en-US"/>
          </a:p>
        </p:txBody>
      </p:sp>
    </p:spTree>
    <p:extLst>
      <p:ext uri="{BB962C8B-B14F-4D97-AF65-F5344CB8AC3E}">
        <p14:creationId xmlns:p14="http://schemas.microsoft.com/office/powerpoint/2010/main" val="84264164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411DDE-234B-076B-BCB4-D5790AF87AE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D1B6F30-E50E-82DC-5F80-44155C181DC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1401C4D-4E4B-D4A8-1865-D4D3C67DF1E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F69A790-EBEB-BCB9-F1B1-E27E61BA1AB3}"/>
              </a:ext>
            </a:extLst>
          </p:cNvPr>
          <p:cNvSpPr>
            <a:spLocks noGrp="1"/>
          </p:cNvSpPr>
          <p:nvPr>
            <p:ph type="sldNum" sz="quarter" idx="5"/>
          </p:nvPr>
        </p:nvSpPr>
        <p:spPr/>
        <p:txBody>
          <a:bodyPr/>
          <a:lstStyle/>
          <a:p>
            <a:fld id="{3B566DE6-8BBA-4EBF-BFDA-AC520571F445}" type="slidenum">
              <a:rPr lang="en-US" smtClean="0"/>
              <a:t>33</a:t>
            </a:fld>
            <a:endParaRPr lang="en-US"/>
          </a:p>
        </p:txBody>
      </p:sp>
    </p:spTree>
    <p:extLst>
      <p:ext uri="{BB962C8B-B14F-4D97-AF65-F5344CB8AC3E}">
        <p14:creationId xmlns:p14="http://schemas.microsoft.com/office/powerpoint/2010/main" val="47693641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itle and Content">
    <p:spTree>
      <p:nvGrpSpPr>
        <p:cNvPr id="1" name=""/>
        <p:cNvGrpSpPr/>
        <p:nvPr/>
      </p:nvGrpSpPr>
      <p:grpSpPr>
        <a:xfrm>
          <a:off x="0" y="0"/>
          <a:ext cx="0" cy="0"/>
          <a:chOff x="0" y="0"/>
          <a:chExt cx="0" cy="0"/>
        </a:xfrm>
      </p:grpSpPr>
      <p:sp>
        <p:nvSpPr>
          <p:cNvPr id="4" name="Title 3"/>
          <p:cNvSpPr>
            <a:spLocks noGrp="1"/>
          </p:cNvSpPr>
          <p:nvPr>
            <p:ph type="title" hasCustomPrompt="1"/>
          </p:nvPr>
        </p:nvSpPr>
        <p:spPr>
          <a:xfrm>
            <a:off x="4" y="293692"/>
            <a:ext cx="6997145" cy="937312"/>
          </a:xfrm>
        </p:spPr>
        <p:txBody>
          <a:bodyPr/>
          <a:lstStyle>
            <a:lvl1pPr marL="552546">
              <a:defRPr cap="all" spc="134" baseline="0">
                <a:solidFill>
                  <a:schemeClr val="tx1"/>
                </a:solidFill>
                <a:latin typeface="MarkOT-CondBlack" panose="020B0504020101010102" pitchFamily="34" charset="77"/>
              </a:defRPr>
            </a:lvl1pPr>
          </a:lstStyle>
          <a:p>
            <a:r>
              <a:rPr lang="en-CA"/>
              <a:t>edit Master title style</a:t>
            </a:r>
            <a:endParaRPr lang="en-US"/>
          </a:p>
        </p:txBody>
      </p:sp>
      <p:sp>
        <p:nvSpPr>
          <p:cNvPr id="10" name="Text Placeholder 9">
            <a:extLst>
              <a:ext uri="{FF2B5EF4-FFF2-40B4-BE49-F238E27FC236}">
                <a16:creationId xmlns:a16="http://schemas.microsoft.com/office/drawing/2014/main" id="{E030C080-5A9A-4546-86D1-1405B471AD97}"/>
              </a:ext>
            </a:extLst>
          </p:cNvPr>
          <p:cNvSpPr>
            <a:spLocks noGrp="1"/>
          </p:cNvSpPr>
          <p:nvPr>
            <p:ph type="body" sz="quarter" idx="11"/>
          </p:nvPr>
        </p:nvSpPr>
        <p:spPr>
          <a:xfrm>
            <a:off x="615992" y="1600203"/>
            <a:ext cx="10966409" cy="45259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039294535"/>
      </p:ext>
    </p:extLst>
  </p:cSld>
  <p:clrMapOvr>
    <a:masterClrMapping/>
  </p:clrMapOvr>
  <p:extLst>
    <p:ext uri="{DCECCB84-F9BA-43D5-87BE-67443E8EF086}">
      <p15:sldGuideLst xmlns:p15="http://schemas.microsoft.com/office/powerpoint/2012/main">
        <p15:guide id="4" orient="horz" pos="4320">
          <p15:clr>
            <a:srgbClr val="FBAE40"/>
          </p15:clr>
        </p15:guide>
        <p15:guide id="5" pos="7679">
          <p15:clr>
            <a:srgbClr val="FBAE40"/>
          </p15:clr>
        </p15:guide>
        <p15:guide id="6" pos="762">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ection Header - White">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604465" y="2908929"/>
            <a:ext cx="10888105" cy="771538"/>
          </a:xfrm>
          <a:noFill/>
        </p:spPr>
        <p:txBody>
          <a:bodyPr anchor="ctr">
            <a:noAutofit/>
          </a:bodyPr>
          <a:lstStyle>
            <a:lvl1pPr marL="475411" algn="ctr">
              <a:defRPr sz="5000" b="1" i="0" cap="all" spc="150" baseline="0">
                <a:solidFill>
                  <a:schemeClr val="tx1"/>
                </a:solidFill>
                <a:latin typeface="MarkOT-Ultra" panose="020B0504020101010102" pitchFamily="34" charset="77"/>
              </a:defRPr>
            </a:lvl1pPr>
          </a:lstStyle>
          <a:p>
            <a:r>
              <a:rPr lang="en-CA"/>
              <a:t>title within section</a:t>
            </a:r>
            <a:endParaRPr lang="en-US"/>
          </a:p>
        </p:txBody>
      </p:sp>
      <p:cxnSp>
        <p:nvCxnSpPr>
          <p:cNvPr id="12" name="Straight Connector 11"/>
          <p:cNvCxnSpPr/>
          <p:nvPr/>
        </p:nvCxnSpPr>
        <p:spPr>
          <a:xfrm>
            <a:off x="11017782" y="6482244"/>
            <a:ext cx="0" cy="261459"/>
          </a:xfrm>
          <a:prstGeom prst="line">
            <a:avLst/>
          </a:prstGeom>
          <a:ln>
            <a:solidFill>
              <a:schemeClr val="tx1">
                <a:lumMod val="50000"/>
                <a:lumOff val="50000"/>
              </a:schemeClr>
            </a:solidFill>
          </a:ln>
          <a:effectLst/>
        </p:spPr>
        <p:style>
          <a:lnRef idx="1">
            <a:schemeClr val="dk1"/>
          </a:lnRef>
          <a:fillRef idx="0">
            <a:schemeClr val="dk1"/>
          </a:fillRef>
          <a:effectRef idx="0">
            <a:schemeClr val="dk1"/>
          </a:effectRef>
          <a:fontRef idx="minor">
            <a:schemeClr val="tx1"/>
          </a:fontRef>
        </p:style>
      </p:cxnSp>
      <p:sp>
        <p:nvSpPr>
          <p:cNvPr id="4" name="Subtitle 2">
            <a:extLst>
              <a:ext uri="{FF2B5EF4-FFF2-40B4-BE49-F238E27FC236}">
                <a16:creationId xmlns:a16="http://schemas.microsoft.com/office/drawing/2014/main" id="{CCFE287D-E51E-D340-890D-F7BEF2DC41B1}"/>
              </a:ext>
            </a:extLst>
          </p:cNvPr>
          <p:cNvSpPr>
            <a:spLocks noGrp="1"/>
          </p:cNvSpPr>
          <p:nvPr>
            <p:ph type="subTitle" idx="1" hasCustomPrompt="1"/>
          </p:nvPr>
        </p:nvSpPr>
        <p:spPr>
          <a:xfrm>
            <a:off x="604465" y="2546352"/>
            <a:ext cx="10888105" cy="362579"/>
          </a:xfrm>
        </p:spPr>
        <p:txBody>
          <a:bodyPr>
            <a:normAutofit/>
          </a:bodyPr>
          <a:lstStyle>
            <a:lvl1pPr marL="0" indent="0" algn="ctr">
              <a:buNone/>
              <a:defRPr sz="2200" b="0" i="0" cap="all" spc="50" baseline="0">
                <a:solidFill>
                  <a:schemeClr val="accent3"/>
                </a:solidFill>
                <a:latin typeface="MarkOT-CondBlack" panose="020B0504020101010102" pitchFamily="34" charset="77"/>
              </a:defRPr>
            </a:lvl1pPr>
            <a:lvl2pPr marL="609502" indent="0" algn="ctr">
              <a:buNone/>
              <a:defRPr>
                <a:solidFill>
                  <a:schemeClr val="tx1">
                    <a:tint val="75000"/>
                  </a:schemeClr>
                </a:solidFill>
              </a:defRPr>
            </a:lvl2pPr>
            <a:lvl3pPr marL="1219002" indent="0" algn="ctr">
              <a:buNone/>
              <a:defRPr>
                <a:solidFill>
                  <a:schemeClr val="tx1">
                    <a:tint val="75000"/>
                  </a:schemeClr>
                </a:solidFill>
              </a:defRPr>
            </a:lvl3pPr>
            <a:lvl4pPr marL="1828504" indent="0" algn="ctr">
              <a:buNone/>
              <a:defRPr>
                <a:solidFill>
                  <a:schemeClr val="tx1">
                    <a:tint val="75000"/>
                  </a:schemeClr>
                </a:solidFill>
              </a:defRPr>
            </a:lvl4pPr>
            <a:lvl5pPr marL="2438004" indent="0" algn="ctr">
              <a:buNone/>
              <a:defRPr>
                <a:solidFill>
                  <a:schemeClr val="tx1">
                    <a:tint val="75000"/>
                  </a:schemeClr>
                </a:solidFill>
              </a:defRPr>
            </a:lvl5pPr>
            <a:lvl6pPr marL="3047506" indent="0" algn="ctr">
              <a:buNone/>
              <a:defRPr>
                <a:solidFill>
                  <a:schemeClr val="tx1">
                    <a:tint val="75000"/>
                  </a:schemeClr>
                </a:solidFill>
              </a:defRPr>
            </a:lvl6pPr>
            <a:lvl7pPr marL="3657006" indent="0" algn="ctr">
              <a:buNone/>
              <a:defRPr>
                <a:solidFill>
                  <a:schemeClr val="tx1">
                    <a:tint val="75000"/>
                  </a:schemeClr>
                </a:solidFill>
              </a:defRPr>
            </a:lvl7pPr>
            <a:lvl8pPr marL="4266508" indent="0" algn="ctr">
              <a:buNone/>
              <a:defRPr>
                <a:solidFill>
                  <a:schemeClr val="tx1">
                    <a:tint val="75000"/>
                  </a:schemeClr>
                </a:solidFill>
              </a:defRPr>
            </a:lvl8pPr>
            <a:lvl9pPr marL="4876007" indent="0" algn="ctr">
              <a:buNone/>
              <a:defRPr>
                <a:solidFill>
                  <a:schemeClr val="tx1">
                    <a:tint val="75000"/>
                  </a:schemeClr>
                </a:solidFill>
              </a:defRPr>
            </a:lvl9pPr>
          </a:lstStyle>
          <a:p>
            <a:r>
              <a:rPr lang="en-CA"/>
              <a:t>Which agenda section you are in (optional as part #)</a:t>
            </a:r>
            <a:endParaRPr lang="en-US"/>
          </a:p>
        </p:txBody>
      </p:sp>
      <p:cxnSp>
        <p:nvCxnSpPr>
          <p:cNvPr id="5" name="Straight Connector 4">
            <a:extLst>
              <a:ext uri="{FF2B5EF4-FFF2-40B4-BE49-F238E27FC236}">
                <a16:creationId xmlns:a16="http://schemas.microsoft.com/office/drawing/2014/main" id="{AEB2B71C-6862-2C4E-A1EE-551BECFCC872}"/>
              </a:ext>
            </a:extLst>
          </p:cNvPr>
          <p:cNvCxnSpPr/>
          <p:nvPr/>
        </p:nvCxnSpPr>
        <p:spPr>
          <a:xfrm>
            <a:off x="11017782" y="6482244"/>
            <a:ext cx="0" cy="261459"/>
          </a:xfrm>
          <a:prstGeom prst="line">
            <a:avLst/>
          </a:prstGeom>
          <a:ln>
            <a:solidFill>
              <a:schemeClr val="tx1">
                <a:lumMod val="50000"/>
                <a:lumOff val="50000"/>
              </a:schemeClr>
            </a:solidFill>
          </a:ln>
          <a:effectLst/>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271271948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cSld name="Title Only">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E1A1E049-F501-CA47-A70F-BCBC652FD93B}"/>
              </a:ext>
            </a:extLst>
          </p:cNvPr>
          <p:cNvSpPr>
            <a:spLocks noGrp="1"/>
          </p:cNvSpPr>
          <p:nvPr>
            <p:ph type="title" hasCustomPrompt="1"/>
          </p:nvPr>
        </p:nvSpPr>
        <p:spPr>
          <a:xfrm>
            <a:off x="0" y="293692"/>
            <a:ext cx="11438909" cy="937312"/>
          </a:xfrm>
        </p:spPr>
        <p:txBody>
          <a:bodyPr/>
          <a:lstStyle>
            <a:lvl1pPr>
              <a:defRPr>
                <a:solidFill>
                  <a:schemeClr val="tx1"/>
                </a:solidFill>
              </a:defRPr>
            </a:lvl1pPr>
          </a:lstStyle>
          <a:p>
            <a:r>
              <a:rPr lang="en-CA"/>
              <a:t>Click to add title</a:t>
            </a:r>
            <a:endParaRPr lang="en-US"/>
          </a:p>
        </p:txBody>
      </p:sp>
    </p:spTree>
    <p:extLst>
      <p:ext uri="{BB962C8B-B14F-4D97-AF65-F5344CB8AC3E}">
        <p14:creationId xmlns:p14="http://schemas.microsoft.com/office/powerpoint/2010/main" val="365233075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Regular">
  <p:cSld name="Regular">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405567" y="91051"/>
            <a:ext cx="9554400" cy="754000"/>
          </a:xfrm>
          <a:prstGeom prst="rect">
            <a:avLst/>
          </a:prstGeom>
        </p:spPr>
        <p:txBody>
          <a:bodyPr spcFirstLastPara="1" wrap="square" lIns="91500" tIns="91500" rIns="91500" bIns="91500" anchor="ctr" anchorCtr="0">
            <a:noAutofit/>
          </a:bodyPr>
          <a:lstStyle>
            <a:lvl1pPr lvl="0" rtl="0">
              <a:spcBef>
                <a:spcPts val="0"/>
              </a:spcBef>
              <a:spcAft>
                <a:spcPts val="0"/>
              </a:spcAft>
              <a:buNone/>
              <a:defRPr/>
            </a:lvl1pPr>
            <a:lvl2pPr lvl="1" rtl="0">
              <a:spcBef>
                <a:spcPts val="0"/>
              </a:spcBef>
              <a:spcAft>
                <a:spcPts val="0"/>
              </a:spcAft>
              <a:buNone/>
              <a:defRPr/>
            </a:lvl2pPr>
            <a:lvl3pPr lvl="2" rtl="0">
              <a:spcBef>
                <a:spcPts val="0"/>
              </a:spcBef>
              <a:spcAft>
                <a:spcPts val="0"/>
              </a:spcAft>
              <a:buNone/>
              <a:defRPr/>
            </a:lvl3pPr>
            <a:lvl4pPr lvl="3" rtl="0">
              <a:spcBef>
                <a:spcPts val="0"/>
              </a:spcBef>
              <a:spcAft>
                <a:spcPts val="0"/>
              </a:spcAft>
              <a:buNone/>
              <a:defRPr/>
            </a:lvl4pPr>
            <a:lvl5pPr lvl="4" rtl="0">
              <a:spcBef>
                <a:spcPts val="0"/>
              </a:spcBef>
              <a:spcAft>
                <a:spcPts val="0"/>
              </a:spcAft>
              <a:buNone/>
              <a:defRPr/>
            </a:lvl5pPr>
            <a:lvl6pPr lvl="5" rtl="0">
              <a:spcBef>
                <a:spcPts val="0"/>
              </a:spcBef>
              <a:spcAft>
                <a:spcPts val="0"/>
              </a:spcAft>
              <a:buNone/>
              <a:defRPr/>
            </a:lvl6pPr>
            <a:lvl7pPr lvl="6" rtl="0">
              <a:spcBef>
                <a:spcPts val="0"/>
              </a:spcBef>
              <a:spcAft>
                <a:spcPts val="0"/>
              </a:spcAft>
              <a:buNone/>
              <a:defRPr/>
            </a:lvl7pPr>
            <a:lvl8pPr lvl="7" rtl="0">
              <a:spcBef>
                <a:spcPts val="0"/>
              </a:spcBef>
              <a:spcAft>
                <a:spcPts val="0"/>
              </a:spcAft>
              <a:buNone/>
              <a:defRPr/>
            </a:lvl8pPr>
            <a:lvl9pPr lvl="8" rtl="0">
              <a:spcBef>
                <a:spcPts val="0"/>
              </a:spcBef>
              <a:spcAft>
                <a:spcPts val="0"/>
              </a:spcAft>
              <a:buNone/>
              <a:defRPr/>
            </a:lvl9pPr>
          </a:lstStyle>
          <a:p>
            <a:r>
              <a:rPr lang="en-US"/>
              <a:t>Click to edit Master title style</a:t>
            </a:r>
            <a:endParaRPr/>
          </a:p>
        </p:txBody>
      </p:sp>
    </p:spTree>
    <p:extLst>
      <p:ext uri="{BB962C8B-B14F-4D97-AF65-F5344CB8AC3E}">
        <p14:creationId xmlns:p14="http://schemas.microsoft.com/office/powerpoint/2010/main" val="327153420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Agenda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41873B-FF8A-8A4F-BA18-B5B99A2B8BA0}"/>
              </a:ext>
            </a:extLst>
          </p:cNvPr>
          <p:cNvSpPr>
            <a:spLocks noGrp="1"/>
          </p:cNvSpPr>
          <p:nvPr>
            <p:ph type="title" hasCustomPrompt="1"/>
          </p:nvPr>
        </p:nvSpPr>
        <p:spPr/>
        <p:txBody>
          <a:bodyPr/>
          <a:lstStyle/>
          <a:p>
            <a:r>
              <a:rPr lang="en-US"/>
              <a:t>agenda</a:t>
            </a:r>
          </a:p>
        </p:txBody>
      </p:sp>
      <p:sp>
        <p:nvSpPr>
          <p:cNvPr id="9" name="Content Placeholder 8">
            <a:extLst>
              <a:ext uri="{FF2B5EF4-FFF2-40B4-BE49-F238E27FC236}">
                <a16:creationId xmlns:a16="http://schemas.microsoft.com/office/drawing/2014/main" id="{5BA94E44-0B3B-1C4B-A138-633FD67A2BB4}"/>
              </a:ext>
            </a:extLst>
          </p:cNvPr>
          <p:cNvSpPr>
            <a:spLocks noGrp="1"/>
          </p:cNvSpPr>
          <p:nvPr>
            <p:ph sz="quarter" idx="10" hasCustomPrompt="1"/>
          </p:nvPr>
        </p:nvSpPr>
        <p:spPr>
          <a:xfrm>
            <a:off x="1170518" y="2091267"/>
            <a:ext cx="4474633" cy="3278718"/>
          </a:xfrm>
        </p:spPr>
        <p:txBody>
          <a:bodyPr>
            <a:normAutofit/>
          </a:bodyPr>
          <a:lstStyle>
            <a:lvl1pPr marL="0" indent="0">
              <a:buFontTx/>
              <a:buNone/>
              <a:defRPr sz="1800" b="1" i="0" cap="all" spc="134">
                <a:solidFill>
                  <a:schemeClr val="tx2"/>
                </a:solidFill>
                <a:latin typeface="MarkOT-CondBlack" panose="020B0504020101010102" pitchFamily="34" charset="77"/>
              </a:defRPr>
            </a:lvl1pPr>
            <a:lvl2pPr marL="609562" indent="0">
              <a:buFontTx/>
              <a:buNone/>
              <a:defRPr sz="1867" b="1" i="0" cap="all" spc="134">
                <a:solidFill>
                  <a:schemeClr val="tx1"/>
                </a:solidFill>
                <a:latin typeface="MarkOT-CondBlack" panose="020B0504020101010102" pitchFamily="34" charset="77"/>
              </a:defRPr>
            </a:lvl2pPr>
            <a:lvl3pPr marL="1219124" indent="0">
              <a:buFontTx/>
              <a:buNone/>
              <a:defRPr sz="1867" b="1" i="0" cap="all" spc="134">
                <a:solidFill>
                  <a:schemeClr val="tx1"/>
                </a:solidFill>
                <a:latin typeface="MarkOT-CondBlack" panose="020B0504020101010102" pitchFamily="34" charset="77"/>
              </a:defRPr>
            </a:lvl3pPr>
            <a:lvl4pPr marL="1828686" indent="0">
              <a:buFontTx/>
              <a:buNone/>
              <a:defRPr sz="1867" b="1" i="0" cap="all" spc="134">
                <a:solidFill>
                  <a:schemeClr val="tx1"/>
                </a:solidFill>
                <a:latin typeface="MarkOT-CondBlack" panose="020B0504020101010102" pitchFamily="34" charset="77"/>
              </a:defRPr>
            </a:lvl4pPr>
            <a:lvl5pPr marL="2438248" indent="0">
              <a:buFontTx/>
              <a:buNone/>
              <a:defRPr sz="1867" b="1" i="0" cap="all" spc="134">
                <a:solidFill>
                  <a:schemeClr val="tx1"/>
                </a:solidFill>
                <a:latin typeface="MarkOT-CondBlack" panose="020B0504020101010102" pitchFamily="34" charset="77"/>
              </a:defRPr>
            </a:lvl5pPr>
          </a:lstStyle>
          <a:p>
            <a:pPr lvl="0"/>
            <a:r>
              <a:rPr lang="en-US"/>
              <a:t>Agenda Item 1</a:t>
            </a:r>
          </a:p>
          <a:p>
            <a:pPr lvl="0"/>
            <a:r>
              <a:rPr lang="en-US"/>
              <a:t>Agenda item 2</a:t>
            </a:r>
          </a:p>
          <a:p>
            <a:pPr lvl="0"/>
            <a:r>
              <a:rPr lang="en-US"/>
              <a:t>Agenda item 3</a:t>
            </a:r>
          </a:p>
          <a:p>
            <a:pPr lvl="0"/>
            <a:r>
              <a:rPr lang="en-US"/>
              <a:t>Agenda item 4</a:t>
            </a:r>
          </a:p>
          <a:p>
            <a:pPr lvl="0"/>
            <a:r>
              <a:rPr lang="en-US"/>
              <a:t>Agenda item 5</a:t>
            </a:r>
          </a:p>
          <a:p>
            <a:pPr lvl="0"/>
            <a:r>
              <a:rPr lang="en-US"/>
              <a:t>Agenda item 6</a:t>
            </a:r>
          </a:p>
        </p:txBody>
      </p:sp>
      <p:sp>
        <p:nvSpPr>
          <p:cNvPr id="10" name="Content Placeholder 8">
            <a:extLst>
              <a:ext uri="{FF2B5EF4-FFF2-40B4-BE49-F238E27FC236}">
                <a16:creationId xmlns:a16="http://schemas.microsoft.com/office/drawing/2014/main" id="{00E361FD-B701-D042-A422-6E4CD9064F3C}"/>
              </a:ext>
            </a:extLst>
          </p:cNvPr>
          <p:cNvSpPr>
            <a:spLocks noGrp="1"/>
          </p:cNvSpPr>
          <p:nvPr>
            <p:ph sz="quarter" idx="11" hasCustomPrompt="1"/>
          </p:nvPr>
        </p:nvSpPr>
        <p:spPr>
          <a:xfrm>
            <a:off x="6644726" y="2091267"/>
            <a:ext cx="4474633" cy="3278718"/>
          </a:xfrm>
        </p:spPr>
        <p:txBody>
          <a:bodyPr>
            <a:normAutofit/>
          </a:bodyPr>
          <a:lstStyle>
            <a:lvl1pPr marL="0" indent="0">
              <a:buFontTx/>
              <a:buNone/>
              <a:defRPr sz="1800" b="1" i="0" cap="all" spc="134">
                <a:solidFill>
                  <a:schemeClr val="tx2"/>
                </a:solidFill>
                <a:latin typeface="MarkOT-CondBlack" panose="020B0504020101010102" pitchFamily="34" charset="77"/>
              </a:defRPr>
            </a:lvl1pPr>
            <a:lvl2pPr marL="609562" indent="0">
              <a:buFontTx/>
              <a:buNone/>
              <a:defRPr sz="1867" b="1" i="0" cap="all" spc="134">
                <a:solidFill>
                  <a:schemeClr val="tx1"/>
                </a:solidFill>
                <a:latin typeface="MarkOT-CondBlack" panose="020B0504020101010102" pitchFamily="34" charset="77"/>
              </a:defRPr>
            </a:lvl2pPr>
            <a:lvl3pPr marL="1219124" indent="0">
              <a:buFontTx/>
              <a:buNone/>
              <a:defRPr sz="1867" b="1" i="0" cap="all" spc="134">
                <a:solidFill>
                  <a:schemeClr val="tx1"/>
                </a:solidFill>
                <a:latin typeface="MarkOT-CondBlack" panose="020B0504020101010102" pitchFamily="34" charset="77"/>
              </a:defRPr>
            </a:lvl3pPr>
            <a:lvl4pPr marL="1828686" indent="0">
              <a:buFontTx/>
              <a:buNone/>
              <a:defRPr sz="1867" b="1" i="0" cap="all" spc="134">
                <a:solidFill>
                  <a:schemeClr val="tx1"/>
                </a:solidFill>
                <a:latin typeface="MarkOT-CondBlack" panose="020B0504020101010102" pitchFamily="34" charset="77"/>
              </a:defRPr>
            </a:lvl4pPr>
            <a:lvl5pPr marL="2438248" indent="0">
              <a:buFontTx/>
              <a:buNone/>
              <a:defRPr sz="1867" b="1" i="0" cap="all" spc="134">
                <a:solidFill>
                  <a:schemeClr val="tx1"/>
                </a:solidFill>
                <a:latin typeface="MarkOT-CondBlack" panose="020B0504020101010102" pitchFamily="34" charset="77"/>
              </a:defRPr>
            </a:lvl5pPr>
          </a:lstStyle>
          <a:p>
            <a:pPr lvl="0"/>
            <a:r>
              <a:rPr lang="en-US"/>
              <a:t>Agenda Item 7</a:t>
            </a:r>
          </a:p>
          <a:p>
            <a:pPr lvl="0"/>
            <a:r>
              <a:rPr lang="en-US"/>
              <a:t>Agenda item 8</a:t>
            </a:r>
          </a:p>
          <a:p>
            <a:pPr lvl="0"/>
            <a:r>
              <a:rPr lang="en-US"/>
              <a:t>Agenda item 9</a:t>
            </a:r>
          </a:p>
          <a:p>
            <a:pPr lvl="0"/>
            <a:r>
              <a:rPr lang="en-US"/>
              <a:t>Agenda item 10</a:t>
            </a:r>
          </a:p>
          <a:p>
            <a:pPr lvl="0"/>
            <a:r>
              <a:rPr lang="en-US"/>
              <a:t>Agenda item 11</a:t>
            </a:r>
          </a:p>
          <a:p>
            <a:pPr lvl="0"/>
            <a:r>
              <a:rPr lang="en-US"/>
              <a:t>Agenda item 12</a:t>
            </a:r>
          </a:p>
        </p:txBody>
      </p:sp>
    </p:spTree>
    <p:extLst>
      <p:ext uri="{BB962C8B-B14F-4D97-AF65-F5344CB8AC3E}">
        <p14:creationId xmlns:p14="http://schemas.microsoft.com/office/powerpoint/2010/main" val="240865210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p:cSld name="Section Header - Blue">
    <p:bg>
      <p:bgPr>
        <a:solidFill>
          <a:schemeClr val="tx1"/>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886680" y="2908929"/>
            <a:ext cx="10363200" cy="771538"/>
          </a:xfrm>
          <a:noFill/>
        </p:spPr>
        <p:txBody>
          <a:bodyPr anchor="ctr">
            <a:noAutofit/>
          </a:bodyPr>
          <a:lstStyle>
            <a:lvl1pPr marL="0" algn="ctr">
              <a:defRPr sz="5000" b="1" i="0" cap="all" spc="150" baseline="0">
                <a:solidFill>
                  <a:schemeClr val="bg1"/>
                </a:solidFill>
                <a:latin typeface="MarkOT-Ultra" panose="020B0504020101010102" pitchFamily="34" charset="77"/>
              </a:defRPr>
            </a:lvl1pPr>
          </a:lstStyle>
          <a:p>
            <a:r>
              <a:rPr lang="en-CA"/>
              <a:t>title within section</a:t>
            </a:r>
            <a:endParaRPr lang="en-US"/>
          </a:p>
        </p:txBody>
      </p:sp>
      <p:sp>
        <p:nvSpPr>
          <p:cNvPr id="3" name="Subtitle 2">
            <a:extLst>
              <a:ext uri="{FF2B5EF4-FFF2-40B4-BE49-F238E27FC236}">
                <a16:creationId xmlns:a16="http://schemas.microsoft.com/office/drawing/2014/main" id="{F6BE4C63-2B80-CA4E-AD81-0587C453EC91}"/>
              </a:ext>
            </a:extLst>
          </p:cNvPr>
          <p:cNvSpPr>
            <a:spLocks noGrp="1"/>
          </p:cNvSpPr>
          <p:nvPr>
            <p:ph type="subTitle" idx="1" hasCustomPrompt="1"/>
          </p:nvPr>
        </p:nvSpPr>
        <p:spPr>
          <a:xfrm>
            <a:off x="886680" y="2546350"/>
            <a:ext cx="10363200" cy="362579"/>
          </a:xfrm>
        </p:spPr>
        <p:txBody>
          <a:bodyPr>
            <a:normAutofit/>
          </a:bodyPr>
          <a:lstStyle>
            <a:lvl1pPr marL="0" indent="0" algn="ctr">
              <a:buNone/>
              <a:defRPr sz="2200" b="0" i="0" cap="all" spc="50" baseline="0">
                <a:solidFill>
                  <a:schemeClr val="accent3"/>
                </a:solidFill>
                <a:latin typeface="MarkOT-CondBlack" panose="020B0504020101010102" pitchFamily="34" charset="77"/>
              </a:defRPr>
            </a:lvl1pPr>
            <a:lvl2pPr marL="609562" indent="0" algn="ctr">
              <a:buNone/>
              <a:defRPr>
                <a:solidFill>
                  <a:schemeClr val="tx1">
                    <a:tint val="75000"/>
                  </a:schemeClr>
                </a:solidFill>
              </a:defRPr>
            </a:lvl2pPr>
            <a:lvl3pPr marL="1219124" indent="0" algn="ctr">
              <a:buNone/>
              <a:defRPr>
                <a:solidFill>
                  <a:schemeClr val="tx1">
                    <a:tint val="75000"/>
                  </a:schemeClr>
                </a:solidFill>
              </a:defRPr>
            </a:lvl3pPr>
            <a:lvl4pPr marL="1828686" indent="0" algn="ctr">
              <a:buNone/>
              <a:defRPr>
                <a:solidFill>
                  <a:schemeClr val="tx1">
                    <a:tint val="75000"/>
                  </a:schemeClr>
                </a:solidFill>
              </a:defRPr>
            </a:lvl4pPr>
            <a:lvl5pPr marL="2438248" indent="0" algn="ctr">
              <a:buNone/>
              <a:defRPr>
                <a:solidFill>
                  <a:schemeClr val="tx1">
                    <a:tint val="75000"/>
                  </a:schemeClr>
                </a:solidFill>
              </a:defRPr>
            </a:lvl5pPr>
            <a:lvl6pPr marL="3047810" indent="0" algn="ctr">
              <a:buNone/>
              <a:defRPr>
                <a:solidFill>
                  <a:schemeClr val="tx1">
                    <a:tint val="75000"/>
                  </a:schemeClr>
                </a:solidFill>
              </a:defRPr>
            </a:lvl6pPr>
            <a:lvl7pPr marL="3657372" indent="0" algn="ctr">
              <a:buNone/>
              <a:defRPr>
                <a:solidFill>
                  <a:schemeClr val="tx1">
                    <a:tint val="75000"/>
                  </a:schemeClr>
                </a:solidFill>
              </a:defRPr>
            </a:lvl7pPr>
            <a:lvl8pPr marL="4266934" indent="0" algn="ctr">
              <a:buNone/>
              <a:defRPr>
                <a:solidFill>
                  <a:schemeClr val="tx1">
                    <a:tint val="75000"/>
                  </a:schemeClr>
                </a:solidFill>
              </a:defRPr>
            </a:lvl8pPr>
            <a:lvl9pPr marL="4876495" indent="0" algn="ctr">
              <a:buNone/>
              <a:defRPr>
                <a:solidFill>
                  <a:schemeClr val="tx1">
                    <a:tint val="75000"/>
                  </a:schemeClr>
                </a:solidFill>
              </a:defRPr>
            </a:lvl9pPr>
          </a:lstStyle>
          <a:p>
            <a:r>
              <a:rPr lang="en-CA"/>
              <a:t>Which agenda section you are in (optional as part #)</a:t>
            </a:r>
            <a:endParaRPr lang="en-US"/>
          </a:p>
        </p:txBody>
      </p:sp>
    </p:spTree>
    <p:extLst>
      <p:ext uri="{BB962C8B-B14F-4D97-AF65-F5344CB8AC3E}">
        <p14:creationId xmlns:p14="http://schemas.microsoft.com/office/powerpoint/2010/main" val="362056429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Chart Layou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1" y="293692"/>
            <a:ext cx="11414413" cy="937312"/>
          </a:xfrm>
        </p:spPr>
        <p:txBody>
          <a:bodyPr/>
          <a:lstStyle>
            <a:lvl1pPr>
              <a:defRPr/>
            </a:lvl1pPr>
          </a:lstStyle>
          <a:p>
            <a:r>
              <a:rPr lang="en-CA"/>
              <a:t>Click to add title</a:t>
            </a:r>
            <a:endParaRPr lang="en-US"/>
          </a:p>
        </p:txBody>
      </p:sp>
      <p:sp>
        <p:nvSpPr>
          <p:cNvPr id="6" name="Chart Placeholder 5"/>
          <p:cNvSpPr>
            <a:spLocks noGrp="1"/>
          </p:cNvSpPr>
          <p:nvPr>
            <p:ph type="chart" sz="quarter" idx="12"/>
          </p:nvPr>
        </p:nvSpPr>
        <p:spPr>
          <a:xfrm>
            <a:off x="821268" y="1602318"/>
            <a:ext cx="9950451" cy="4233334"/>
          </a:xfrm>
        </p:spPr>
        <p:txBody>
          <a:bodyPr anchor="ctr"/>
          <a:lstStyle>
            <a:lvl1pPr marL="0" indent="0" algn="ctr">
              <a:buNone/>
              <a:defRPr>
                <a:latin typeface="+mn-lt"/>
              </a:defRPr>
            </a:lvl1pPr>
            <a:lvl2pPr marL="180000" indent="0" algn="ctr">
              <a:buNone/>
              <a:defRPr/>
            </a:lvl2pPr>
          </a:lstStyle>
          <a:p>
            <a:pPr lvl="1"/>
            <a:r>
              <a:rPr lang="en-US"/>
              <a:t>Click icon to add chart</a:t>
            </a:r>
          </a:p>
        </p:txBody>
      </p:sp>
    </p:spTree>
    <p:extLst>
      <p:ext uri="{BB962C8B-B14F-4D97-AF65-F5344CB8AC3E}">
        <p14:creationId xmlns:p14="http://schemas.microsoft.com/office/powerpoint/2010/main" val="362884621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p:cSld name="Presentation Start - Graphic">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Subtitle 2"/>
          <p:cNvSpPr>
            <a:spLocks noGrp="1"/>
          </p:cNvSpPr>
          <p:nvPr>
            <p:ph type="subTitle" idx="1" hasCustomPrompt="1"/>
          </p:nvPr>
        </p:nvSpPr>
        <p:spPr>
          <a:xfrm>
            <a:off x="616350" y="3536954"/>
            <a:ext cx="5880713" cy="387346"/>
          </a:xfrm>
        </p:spPr>
        <p:txBody>
          <a:bodyPr>
            <a:normAutofit/>
          </a:bodyPr>
          <a:lstStyle>
            <a:lvl1pPr marL="0" indent="0" algn="l">
              <a:buNone/>
              <a:defRPr sz="2200" b="0" i="0" cap="all" spc="50" baseline="0">
                <a:solidFill>
                  <a:schemeClr val="accent3"/>
                </a:solidFill>
                <a:latin typeface="MarkOT-CondBlack" panose="020B0504020101010102" pitchFamily="34" charset="77"/>
              </a:defRPr>
            </a:lvl1pPr>
            <a:lvl2pPr marL="609562" indent="0" algn="ctr">
              <a:buNone/>
              <a:defRPr>
                <a:solidFill>
                  <a:schemeClr val="tx1">
                    <a:tint val="75000"/>
                  </a:schemeClr>
                </a:solidFill>
              </a:defRPr>
            </a:lvl2pPr>
            <a:lvl3pPr marL="1219124" indent="0" algn="ctr">
              <a:buNone/>
              <a:defRPr>
                <a:solidFill>
                  <a:schemeClr val="tx1">
                    <a:tint val="75000"/>
                  </a:schemeClr>
                </a:solidFill>
              </a:defRPr>
            </a:lvl3pPr>
            <a:lvl4pPr marL="1828686" indent="0" algn="ctr">
              <a:buNone/>
              <a:defRPr>
                <a:solidFill>
                  <a:schemeClr val="tx1">
                    <a:tint val="75000"/>
                  </a:schemeClr>
                </a:solidFill>
              </a:defRPr>
            </a:lvl4pPr>
            <a:lvl5pPr marL="2438248" indent="0" algn="ctr">
              <a:buNone/>
              <a:defRPr>
                <a:solidFill>
                  <a:schemeClr val="tx1">
                    <a:tint val="75000"/>
                  </a:schemeClr>
                </a:solidFill>
              </a:defRPr>
            </a:lvl5pPr>
            <a:lvl6pPr marL="3047810" indent="0" algn="ctr">
              <a:buNone/>
              <a:defRPr>
                <a:solidFill>
                  <a:schemeClr val="tx1">
                    <a:tint val="75000"/>
                  </a:schemeClr>
                </a:solidFill>
              </a:defRPr>
            </a:lvl6pPr>
            <a:lvl7pPr marL="3657372" indent="0" algn="ctr">
              <a:buNone/>
              <a:defRPr>
                <a:solidFill>
                  <a:schemeClr val="tx1">
                    <a:tint val="75000"/>
                  </a:schemeClr>
                </a:solidFill>
              </a:defRPr>
            </a:lvl7pPr>
            <a:lvl8pPr marL="4266934" indent="0" algn="ctr">
              <a:buNone/>
              <a:defRPr>
                <a:solidFill>
                  <a:schemeClr val="tx1">
                    <a:tint val="75000"/>
                  </a:schemeClr>
                </a:solidFill>
              </a:defRPr>
            </a:lvl8pPr>
            <a:lvl9pPr marL="4876495" indent="0" algn="ctr">
              <a:buNone/>
              <a:defRPr>
                <a:solidFill>
                  <a:schemeClr val="tx1">
                    <a:tint val="75000"/>
                  </a:schemeClr>
                </a:solidFill>
              </a:defRPr>
            </a:lvl9pPr>
          </a:lstStyle>
          <a:p>
            <a:r>
              <a:rPr lang="en-CA"/>
              <a:t>With graphic background</a:t>
            </a:r>
            <a:endParaRPr lang="en-US"/>
          </a:p>
        </p:txBody>
      </p:sp>
      <p:pic>
        <p:nvPicPr>
          <p:cNvPr id="5" name="Picture 4" descr="Cineplex-Logo-Final2015_RGB_4CKO.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997440" y="5930668"/>
            <a:ext cx="1881944" cy="560663"/>
          </a:xfrm>
          <a:prstGeom prst="rect">
            <a:avLst/>
          </a:prstGeom>
        </p:spPr>
      </p:pic>
      <p:sp>
        <p:nvSpPr>
          <p:cNvPr id="7" name="TextBox 6">
            <a:extLst>
              <a:ext uri="{FF2B5EF4-FFF2-40B4-BE49-F238E27FC236}">
                <a16:creationId xmlns:a16="http://schemas.microsoft.com/office/drawing/2014/main" id="{A3EF53D2-B1B2-3140-99E0-FABF4A6D7D51}"/>
              </a:ext>
            </a:extLst>
          </p:cNvPr>
          <p:cNvSpPr txBox="1"/>
          <p:nvPr/>
        </p:nvSpPr>
        <p:spPr>
          <a:xfrm>
            <a:off x="609609" y="6274820"/>
            <a:ext cx="6805160" cy="230832"/>
          </a:xfrm>
          <a:prstGeom prst="rect">
            <a:avLst/>
          </a:prstGeom>
          <a:noFill/>
        </p:spPr>
        <p:txBody>
          <a:bodyPr wrap="square" rtlCol="0">
            <a:spAutoFit/>
          </a:bodyPr>
          <a:lstStyle/>
          <a:p>
            <a:pPr algn="l"/>
            <a:r>
              <a:rPr lang="en-US" sz="900" b="0" i="0" baseline="0">
                <a:solidFill>
                  <a:schemeClr val="bg1"/>
                </a:solidFill>
                <a:latin typeface="MarkOT"/>
                <a:ea typeface="Lucida Grande"/>
                <a:cs typeface="MarkOT-Light"/>
              </a:rPr>
              <a:t>© Cineplex Inc., This document is confidential and may not be shared, distributed or reproduced without permission.</a:t>
            </a:r>
            <a:endParaRPr lang="en-US" sz="900" b="0" i="0" baseline="0">
              <a:solidFill>
                <a:schemeClr val="bg1"/>
              </a:solidFill>
              <a:latin typeface="MarkOT"/>
              <a:cs typeface="MarkOT-Light"/>
            </a:endParaRPr>
          </a:p>
        </p:txBody>
      </p:sp>
      <p:sp>
        <p:nvSpPr>
          <p:cNvPr id="9" name="Title 1">
            <a:extLst>
              <a:ext uri="{FF2B5EF4-FFF2-40B4-BE49-F238E27FC236}">
                <a16:creationId xmlns:a16="http://schemas.microsoft.com/office/drawing/2014/main" id="{BE972FA5-2A86-E749-BF0D-CD0974FBF57A}"/>
              </a:ext>
            </a:extLst>
          </p:cNvPr>
          <p:cNvSpPr>
            <a:spLocks noGrp="1"/>
          </p:cNvSpPr>
          <p:nvPr>
            <p:ph type="ctrTitle" hasCustomPrompt="1"/>
          </p:nvPr>
        </p:nvSpPr>
        <p:spPr>
          <a:xfrm>
            <a:off x="615951" y="698500"/>
            <a:ext cx="10941801" cy="2914654"/>
          </a:xfrm>
        </p:spPr>
        <p:txBody>
          <a:bodyPr anchor="b">
            <a:noAutofit/>
          </a:bodyPr>
          <a:lstStyle>
            <a:lvl1pPr marL="0" algn="l" fontAlgn="b" hangingPunct="0">
              <a:spcAft>
                <a:spcPts val="0"/>
              </a:spcAft>
              <a:defRPr sz="5500" b="1" i="0" spc="150" baseline="0">
                <a:solidFill>
                  <a:schemeClr val="bg1"/>
                </a:solidFill>
                <a:latin typeface="MarkOT-Ultra" panose="020B0504020101010102" pitchFamily="34" charset="77"/>
              </a:defRPr>
            </a:lvl1pPr>
          </a:lstStyle>
          <a:p>
            <a:r>
              <a:rPr lang="en-CA"/>
              <a:t>Presentation </a:t>
            </a:r>
            <a:r>
              <a:rPr lang="en-CA" err="1"/>
              <a:t>starT</a:t>
            </a:r>
            <a:r>
              <a:rPr lang="en-CA"/>
              <a:t> slide</a:t>
            </a:r>
            <a:endParaRPr lang="en-US"/>
          </a:p>
        </p:txBody>
      </p:sp>
      <p:sp>
        <p:nvSpPr>
          <p:cNvPr id="6" name="Text Placeholder 5">
            <a:extLst>
              <a:ext uri="{FF2B5EF4-FFF2-40B4-BE49-F238E27FC236}">
                <a16:creationId xmlns:a16="http://schemas.microsoft.com/office/drawing/2014/main" id="{CB1C790A-88C2-4515-ABB3-F3281E5446C1}"/>
              </a:ext>
            </a:extLst>
          </p:cNvPr>
          <p:cNvSpPr>
            <a:spLocks noGrp="1"/>
          </p:cNvSpPr>
          <p:nvPr>
            <p:ph type="body" sz="quarter" idx="10" hasCustomPrompt="1"/>
          </p:nvPr>
        </p:nvSpPr>
        <p:spPr>
          <a:xfrm>
            <a:off x="616350" y="3953055"/>
            <a:ext cx="6131129" cy="255797"/>
          </a:xfrm>
        </p:spPr>
        <p:txBody>
          <a:bodyPr>
            <a:normAutofit/>
          </a:bodyPr>
          <a:lstStyle>
            <a:lvl1pPr marL="0" indent="0">
              <a:buNone/>
              <a:defRPr sz="1200">
                <a:solidFill>
                  <a:schemeClr val="bg1"/>
                </a:solidFill>
              </a:defRPr>
            </a:lvl1pPr>
          </a:lstStyle>
          <a:p>
            <a:pPr lvl="0"/>
            <a:r>
              <a:rPr lang="en-US"/>
              <a:t>Department Making Presentation (Optional) June 28, 2021</a:t>
            </a:r>
          </a:p>
        </p:txBody>
      </p:sp>
      <p:pic>
        <p:nvPicPr>
          <p:cNvPr id="8" name="Picture 7" descr="Cineplex-Logo-Final2015_RGB_4CKO.png">
            <a:extLst>
              <a:ext uri="{FF2B5EF4-FFF2-40B4-BE49-F238E27FC236}">
                <a16:creationId xmlns:a16="http://schemas.microsoft.com/office/drawing/2014/main" id="{2BFE591A-9B04-954F-910F-EA423AB214E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997440" y="5930668"/>
            <a:ext cx="1881944" cy="560663"/>
          </a:xfrm>
          <a:prstGeom prst="rect">
            <a:avLst/>
          </a:prstGeom>
        </p:spPr>
      </p:pic>
      <p:sp>
        <p:nvSpPr>
          <p:cNvPr id="10" name="TextBox 9">
            <a:extLst>
              <a:ext uri="{FF2B5EF4-FFF2-40B4-BE49-F238E27FC236}">
                <a16:creationId xmlns:a16="http://schemas.microsoft.com/office/drawing/2014/main" id="{BB61DEA7-D44B-8C4E-9DAB-E9CC545FD554}"/>
              </a:ext>
            </a:extLst>
          </p:cNvPr>
          <p:cNvSpPr txBox="1"/>
          <p:nvPr/>
        </p:nvSpPr>
        <p:spPr>
          <a:xfrm>
            <a:off x="609609" y="6274820"/>
            <a:ext cx="6805160" cy="230832"/>
          </a:xfrm>
          <a:prstGeom prst="rect">
            <a:avLst/>
          </a:prstGeom>
          <a:noFill/>
        </p:spPr>
        <p:txBody>
          <a:bodyPr wrap="square" rtlCol="0">
            <a:spAutoFit/>
          </a:bodyPr>
          <a:lstStyle/>
          <a:p>
            <a:pPr algn="l"/>
            <a:r>
              <a:rPr lang="en-US" sz="900" b="0" i="0" baseline="0">
                <a:solidFill>
                  <a:schemeClr val="bg1"/>
                </a:solidFill>
                <a:latin typeface="MarkOT"/>
                <a:ea typeface="Lucida Grande"/>
                <a:cs typeface="MarkOT-Light"/>
              </a:rPr>
              <a:t>© Cineplex Inc., This document is confidential and may not be shared, distributed or reproduced without permission.</a:t>
            </a:r>
            <a:endParaRPr lang="en-US" sz="900" b="0" i="0" baseline="0">
              <a:solidFill>
                <a:schemeClr val="bg1"/>
              </a:solidFill>
              <a:latin typeface="MarkOT"/>
              <a:cs typeface="MarkOT-Light"/>
            </a:endParaRPr>
          </a:p>
        </p:txBody>
      </p:sp>
    </p:spTree>
    <p:extLst>
      <p:ext uri="{BB962C8B-B14F-4D97-AF65-F5344CB8AC3E}">
        <p14:creationId xmlns:p14="http://schemas.microsoft.com/office/powerpoint/2010/main" val="3684272522"/>
      </p:ext>
    </p:extLst>
  </p:cSld>
  <p:clrMapOvr>
    <a:masterClrMapping/>
  </p:clrMapOvr>
  <p:extLst>
    <p:ext uri="{DCECCB84-F9BA-43D5-87BE-67443E8EF086}">
      <p15:sldGuideLst xmlns:p15="http://schemas.microsoft.com/office/powerpoint/2012/main">
        <p15:guide id="4" orient="horz" pos="4320">
          <p15:clr>
            <a:srgbClr val="FBAE40"/>
          </p15:clr>
        </p15:guide>
        <p15:guide id="5" pos="7679">
          <p15:clr>
            <a:srgbClr val="FBAE40"/>
          </p15:clr>
        </p15:guide>
        <p15:guide id="6" pos="762">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body" type="tx">
  <p:cSld name="Title and body">
    <p:spTree>
      <p:nvGrpSpPr>
        <p:cNvPr id="1" name="Shape 34"/>
        <p:cNvGrpSpPr/>
        <p:nvPr/>
      </p:nvGrpSpPr>
      <p:grpSpPr>
        <a:xfrm>
          <a:off x="0" y="0"/>
          <a:ext cx="0" cy="0"/>
          <a:chOff x="0" y="0"/>
          <a:chExt cx="0" cy="0"/>
        </a:xfrm>
      </p:grpSpPr>
      <p:sp>
        <p:nvSpPr>
          <p:cNvPr id="35" name="Google Shape;35;p8"/>
          <p:cNvSpPr txBox="1">
            <a:spLocks noGrp="1"/>
          </p:cNvSpPr>
          <p:nvPr>
            <p:ph type="title"/>
          </p:nvPr>
        </p:nvSpPr>
        <p:spPr>
          <a:xfrm>
            <a:off x="415600" y="593367"/>
            <a:ext cx="11360800" cy="763600"/>
          </a:xfrm>
          <a:prstGeom prst="rect">
            <a:avLst/>
          </a:prstGeom>
        </p:spPr>
        <p:txBody>
          <a:bodyPr spcFirstLastPara="1" wrap="square" lIns="91425" tIns="91425" rIns="91425" bIns="91425" anchor="t" anchorCtr="0">
            <a:noAutofit/>
          </a:bodyPr>
          <a:lstStyle>
            <a:lvl1pPr lvl="0" rtl="0">
              <a:spcBef>
                <a:spcPts val="0"/>
              </a:spcBef>
              <a:spcAft>
                <a:spcPts val="0"/>
              </a:spcAft>
              <a:buSzPts val="2800"/>
              <a:buFont typeface="Poppins SemiBold"/>
              <a:buNone/>
              <a:defRPr>
                <a:latin typeface="Poppins SemiBold"/>
                <a:ea typeface="Poppins SemiBold"/>
                <a:cs typeface="Poppins SemiBold"/>
                <a:sym typeface="Poppins SemiBol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r>
              <a:rPr lang="en-US"/>
              <a:t>Click to edit Master title style</a:t>
            </a:r>
            <a:endParaRPr/>
          </a:p>
        </p:txBody>
      </p:sp>
      <p:sp>
        <p:nvSpPr>
          <p:cNvPr id="36" name="Google Shape;36;p8"/>
          <p:cNvSpPr txBox="1">
            <a:spLocks noGrp="1"/>
          </p:cNvSpPr>
          <p:nvPr>
            <p:ph type="body" idx="1"/>
          </p:nvPr>
        </p:nvSpPr>
        <p:spPr>
          <a:xfrm>
            <a:off x="415600" y="1536633"/>
            <a:ext cx="11360800" cy="4555200"/>
          </a:xfrm>
          <a:prstGeom prst="rect">
            <a:avLst/>
          </a:prstGeom>
        </p:spPr>
        <p:txBody>
          <a:bodyPr spcFirstLastPara="1" wrap="square" lIns="91425" tIns="91425" rIns="91425" bIns="91425" anchor="t" anchorCtr="0">
            <a:noAutofit/>
          </a:bodyPr>
          <a:lstStyle>
            <a:lvl1pPr marL="609585" lvl="0" indent="-457189" rtl="0">
              <a:spcBef>
                <a:spcPts val="0"/>
              </a:spcBef>
              <a:spcAft>
                <a:spcPts val="0"/>
              </a:spcAft>
              <a:buClr>
                <a:srgbClr val="000000"/>
              </a:buClr>
              <a:buSzPts val="1800"/>
              <a:buChar char="●"/>
              <a:defRPr>
                <a:solidFill>
                  <a:srgbClr val="000000"/>
                </a:solidFill>
              </a:defRPr>
            </a:lvl1pPr>
            <a:lvl2pPr marL="1219170" lvl="1" indent="-423323" rtl="0">
              <a:spcBef>
                <a:spcPts val="2133"/>
              </a:spcBef>
              <a:spcAft>
                <a:spcPts val="0"/>
              </a:spcAft>
              <a:buClr>
                <a:srgbClr val="000000"/>
              </a:buClr>
              <a:buSzPts val="1400"/>
              <a:buChar char="○"/>
              <a:defRPr>
                <a:solidFill>
                  <a:srgbClr val="000000"/>
                </a:solidFill>
              </a:defRPr>
            </a:lvl2pPr>
            <a:lvl3pPr marL="1828754" lvl="2" indent="-423323" rtl="0">
              <a:spcBef>
                <a:spcPts val="2133"/>
              </a:spcBef>
              <a:spcAft>
                <a:spcPts val="0"/>
              </a:spcAft>
              <a:buClr>
                <a:srgbClr val="000000"/>
              </a:buClr>
              <a:buSzPts val="1400"/>
              <a:buChar char="■"/>
              <a:defRPr>
                <a:solidFill>
                  <a:srgbClr val="000000"/>
                </a:solidFill>
              </a:defRPr>
            </a:lvl3pPr>
            <a:lvl4pPr marL="2438339" lvl="3" indent="-423323" rtl="0">
              <a:spcBef>
                <a:spcPts val="2133"/>
              </a:spcBef>
              <a:spcAft>
                <a:spcPts val="0"/>
              </a:spcAft>
              <a:buClr>
                <a:srgbClr val="000000"/>
              </a:buClr>
              <a:buSzPts val="1400"/>
              <a:buChar char="●"/>
              <a:defRPr>
                <a:solidFill>
                  <a:srgbClr val="000000"/>
                </a:solidFill>
              </a:defRPr>
            </a:lvl4pPr>
            <a:lvl5pPr marL="3047924" lvl="4" indent="-423323" rtl="0">
              <a:spcBef>
                <a:spcPts val="2133"/>
              </a:spcBef>
              <a:spcAft>
                <a:spcPts val="0"/>
              </a:spcAft>
              <a:buClr>
                <a:srgbClr val="000000"/>
              </a:buClr>
              <a:buSzPts val="1400"/>
              <a:buChar char="○"/>
              <a:defRPr>
                <a:solidFill>
                  <a:srgbClr val="000000"/>
                </a:solidFill>
              </a:defRPr>
            </a:lvl5pPr>
            <a:lvl6pPr marL="3657509" lvl="5" indent="-423323" rtl="0">
              <a:spcBef>
                <a:spcPts val="2133"/>
              </a:spcBef>
              <a:spcAft>
                <a:spcPts val="0"/>
              </a:spcAft>
              <a:buClr>
                <a:srgbClr val="000000"/>
              </a:buClr>
              <a:buSzPts val="1400"/>
              <a:buChar char="■"/>
              <a:defRPr>
                <a:solidFill>
                  <a:srgbClr val="000000"/>
                </a:solidFill>
              </a:defRPr>
            </a:lvl6pPr>
            <a:lvl7pPr marL="4267093" lvl="6" indent="-423323" rtl="0">
              <a:spcBef>
                <a:spcPts val="2133"/>
              </a:spcBef>
              <a:spcAft>
                <a:spcPts val="0"/>
              </a:spcAft>
              <a:buClr>
                <a:srgbClr val="000000"/>
              </a:buClr>
              <a:buSzPts val="1400"/>
              <a:buChar char="●"/>
              <a:defRPr>
                <a:solidFill>
                  <a:srgbClr val="000000"/>
                </a:solidFill>
              </a:defRPr>
            </a:lvl7pPr>
            <a:lvl8pPr marL="4876678" lvl="7" indent="-423323" rtl="0">
              <a:spcBef>
                <a:spcPts val="2133"/>
              </a:spcBef>
              <a:spcAft>
                <a:spcPts val="0"/>
              </a:spcAft>
              <a:buClr>
                <a:srgbClr val="000000"/>
              </a:buClr>
              <a:buSzPts val="1400"/>
              <a:buChar char="○"/>
              <a:defRPr>
                <a:solidFill>
                  <a:srgbClr val="000000"/>
                </a:solidFill>
              </a:defRPr>
            </a:lvl8pPr>
            <a:lvl9pPr marL="5486263" lvl="8" indent="-423323" rtl="0">
              <a:spcBef>
                <a:spcPts val="2133"/>
              </a:spcBef>
              <a:spcAft>
                <a:spcPts val="2133"/>
              </a:spcAft>
              <a:buClr>
                <a:srgbClr val="000000"/>
              </a:buClr>
              <a:buSzPts val="1400"/>
              <a:buChar char="■"/>
              <a:defRPr>
                <a:solidFill>
                  <a:srgbClr val="000000"/>
                </a:solidFill>
              </a:defRPr>
            </a:lvl9pPr>
          </a:lstStyle>
          <a:p>
            <a:pPr lvl="0"/>
            <a:r>
              <a:rPr lang="en-US"/>
              <a:t>Click to edit Master text styles</a:t>
            </a:r>
          </a:p>
        </p:txBody>
      </p:sp>
      <p:sp>
        <p:nvSpPr>
          <p:cNvPr id="37" name="Google Shape;37;p8"/>
          <p:cNvSpPr txBox="1">
            <a:spLocks noGrp="1"/>
          </p:cNvSpPr>
          <p:nvPr>
            <p:ph type="sldNum" idx="12"/>
          </p:nvPr>
        </p:nvSpPr>
        <p:spPr>
          <a:xfrm>
            <a:off x="11296611" y="6217623"/>
            <a:ext cx="731600" cy="5248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fld id="{5F20588F-FA97-48FD-A13B-F1C431A82E9C}" type="slidenum">
              <a:rPr lang="en-US" smtClean="0"/>
              <a:t>‹#›</a:t>
            </a:fld>
            <a:endParaRPr lang="en-US"/>
          </a:p>
        </p:txBody>
      </p:sp>
      <p:pic>
        <p:nvPicPr>
          <p:cNvPr id="38" name="Google Shape;38;p8"/>
          <p:cNvPicPr preferRelativeResize="0"/>
          <p:nvPr/>
        </p:nvPicPr>
        <p:blipFill>
          <a:blip r:embed="rId2">
            <a:alphaModFix/>
          </a:blip>
          <a:stretch>
            <a:fillRect/>
          </a:stretch>
        </p:blipFill>
        <p:spPr>
          <a:xfrm>
            <a:off x="485934" y="1297700"/>
            <a:ext cx="1424301" cy="59267"/>
          </a:xfrm>
          <a:prstGeom prst="rect">
            <a:avLst/>
          </a:prstGeom>
          <a:noFill/>
          <a:ln>
            <a:noFill/>
          </a:ln>
        </p:spPr>
      </p:pic>
      <p:pic>
        <p:nvPicPr>
          <p:cNvPr id="39" name="Google Shape;39;p8"/>
          <p:cNvPicPr preferRelativeResize="0"/>
          <p:nvPr/>
        </p:nvPicPr>
        <p:blipFill>
          <a:blip r:embed="rId3">
            <a:alphaModFix/>
          </a:blip>
          <a:stretch>
            <a:fillRect/>
          </a:stretch>
        </p:blipFill>
        <p:spPr>
          <a:xfrm>
            <a:off x="371100" y="6390084"/>
            <a:ext cx="164304" cy="179905"/>
          </a:xfrm>
          <a:prstGeom prst="rect">
            <a:avLst/>
          </a:prstGeom>
          <a:noFill/>
          <a:ln>
            <a:noFill/>
          </a:ln>
        </p:spPr>
      </p:pic>
      <p:sp>
        <p:nvSpPr>
          <p:cNvPr id="40" name="Google Shape;40;p8"/>
          <p:cNvSpPr txBox="1"/>
          <p:nvPr/>
        </p:nvSpPr>
        <p:spPr>
          <a:xfrm>
            <a:off x="617633" y="6217633"/>
            <a:ext cx="3702400" cy="524800"/>
          </a:xfrm>
          <a:prstGeom prst="rect">
            <a:avLst/>
          </a:prstGeom>
          <a:noFill/>
          <a:ln>
            <a:noFill/>
          </a:ln>
        </p:spPr>
        <p:txBody>
          <a:bodyPr spcFirstLastPara="1" wrap="square" lIns="124667" tIns="124667" rIns="124667" bIns="124667" anchor="ctr" anchorCtr="0">
            <a:noAutofit/>
          </a:bodyPr>
          <a:lstStyle/>
          <a:p>
            <a:pPr marL="0" lvl="0" indent="0" algn="l" rtl="0">
              <a:spcBef>
                <a:spcPts val="0"/>
              </a:spcBef>
              <a:spcAft>
                <a:spcPts val="0"/>
              </a:spcAft>
              <a:buNone/>
            </a:pPr>
            <a:endParaRPr sz="1067">
              <a:latin typeface="Poppins Light"/>
              <a:ea typeface="Poppins Light"/>
              <a:cs typeface="Poppins Light"/>
              <a:sym typeface="Poppins Light"/>
            </a:endParaRPr>
          </a:p>
        </p:txBody>
      </p:sp>
      <p:sp>
        <p:nvSpPr>
          <p:cNvPr id="41" name="Google Shape;41;p8"/>
          <p:cNvSpPr txBox="1">
            <a:spLocks noGrp="1"/>
          </p:cNvSpPr>
          <p:nvPr>
            <p:ph type="subTitle" idx="2"/>
          </p:nvPr>
        </p:nvSpPr>
        <p:spPr>
          <a:xfrm>
            <a:off x="1388300" y="6271500"/>
            <a:ext cx="2776800" cy="466800"/>
          </a:xfrm>
          <a:prstGeom prst="rect">
            <a:avLst/>
          </a:prstGeom>
        </p:spPr>
        <p:txBody>
          <a:bodyPr spcFirstLastPara="1" wrap="square" lIns="91425" tIns="91425" rIns="91425" bIns="91425" anchor="t" anchorCtr="0">
            <a:noAutofit/>
          </a:bodyPr>
          <a:lstStyle>
            <a:lvl1pPr lvl="0" rtl="0">
              <a:spcBef>
                <a:spcPts val="0"/>
              </a:spcBef>
              <a:spcAft>
                <a:spcPts val="0"/>
              </a:spcAft>
              <a:buNone/>
              <a:defRPr sz="1067">
                <a:latin typeface="Poppins Light"/>
                <a:ea typeface="Poppins Light"/>
                <a:cs typeface="Poppins Light"/>
                <a:sym typeface="Poppins Light"/>
              </a:defRPr>
            </a:lvl1pPr>
            <a:lvl2pPr lvl="1" rtl="0">
              <a:spcBef>
                <a:spcPts val="2133"/>
              </a:spcBef>
              <a:spcAft>
                <a:spcPts val="0"/>
              </a:spcAft>
              <a:buNone/>
              <a:defRPr/>
            </a:lvl2pPr>
            <a:lvl3pPr lvl="2" rtl="0">
              <a:spcBef>
                <a:spcPts val="2133"/>
              </a:spcBef>
              <a:spcAft>
                <a:spcPts val="0"/>
              </a:spcAft>
              <a:buNone/>
              <a:defRPr/>
            </a:lvl3pPr>
            <a:lvl4pPr lvl="3" rtl="0">
              <a:spcBef>
                <a:spcPts val="2133"/>
              </a:spcBef>
              <a:spcAft>
                <a:spcPts val="0"/>
              </a:spcAft>
              <a:buNone/>
              <a:defRPr/>
            </a:lvl4pPr>
            <a:lvl5pPr lvl="4" rtl="0">
              <a:spcBef>
                <a:spcPts val="2133"/>
              </a:spcBef>
              <a:spcAft>
                <a:spcPts val="0"/>
              </a:spcAft>
              <a:buNone/>
              <a:defRPr/>
            </a:lvl5pPr>
            <a:lvl6pPr lvl="5" rtl="0">
              <a:spcBef>
                <a:spcPts val="2133"/>
              </a:spcBef>
              <a:spcAft>
                <a:spcPts val="0"/>
              </a:spcAft>
              <a:buNone/>
              <a:defRPr/>
            </a:lvl6pPr>
            <a:lvl7pPr lvl="6" rtl="0">
              <a:spcBef>
                <a:spcPts val="2133"/>
              </a:spcBef>
              <a:spcAft>
                <a:spcPts val="0"/>
              </a:spcAft>
              <a:buNone/>
              <a:defRPr/>
            </a:lvl7pPr>
            <a:lvl8pPr lvl="7" rtl="0">
              <a:spcBef>
                <a:spcPts val="2133"/>
              </a:spcBef>
              <a:spcAft>
                <a:spcPts val="0"/>
              </a:spcAft>
              <a:buNone/>
              <a:defRPr/>
            </a:lvl8pPr>
            <a:lvl9pPr lvl="8" rtl="0">
              <a:spcBef>
                <a:spcPts val="2133"/>
              </a:spcBef>
              <a:spcAft>
                <a:spcPts val="2133"/>
              </a:spcAft>
              <a:buNone/>
              <a:defRPr/>
            </a:lvl9pPr>
          </a:lstStyle>
          <a:p>
            <a:r>
              <a:rPr lang="en-US"/>
              <a:t>Click to edit Master subtitle style</a:t>
            </a:r>
            <a:endParaRPr/>
          </a:p>
        </p:txBody>
      </p:sp>
      <p:sp>
        <p:nvSpPr>
          <p:cNvPr id="42" name="Google Shape;42;p8"/>
          <p:cNvSpPr txBox="1"/>
          <p:nvPr/>
        </p:nvSpPr>
        <p:spPr>
          <a:xfrm>
            <a:off x="617633" y="6217633"/>
            <a:ext cx="972000" cy="524800"/>
          </a:xfrm>
          <a:prstGeom prst="rect">
            <a:avLst/>
          </a:prstGeom>
          <a:noFill/>
          <a:ln>
            <a:noFill/>
          </a:ln>
        </p:spPr>
        <p:txBody>
          <a:bodyPr spcFirstLastPara="1" wrap="square" lIns="124667" tIns="124667" rIns="124667" bIns="124667" anchor="ctr" anchorCtr="0">
            <a:noAutofit/>
          </a:bodyPr>
          <a:lstStyle/>
          <a:p>
            <a:pPr marL="0" lvl="0" indent="0" algn="l" rtl="0">
              <a:spcBef>
                <a:spcPts val="0"/>
              </a:spcBef>
              <a:spcAft>
                <a:spcPts val="0"/>
              </a:spcAft>
              <a:buNone/>
            </a:pPr>
            <a:r>
              <a:rPr lang="en" sz="1067">
                <a:latin typeface="Poppins Light"/>
                <a:ea typeface="Poppins Light"/>
                <a:cs typeface="Poppins Light"/>
                <a:sym typeface="Poppins Light"/>
              </a:rPr>
              <a:t>NASCENT  | </a:t>
            </a:r>
            <a:endParaRPr sz="1067">
              <a:latin typeface="Poppins Light"/>
              <a:ea typeface="Poppins Light"/>
              <a:cs typeface="Poppins Light"/>
              <a:sym typeface="Poppins Light"/>
            </a:endParaRPr>
          </a:p>
        </p:txBody>
      </p:sp>
    </p:spTree>
    <p:extLst>
      <p:ext uri="{BB962C8B-B14F-4D97-AF65-F5344CB8AC3E}">
        <p14:creationId xmlns:p14="http://schemas.microsoft.com/office/powerpoint/2010/main" val="374225726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hanks - End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A3FABE87-8C4B-0D4F-8419-E1246BC448FC}"/>
              </a:ext>
            </a:extLst>
          </p:cNvPr>
          <p:cNvSpPr>
            <a:spLocks noGrp="1"/>
          </p:cNvSpPr>
          <p:nvPr>
            <p:ph type="title" hasCustomPrompt="1"/>
          </p:nvPr>
        </p:nvSpPr>
        <p:spPr>
          <a:xfrm>
            <a:off x="604463" y="2908929"/>
            <a:ext cx="10888105" cy="771538"/>
          </a:xfrm>
          <a:noFill/>
        </p:spPr>
        <p:txBody>
          <a:bodyPr anchor="ctr">
            <a:noAutofit/>
          </a:bodyPr>
          <a:lstStyle>
            <a:lvl1pPr marL="475459" algn="ctr">
              <a:defRPr sz="5000" b="1" i="0" cap="all" spc="150" baseline="0">
                <a:solidFill>
                  <a:schemeClr val="bg1"/>
                </a:solidFill>
                <a:latin typeface="MarkOT-Ultra" panose="020B0504020101010102" pitchFamily="34" charset="77"/>
              </a:defRPr>
            </a:lvl1pPr>
          </a:lstStyle>
          <a:p>
            <a:r>
              <a:rPr lang="en-CA"/>
              <a:t>THANKS!</a:t>
            </a:r>
            <a:endParaRPr lang="en-US"/>
          </a:p>
        </p:txBody>
      </p:sp>
    </p:spTree>
    <p:extLst>
      <p:ext uri="{BB962C8B-B14F-4D97-AF65-F5344CB8AC3E}">
        <p14:creationId xmlns:p14="http://schemas.microsoft.com/office/powerpoint/2010/main" val="75550271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ontent">
    <p:spTree>
      <p:nvGrpSpPr>
        <p:cNvPr id="1" name=""/>
        <p:cNvGrpSpPr/>
        <p:nvPr/>
      </p:nvGrpSpPr>
      <p:grpSpPr>
        <a:xfrm>
          <a:off x="0" y="0"/>
          <a:ext cx="0" cy="0"/>
          <a:chOff x="0" y="0"/>
          <a:chExt cx="0" cy="0"/>
        </a:xfrm>
      </p:grpSpPr>
      <p:sp>
        <p:nvSpPr>
          <p:cNvPr id="4" name="Title 3"/>
          <p:cNvSpPr>
            <a:spLocks noGrp="1"/>
          </p:cNvSpPr>
          <p:nvPr>
            <p:ph type="title" hasCustomPrompt="1"/>
          </p:nvPr>
        </p:nvSpPr>
        <p:spPr>
          <a:xfrm>
            <a:off x="2" y="293692"/>
            <a:ext cx="11582397" cy="937312"/>
          </a:xfrm>
        </p:spPr>
        <p:txBody>
          <a:bodyPr/>
          <a:lstStyle>
            <a:lvl1pPr marL="552600">
              <a:defRPr cap="all" spc="134" baseline="0">
                <a:solidFill>
                  <a:schemeClr val="tx1"/>
                </a:solidFill>
                <a:latin typeface="MarkOT-CondBlack" panose="020B0504020101010102" pitchFamily="34" charset="77"/>
              </a:defRPr>
            </a:lvl1pPr>
          </a:lstStyle>
          <a:p>
            <a:r>
              <a:rPr lang="en-CA"/>
              <a:t>edit Master title style</a:t>
            </a:r>
            <a:endParaRPr lang="en-US"/>
          </a:p>
        </p:txBody>
      </p:sp>
      <p:sp>
        <p:nvSpPr>
          <p:cNvPr id="10" name="Text Placeholder 9">
            <a:extLst>
              <a:ext uri="{FF2B5EF4-FFF2-40B4-BE49-F238E27FC236}">
                <a16:creationId xmlns:a16="http://schemas.microsoft.com/office/drawing/2014/main" id="{E030C080-5A9A-4546-86D1-1405B471AD97}"/>
              </a:ext>
            </a:extLst>
          </p:cNvPr>
          <p:cNvSpPr>
            <a:spLocks noGrp="1"/>
          </p:cNvSpPr>
          <p:nvPr>
            <p:ph type="body" sz="quarter" idx="11"/>
          </p:nvPr>
        </p:nvSpPr>
        <p:spPr>
          <a:xfrm>
            <a:off x="615990" y="1600201"/>
            <a:ext cx="10966409" cy="45259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848553296"/>
      </p:ext>
    </p:extLst>
  </p:cSld>
  <p:clrMapOvr>
    <a:masterClrMapping/>
  </p:clrMapOvr>
  <p:extLst>
    <p:ext uri="{DCECCB84-F9BA-43D5-87BE-67443E8EF086}">
      <p15:sldGuideLst xmlns:p15="http://schemas.microsoft.com/office/powerpoint/2012/main">
        <p15:guide id="4" orient="horz" pos="4320">
          <p15:clr>
            <a:srgbClr val="FBAE40"/>
          </p15:clr>
        </p15:guide>
        <p15:guide id="5" pos="7679">
          <p15:clr>
            <a:srgbClr val="FBAE40"/>
          </p15:clr>
        </p15:guide>
        <p15:guide id="6" pos="762">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2.xml"/><Relationship Id="rId1" Type="http://schemas.openxmlformats.org/officeDocument/2006/relationships/slideLayout" Target="../slideLayouts/slideLayout1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0" y="293692"/>
            <a:ext cx="6031831" cy="937312"/>
          </a:xfrm>
          <a:prstGeom prst="rect">
            <a:avLst/>
          </a:prstGeom>
          <a:noFill/>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609601" y="1600202"/>
            <a:ext cx="10972801"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8" name="Straight Connector 7"/>
          <p:cNvCxnSpPr/>
          <p:nvPr/>
        </p:nvCxnSpPr>
        <p:spPr>
          <a:xfrm>
            <a:off x="11017782" y="6461842"/>
            <a:ext cx="0" cy="261459"/>
          </a:xfrm>
          <a:prstGeom prst="line">
            <a:avLst/>
          </a:prstGeom>
          <a:ln>
            <a:solidFill>
              <a:schemeClr val="tx1"/>
            </a:solidFill>
          </a:ln>
          <a:effectLst/>
        </p:spPr>
        <p:style>
          <a:lnRef idx="1">
            <a:schemeClr val="dk1"/>
          </a:lnRef>
          <a:fillRef idx="0">
            <a:schemeClr val="dk1"/>
          </a:fillRef>
          <a:effectRef idx="0">
            <a:schemeClr val="dk1"/>
          </a:effectRef>
          <a:fontRef idx="minor">
            <a:schemeClr val="tx1"/>
          </a:fontRef>
        </p:style>
      </p:cxnSp>
      <p:cxnSp>
        <p:nvCxnSpPr>
          <p:cNvPr id="9" name="Straight Connector 8"/>
          <p:cNvCxnSpPr/>
          <p:nvPr/>
        </p:nvCxnSpPr>
        <p:spPr>
          <a:xfrm>
            <a:off x="609601" y="6266906"/>
            <a:ext cx="10972801" cy="0"/>
          </a:xfrm>
          <a:prstGeom prst="line">
            <a:avLst/>
          </a:prstGeom>
          <a:ln>
            <a:solidFill>
              <a:schemeClr val="tx1"/>
            </a:solidFill>
          </a:ln>
        </p:spPr>
        <p:style>
          <a:lnRef idx="1">
            <a:schemeClr val="dk1"/>
          </a:lnRef>
          <a:fillRef idx="0">
            <a:schemeClr val="dk1"/>
          </a:fillRef>
          <a:effectRef idx="0">
            <a:schemeClr val="dk1"/>
          </a:effectRef>
          <a:fontRef idx="minor">
            <a:schemeClr val="tx1"/>
          </a:fontRef>
        </p:style>
      </p:cxnSp>
      <p:sp>
        <p:nvSpPr>
          <p:cNvPr id="10" name="TextBox 9"/>
          <p:cNvSpPr txBox="1"/>
          <p:nvPr/>
        </p:nvSpPr>
        <p:spPr>
          <a:xfrm>
            <a:off x="11152472" y="6436809"/>
            <a:ext cx="402931" cy="276999"/>
          </a:xfrm>
          <a:prstGeom prst="rect">
            <a:avLst/>
          </a:prstGeom>
          <a:noFill/>
        </p:spPr>
        <p:txBody>
          <a:bodyPr wrap="none" rtlCol="0">
            <a:spAutoFit/>
          </a:bodyPr>
          <a:lstStyle/>
          <a:p>
            <a:fld id="{CC39E6DB-EC41-F34A-BD4E-CB3A11E33C4D}" type="slidenum">
              <a:rPr lang="en-US" sz="1200" spc="134" baseline="0" smtClean="0">
                <a:solidFill>
                  <a:schemeClr val="tx1"/>
                </a:solidFill>
                <a:latin typeface="MarkOT-CondBlack" panose="020B0504020101010102" pitchFamily="34" charset="77"/>
              </a:rPr>
              <a:t>‹#›</a:t>
            </a:fld>
            <a:endParaRPr lang="en-US" sz="1200" spc="134" baseline="0">
              <a:solidFill>
                <a:schemeClr val="tx1"/>
              </a:solidFill>
              <a:latin typeface="MarkOT-CondBlack" panose="020B0504020101010102" pitchFamily="34" charset="77"/>
            </a:endParaRPr>
          </a:p>
        </p:txBody>
      </p:sp>
      <p:pic>
        <p:nvPicPr>
          <p:cNvPr id="4" name="Picture 3">
            <a:extLst>
              <a:ext uri="{FF2B5EF4-FFF2-40B4-BE49-F238E27FC236}">
                <a16:creationId xmlns:a16="http://schemas.microsoft.com/office/drawing/2014/main" id="{E569ED01-0715-2E4E-A756-C6AA40248CD1}"/>
              </a:ext>
            </a:extLst>
          </p:cNvPr>
          <p:cNvPicPr>
            <a:picLocks noChangeAspect="1"/>
          </p:cNvPicPr>
          <p:nvPr/>
        </p:nvPicPr>
        <p:blipFill>
          <a:blip r:embed="rId12"/>
          <a:stretch>
            <a:fillRect/>
          </a:stretch>
        </p:blipFill>
        <p:spPr>
          <a:xfrm>
            <a:off x="10080181" y="6500147"/>
            <a:ext cx="679244" cy="182742"/>
          </a:xfrm>
          <a:prstGeom prst="rect">
            <a:avLst/>
          </a:prstGeom>
        </p:spPr>
      </p:pic>
      <p:cxnSp>
        <p:nvCxnSpPr>
          <p:cNvPr id="11" name="Straight Connector 10">
            <a:extLst>
              <a:ext uri="{FF2B5EF4-FFF2-40B4-BE49-F238E27FC236}">
                <a16:creationId xmlns:a16="http://schemas.microsoft.com/office/drawing/2014/main" id="{324B2027-B697-4A41-BDA1-99753397749E}"/>
              </a:ext>
            </a:extLst>
          </p:cNvPr>
          <p:cNvCxnSpPr/>
          <p:nvPr/>
        </p:nvCxnSpPr>
        <p:spPr>
          <a:xfrm>
            <a:off x="11017782" y="6461842"/>
            <a:ext cx="0" cy="261459"/>
          </a:xfrm>
          <a:prstGeom prst="line">
            <a:avLst/>
          </a:prstGeom>
          <a:ln>
            <a:solidFill>
              <a:schemeClr val="tx1"/>
            </a:solidFill>
          </a:ln>
          <a:effectLst/>
        </p:spPr>
        <p:style>
          <a:lnRef idx="1">
            <a:schemeClr val="dk1"/>
          </a:lnRef>
          <a:fillRef idx="0">
            <a:schemeClr val="dk1"/>
          </a:fillRef>
          <a:effectRef idx="0">
            <a:schemeClr val="dk1"/>
          </a:effectRef>
          <a:fontRef idx="minor">
            <a:schemeClr val="tx1"/>
          </a:fontRef>
        </p:style>
      </p:cxnSp>
      <p:cxnSp>
        <p:nvCxnSpPr>
          <p:cNvPr id="12" name="Straight Connector 11">
            <a:extLst>
              <a:ext uri="{FF2B5EF4-FFF2-40B4-BE49-F238E27FC236}">
                <a16:creationId xmlns:a16="http://schemas.microsoft.com/office/drawing/2014/main" id="{125E148E-B901-764D-892A-03E6A9E72126}"/>
              </a:ext>
            </a:extLst>
          </p:cNvPr>
          <p:cNvCxnSpPr/>
          <p:nvPr/>
        </p:nvCxnSpPr>
        <p:spPr>
          <a:xfrm>
            <a:off x="609601" y="6266906"/>
            <a:ext cx="10972801" cy="0"/>
          </a:xfrm>
          <a:prstGeom prst="line">
            <a:avLst/>
          </a:prstGeom>
          <a:ln>
            <a:solidFill>
              <a:schemeClr val="tx1"/>
            </a:solidFill>
          </a:ln>
        </p:spPr>
        <p:style>
          <a:lnRef idx="1">
            <a:schemeClr val="dk1"/>
          </a:lnRef>
          <a:fillRef idx="0">
            <a:schemeClr val="dk1"/>
          </a:fillRef>
          <a:effectRef idx="0">
            <a:schemeClr val="dk1"/>
          </a:effectRef>
          <a:fontRef idx="minor">
            <a:schemeClr val="tx1"/>
          </a:fontRef>
        </p:style>
      </p:cxnSp>
      <p:sp>
        <p:nvSpPr>
          <p:cNvPr id="13" name="TextBox 12">
            <a:extLst>
              <a:ext uri="{FF2B5EF4-FFF2-40B4-BE49-F238E27FC236}">
                <a16:creationId xmlns:a16="http://schemas.microsoft.com/office/drawing/2014/main" id="{9D795D7D-4129-ED46-82D7-07E0D8B0B079}"/>
              </a:ext>
            </a:extLst>
          </p:cNvPr>
          <p:cNvSpPr txBox="1"/>
          <p:nvPr/>
        </p:nvSpPr>
        <p:spPr>
          <a:xfrm>
            <a:off x="11152472" y="6436809"/>
            <a:ext cx="402931" cy="276999"/>
          </a:xfrm>
          <a:prstGeom prst="rect">
            <a:avLst/>
          </a:prstGeom>
          <a:noFill/>
        </p:spPr>
        <p:txBody>
          <a:bodyPr wrap="none" rtlCol="0">
            <a:spAutoFit/>
          </a:bodyPr>
          <a:lstStyle/>
          <a:p>
            <a:fld id="{CC39E6DB-EC41-F34A-BD4E-CB3A11E33C4D}" type="slidenum">
              <a:rPr lang="en-US" sz="1200" spc="134" baseline="0" smtClean="0">
                <a:solidFill>
                  <a:schemeClr val="tx1"/>
                </a:solidFill>
                <a:latin typeface="MarkOT-CondBlack" panose="020B0504020101010102" pitchFamily="34" charset="77"/>
              </a:rPr>
              <a:t>‹#›</a:t>
            </a:fld>
            <a:endParaRPr lang="en-US" sz="1200" spc="134" baseline="0">
              <a:solidFill>
                <a:schemeClr val="tx1"/>
              </a:solidFill>
              <a:latin typeface="MarkOT-CondBlack" panose="020B0504020101010102" pitchFamily="34" charset="77"/>
            </a:endParaRPr>
          </a:p>
        </p:txBody>
      </p:sp>
      <p:pic>
        <p:nvPicPr>
          <p:cNvPr id="14" name="Picture 13">
            <a:extLst>
              <a:ext uri="{FF2B5EF4-FFF2-40B4-BE49-F238E27FC236}">
                <a16:creationId xmlns:a16="http://schemas.microsoft.com/office/drawing/2014/main" id="{63F963D3-4DF2-B14D-8458-0ACDE1720FC7}"/>
              </a:ext>
            </a:extLst>
          </p:cNvPr>
          <p:cNvPicPr>
            <a:picLocks noChangeAspect="1"/>
          </p:cNvPicPr>
          <p:nvPr/>
        </p:nvPicPr>
        <p:blipFill>
          <a:blip r:embed="rId12"/>
          <a:stretch>
            <a:fillRect/>
          </a:stretch>
        </p:blipFill>
        <p:spPr>
          <a:xfrm>
            <a:off x="10080181" y="6500147"/>
            <a:ext cx="679244" cy="182742"/>
          </a:xfrm>
          <a:prstGeom prst="rect">
            <a:avLst/>
          </a:prstGeom>
        </p:spPr>
      </p:pic>
    </p:spTree>
    <p:extLst>
      <p:ext uri="{BB962C8B-B14F-4D97-AF65-F5344CB8AC3E}">
        <p14:creationId xmlns:p14="http://schemas.microsoft.com/office/powerpoint/2010/main" val="4054897265"/>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Lst>
  <p:txStyles>
    <p:titleStyle>
      <a:lvl1pPr marL="552600" indent="0" algn="l" defTabSz="609562" rtl="0" eaLnBrk="1" latinLnBrk="0" hangingPunct="1">
        <a:spcBef>
          <a:spcPts val="0"/>
        </a:spcBef>
        <a:spcAft>
          <a:spcPts val="2400"/>
        </a:spcAft>
        <a:buFontTx/>
        <a:buNone/>
        <a:defRPr sz="2500" b="0" i="0" kern="1200" cap="all" spc="134" baseline="0">
          <a:solidFill>
            <a:schemeClr val="tx1"/>
          </a:solidFill>
          <a:latin typeface="MarkOT-CondBlack" panose="020B0504020101010102" pitchFamily="34" charset="77"/>
          <a:ea typeface="+mj-ea"/>
          <a:cs typeface="MarkOT-Heavy"/>
        </a:defRPr>
      </a:lvl1pPr>
    </p:titleStyle>
    <p:bodyStyle>
      <a:lvl1pPr marL="169172" indent="-180000" algn="l" defTabSz="609562" rtl="0" eaLnBrk="1" latinLnBrk="0" hangingPunct="1">
        <a:spcBef>
          <a:spcPct val="20000"/>
        </a:spcBef>
        <a:buFont typeface="Arial"/>
        <a:buChar char="•"/>
        <a:defRPr sz="2400" kern="1200" baseline="0">
          <a:solidFill>
            <a:schemeClr val="tx2"/>
          </a:solidFill>
          <a:latin typeface="MarkOT-Medium" panose="020B0504020101010102" pitchFamily="34" charset="77"/>
          <a:ea typeface="+mn-ea"/>
          <a:cs typeface="MarkOT-Italic"/>
        </a:defRPr>
      </a:lvl1pPr>
      <a:lvl2pPr marL="360000" indent="-180000" algn="l" defTabSz="609562" rtl="0" eaLnBrk="1" latinLnBrk="0" hangingPunct="1">
        <a:spcBef>
          <a:spcPct val="20000"/>
        </a:spcBef>
        <a:buFont typeface="Arial" panose="020B0604020202020204" pitchFamily="34" charset="0"/>
        <a:buChar char="•"/>
        <a:defRPr sz="2200" kern="1200">
          <a:solidFill>
            <a:schemeClr val="tx2"/>
          </a:solidFill>
          <a:latin typeface="+mn-lt"/>
          <a:ea typeface="+mn-ea"/>
          <a:cs typeface="MarkOT-Italic"/>
        </a:defRPr>
      </a:lvl2pPr>
      <a:lvl3pPr marL="540000" indent="-180000" algn="l" defTabSz="609562" rtl="0" eaLnBrk="1" latinLnBrk="0" hangingPunct="1">
        <a:spcBef>
          <a:spcPct val="20000"/>
        </a:spcBef>
        <a:buFont typeface="Arial"/>
        <a:buChar char="•"/>
        <a:defRPr sz="2000" kern="1200">
          <a:solidFill>
            <a:schemeClr val="tx2"/>
          </a:solidFill>
          <a:latin typeface="+mn-lt"/>
          <a:ea typeface="+mn-ea"/>
          <a:cs typeface="MarkOT-Italic"/>
        </a:defRPr>
      </a:lvl3pPr>
      <a:lvl4pPr marL="720000" indent="-180000" algn="l" defTabSz="609562" rtl="0" eaLnBrk="1" latinLnBrk="0" hangingPunct="1">
        <a:spcBef>
          <a:spcPct val="20000"/>
        </a:spcBef>
        <a:buFont typeface="Arial" panose="020B0604020202020204" pitchFamily="34" charset="0"/>
        <a:buChar char="•"/>
        <a:defRPr sz="1600" kern="1200">
          <a:solidFill>
            <a:schemeClr val="tx2"/>
          </a:solidFill>
          <a:latin typeface="+mn-lt"/>
          <a:ea typeface="+mn-ea"/>
          <a:cs typeface="MarkOT-Italic"/>
        </a:defRPr>
      </a:lvl4pPr>
      <a:lvl5pPr marL="900000" indent="-180000" algn="l" defTabSz="609562" rtl="0" eaLnBrk="1" latinLnBrk="0" hangingPunct="1">
        <a:spcBef>
          <a:spcPct val="20000"/>
        </a:spcBef>
        <a:buFont typeface="Arial" panose="020B0604020202020204" pitchFamily="34" charset="0"/>
        <a:buChar char="•"/>
        <a:defRPr sz="1400" kern="1200">
          <a:solidFill>
            <a:schemeClr val="tx2"/>
          </a:solidFill>
          <a:latin typeface="+mn-lt"/>
          <a:ea typeface="+mn-ea"/>
          <a:cs typeface="MarkOT-Italic"/>
        </a:defRPr>
      </a:lvl5pPr>
      <a:lvl6pPr marL="3352591" indent="-304781" algn="l" defTabSz="609562" rtl="0" eaLnBrk="1" latinLnBrk="0" hangingPunct="1">
        <a:spcBef>
          <a:spcPct val="20000"/>
        </a:spcBef>
        <a:buFont typeface="Arial"/>
        <a:buChar char="•"/>
        <a:defRPr sz="2667" kern="1200">
          <a:solidFill>
            <a:schemeClr val="tx1"/>
          </a:solidFill>
          <a:latin typeface="+mn-lt"/>
          <a:ea typeface="+mn-ea"/>
          <a:cs typeface="+mn-cs"/>
        </a:defRPr>
      </a:lvl6pPr>
      <a:lvl7pPr marL="3962153" indent="-304781" algn="l" defTabSz="609562" rtl="0" eaLnBrk="1" latinLnBrk="0" hangingPunct="1">
        <a:spcBef>
          <a:spcPct val="20000"/>
        </a:spcBef>
        <a:buFont typeface="Arial"/>
        <a:buChar char="•"/>
        <a:defRPr sz="2667" kern="1200">
          <a:solidFill>
            <a:schemeClr val="tx1"/>
          </a:solidFill>
          <a:latin typeface="+mn-lt"/>
          <a:ea typeface="+mn-ea"/>
          <a:cs typeface="+mn-cs"/>
        </a:defRPr>
      </a:lvl7pPr>
      <a:lvl8pPr marL="4571715" indent="-304781" algn="l" defTabSz="609562" rtl="0" eaLnBrk="1" latinLnBrk="0" hangingPunct="1">
        <a:spcBef>
          <a:spcPct val="20000"/>
        </a:spcBef>
        <a:buFont typeface="Arial"/>
        <a:buChar char="•"/>
        <a:defRPr sz="2667" kern="1200">
          <a:solidFill>
            <a:schemeClr val="tx1"/>
          </a:solidFill>
          <a:latin typeface="+mn-lt"/>
          <a:ea typeface="+mn-ea"/>
          <a:cs typeface="+mn-cs"/>
        </a:defRPr>
      </a:lvl8pPr>
      <a:lvl9pPr marL="5181276" indent="-304781" algn="l" defTabSz="609562" rtl="0" eaLnBrk="1" latinLnBrk="0" hangingPunct="1">
        <a:spcBef>
          <a:spcPct val="20000"/>
        </a:spcBef>
        <a:buFont typeface="Arial"/>
        <a:buChar char="•"/>
        <a:defRPr sz="2667" kern="1200">
          <a:solidFill>
            <a:schemeClr val="tx1"/>
          </a:solidFill>
          <a:latin typeface="+mn-lt"/>
          <a:ea typeface="+mn-ea"/>
          <a:cs typeface="+mn-cs"/>
        </a:defRPr>
      </a:lvl9pPr>
    </p:bodyStyle>
    <p:otherStyle>
      <a:defPPr>
        <a:defRPr lang="en-US"/>
      </a:defPPr>
      <a:lvl1pPr marL="0" algn="l" defTabSz="609562" rtl="0" eaLnBrk="1" latinLnBrk="0" hangingPunct="1">
        <a:defRPr sz="2400" kern="1200">
          <a:solidFill>
            <a:schemeClr val="tx1"/>
          </a:solidFill>
          <a:latin typeface="+mn-lt"/>
          <a:ea typeface="+mn-ea"/>
          <a:cs typeface="+mn-cs"/>
        </a:defRPr>
      </a:lvl1pPr>
      <a:lvl2pPr marL="609562" algn="l" defTabSz="609562" rtl="0" eaLnBrk="1" latinLnBrk="0" hangingPunct="1">
        <a:defRPr sz="2400" kern="1200">
          <a:solidFill>
            <a:schemeClr val="tx1"/>
          </a:solidFill>
          <a:latin typeface="+mn-lt"/>
          <a:ea typeface="+mn-ea"/>
          <a:cs typeface="+mn-cs"/>
        </a:defRPr>
      </a:lvl2pPr>
      <a:lvl3pPr marL="1219124" algn="l" defTabSz="609562" rtl="0" eaLnBrk="1" latinLnBrk="0" hangingPunct="1">
        <a:defRPr sz="2400" kern="1200">
          <a:solidFill>
            <a:schemeClr val="tx1"/>
          </a:solidFill>
          <a:latin typeface="+mn-lt"/>
          <a:ea typeface="+mn-ea"/>
          <a:cs typeface="+mn-cs"/>
        </a:defRPr>
      </a:lvl3pPr>
      <a:lvl4pPr marL="1828686" algn="l" defTabSz="609562" rtl="0" eaLnBrk="1" latinLnBrk="0" hangingPunct="1">
        <a:defRPr sz="2400" kern="1200">
          <a:solidFill>
            <a:schemeClr val="tx1"/>
          </a:solidFill>
          <a:latin typeface="+mn-lt"/>
          <a:ea typeface="+mn-ea"/>
          <a:cs typeface="+mn-cs"/>
        </a:defRPr>
      </a:lvl4pPr>
      <a:lvl5pPr marL="2438248" algn="l" defTabSz="609562" rtl="0" eaLnBrk="1" latinLnBrk="0" hangingPunct="1">
        <a:defRPr sz="2400" kern="1200">
          <a:solidFill>
            <a:schemeClr val="tx1"/>
          </a:solidFill>
          <a:latin typeface="+mn-lt"/>
          <a:ea typeface="+mn-ea"/>
          <a:cs typeface="+mn-cs"/>
        </a:defRPr>
      </a:lvl5pPr>
      <a:lvl6pPr marL="3047810" algn="l" defTabSz="609562" rtl="0" eaLnBrk="1" latinLnBrk="0" hangingPunct="1">
        <a:defRPr sz="2400" kern="1200">
          <a:solidFill>
            <a:schemeClr val="tx1"/>
          </a:solidFill>
          <a:latin typeface="+mn-lt"/>
          <a:ea typeface="+mn-ea"/>
          <a:cs typeface="+mn-cs"/>
        </a:defRPr>
      </a:lvl6pPr>
      <a:lvl7pPr marL="3657372" algn="l" defTabSz="609562" rtl="0" eaLnBrk="1" latinLnBrk="0" hangingPunct="1">
        <a:defRPr sz="2400" kern="1200">
          <a:solidFill>
            <a:schemeClr val="tx1"/>
          </a:solidFill>
          <a:latin typeface="+mn-lt"/>
          <a:ea typeface="+mn-ea"/>
          <a:cs typeface="+mn-cs"/>
        </a:defRPr>
      </a:lvl7pPr>
      <a:lvl8pPr marL="4266934" algn="l" defTabSz="609562" rtl="0" eaLnBrk="1" latinLnBrk="0" hangingPunct="1">
        <a:defRPr sz="2400" kern="1200">
          <a:solidFill>
            <a:schemeClr val="tx1"/>
          </a:solidFill>
          <a:latin typeface="+mn-lt"/>
          <a:ea typeface="+mn-ea"/>
          <a:cs typeface="+mn-cs"/>
        </a:defRPr>
      </a:lvl8pPr>
      <a:lvl9pPr marL="4876495" algn="l" defTabSz="609562" rtl="0" eaLnBrk="1" latinLnBrk="0" hangingPunct="1">
        <a:defRPr sz="24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0" y="293692"/>
            <a:ext cx="11582401" cy="937312"/>
          </a:xfrm>
          <a:prstGeom prst="rect">
            <a:avLst/>
          </a:prstGeom>
          <a:noFill/>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609601" y="1600202"/>
            <a:ext cx="10972801"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8" name="Straight Connector 7"/>
          <p:cNvCxnSpPr/>
          <p:nvPr/>
        </p:nvCxnSpPr>
        <p:spPr>
          <a:xfrm>
            <a:off x="11017782" y="6461842"/>
            <a:ext cx="0" cy="261459"/>
          </a:xfrm>
          <a:prstGeom prst="line">
            <a:avLst/>
          </a:prstGeom>
          <a:ln>
            <a:solidFill>
              <a:schemeClr val="tx1"/>
            </a:solidFill>
          </a:ln>
          <a:effectLst/>
        </p:spPr>
        <p:style>
          <a:lnRef idx="1">
            <a:schemeClr val="dk1"/>
          </a:lnRef>
          <a:fillRef idx="0">
            <a:schemeClr val="dk1"/>
          </a:fillRef>
          <a:effectRef idx="0">
            <a:schemeClr val="dk1"/>
          </a:effectRef>
          <a:fontRef idx="minor">
            <a:schemeClr val="tx1"/>
          </a:fontRef>
        </p:style>
      </p:cxnSp>
      <p:cxnSp>
        <p:nvCxnSpPr>
          <p:cNvPr id="9" name="Straight Connector 8"/>
          <p:cNvCxnSpPr/>
          <p:nvPr/>
        </p:nvCxnSpPr>
        <p:spPr>
          <a:xfrm>
            <a:off x="609601" y="6266906"/>
            <a:ext cx="10972801" cy="0"/>
          </a:xfrm>
          <a:prstGeom prst="line">
            <a:avLst/>
          </a:prstGeom>
          <a:ln>
            <a:solidFill>
              <a:schemeClr val="tx1"/>
            </a:solidFill>
          </a:ln>
        </p:spPr>
        <p:style>
          <a:lnRef idx="1">
            <a:schemeClr val="dk1"/>
          </a:lnRef>
          <a:fillRef idx="0">
            <a:schemeClr val="dk1"/>
          </a:fillRef>
          <a:effectRef idx="0">
            <a:schemeClr val="dk1"/>
          </a:effectRef>
          <a:fontRef idx="minor">
            <a:schemeClr val="tx1"/>
          </a:fontRef>
        </p:style>
      </p:cxnSp>
      <p:sp>
        <p:nvSpPr>
          <p:cNvPr id="10" name="TextBox 9"/>
          <p:cNvSpPr txBox="1"/>
          <p:nvPr/>
        </p:nvSpPr>
        <p:spPr>
          <a:xfrm>
            <a:off x="11152472" y="6436809"/>
            <a:ext cx="402931" cy="276999"/>
          </a:xfrm>
          <a:prstGeom prst="rect">
            <a:avLst/>
          </a:prstGeom>
          <a:noFill/>
        </p:spPr>
        <p:txBody>
          <a:bodyPr wrap="none" rtlCol="0">
            <a:spAutoFit/>
          </a:bodyPr>
          <a:lstStyle/>
          <a:p>
            <a:fld id="{CC39E6DB-EC41-F34A-BD4E-CB3A11E33C4D}" type="slidenum">
              <a:rPr lang="en-US" sz="1200" spc="134" baseline="0" smtClean="0">
                <a:solidFill>
                  <a:schemeClr val="tx1"/>
                </a:solidFill>
                <a:latin typeface="MarkOT-CondBlack" panose="020B0504020101010102" pitchFamily="34" charset="77"/>
              </a:rPr>
              <a:t>‹#›</a:t>
            </a:fld>
            <a:endParaRPr lang="en-US" sz="1200" spc="134" baseline="0">
              <a:solidFill>
                <a:schemeClr val="tx1"/>
              </a:solidFill>
              <a:latin typeface="MarkOT-CondBlack" panose="020B0504020101010102" pitchFamily="34" charset="77"/>
            </a:endParaRPr>
          </a:p>
        </p:txBody>
      </p:sp>
      <p:pic>
        <p:nvPicPr>
          <p:cNvPr id="4" name="Picture 3">
            <a:extLst>
              <a:ext uri="{FF2B5EF4-FFF2-40B4-BE49-F238E27FC236}">
                <a16:creationId xmlns:a16="http://schemas.microsoft.com/office/drawing/2014/main" id="{E569ED01-0715-2E4E-A756-C6AA40248CD1}"/>
              </a:ext>
            </a:extLst>
          </p:cNvPr>
          <p:cNvPicPr>
            <a:picLocks noChangeAspect="1"/>
          </p:cNvPicPr>
          <p:nvPr/>
        </p:nvPicPr>
        <p:blipFill>
          <a:blip r:embed="rId3"/>
          <a:stretch>
            <a:fillRect/>
          </a:stretch>
        </p:blipFill>
        <p:spPr>
          <a:xfrm>
            <a:off x="10080181" y="6500147"/>
            <a:ext cx="679244" cy="182742"/>
          </a:xfrm>
          <a:prstGeom prst="rect">
            <a:avLst/>
          </a:prstGeom>
        </p:spPr>
      </p:pic>
      <p:cxnSp>
        <p:nvCxnSpPr>
          <p:cNvPr id="11" name="Straight Connector 10">
            <a:extLst>
              <a:ext uri="{FF2B5EF4-FFF2-40B4-BE49-F238E27FC236}">
                <a16:creationId xmlns:a16="http://schemas.microsoft.com/office/drawing/2014/main" id="{324B2027-B697-4A41-BDA1-99753397749E}"/>
              </a:ext>
            </a:extLst>
          </p:cNvPr>
          <p:cNvCxnSpPr/>
          <p:nvPr/>
        </p:nvCxnSpPr>
        <p:spPr>
          <a:xfrm>
            <a:off x="11017782" y="6461842"/>
            <a:ext cx="0" cy="261459"/>
          </a:xfrm>
          <a:prstGeom prst="line">
            <a:avLst/>
          </a:prstGeom>
          <a:ln>
            <a:solidFill>
              <a:schemeClr val="tx1"/>
            </a:solidFill>
          </a:ln>
          <a:effectLst/>
        </p:spPr>
        <p:style>
          <a:lnRef idx="1">
            <a:schemeClr val="dk1"/>
          </a:lnRef>
          <a:fillRef idx="0">
            <a:schemeClr val="dk1"/>
          </a:fillRef>
          <a:effectRef idx="0">
            <a:schemeClr val="dk1"/>
          </a:effectRef>
          <a:fontRef idx="minor">
            <a:schemeClr val="tx1"/>
          </a:fontRef>
        </p:style>
      </p:cxnSp>
      <p:cxnSp>
        <p:nvCxnSpPr>
          <p:cNvPr id="12" name="Straight Connector 11">
            <a:extLst>
              <a:ext uri="{FF2B5EF4-FFF2-40B4-BE49-F238E27FC236}">
                <a16:creationId xmlns:a16="http://schemas.microsoft.com/office/drawing/2014/main" id="{125E148E-B901-764D-892A-03E6A9E72126}"/>
              </a:ext>
            </a:extLst>
          </p:cNvPr>
          <p:cNvCxnSpPr/>
          <p:nvPr/>
        </p:nvCxnSpPr>
        <p:spPr>
          <a:xfrm>
            <a:off x="609601" y="6266906"/>
            <a:ext cx="10972801" cy="0"/>
          </a:xfrm>
          <a:prstGeom prst="line">
            <a:avLst/>
          </a:prstGeom>
          <a:ln>
            <a:solidFill>
              <a:schemeClr val="tx1"/>
            </a:solidFill>
          </a:ln>
        </p:spPr>
        <p:style>
          <a:lnRef idx="1">
            <a:schemeClr val="dk1"/>
          </a:lnRef>
          <a:fillRef idx="0">
            <a:schemeClr val="dk1"/>
          </a:fillRef>
          <a:effectRef idx="0">
            <a:schemeClr val="dk1"/>
          </a:effectRef>
          <a:fontRef idx="minor">
            <a:schemeClr val="tx1"/>
          </a:fontRef>
        </p:style>
      </p:cxnSp>
      <p:sp>
        <p:nvSpPr>
          <p:cNvPr id="13" name="TextBox 12">
            <a:extLst>
              <a:ext uri="{FF2B5EF4-FFF2-40B4-BE49-F238E27FC236}">
                <a16:creationId xmlns:a16="http://schemas.microsoft.com/office/drawing/2014/main" id="{9D795D7D-4129-ED46-82D7-07E0D8B0B079}"/>
              </a:ext>
            </a:extLst>
          </p:cNvPr>
          <p:cNvSpPr txBox="1"/>
          <p:nvPr/>
        </p:nvSpPr>
        <p:spPr>
          <a:xfrm>
            <a:off x="11152472" y="6436809"/>
            <a:ext cx="402931" cy="276999"/>
          </a:xfrm>
          <a:prstGeom prst="rect">
            <a:avLst/>
          </a:prstGeom>
          <a:noFill/>
        </p:spPr>
        <p:txBody>
          <a:bodyPr wrap="none" rtlCol="0">
            <a:spAutoFit/>
          </a:bodyPr>
          <a:lstStyle/>
          <a:p>
            <a:fld id="{CC39E6DB-EC41-F34A-BD4E-CB3A11E33C4D}" type="slidenum">
              <a:rPr lang="en-US" sz="1200" spc="134" baseline="0" smtClean="0">
                <a:solidFill>
                  <a:schemeClr val="tx1"/>
                </a:solidFill>
                <a:latin typeface="MarkOT-CondBlack" panose="020B0504020101010102" pitchFamily="34" charset="77"/>
              </a:rPr>
              <a:t>‹#›</a:t>
            </a:fld>
            <a:endParaRPr lang="en-US" sz="1200" spc="134" baseline="0">
              <a:solidFill>
                <a:schemeClr val="tx1"/>
              </a:solidFill>
              <a:latin typeface="MarkOT-CondBlack" panose="020B0504020101010102" pitchFamily="34" charset="77"/>
            </a:endParaRPr>
          </a:p>
        </p:txBody>
      </p:sp>
      <p:pic>
        <p:nvPicPr>
          <p:cNvPr id="14" name="Picture 13">
            <a:extLst>
              <a:ext uri="{FF2B5EF4-FFF2-40B4-BE49-F238E27FC236}">
                <a16:creationId xmlns:a16="http://schemas.microsoft.com/office/drawing/2014/main" id="{63F963D3-4DF2-B14D-8458-0ACDE1720FC7}"/>
              </a:ext>
            </a:extLst>
          </p:cNvPr>
          <p:cNvPicPr>
            <a:picLocks noChangeAspect="1"/>
          </p:cNvPicPr>
          <p:nvPr/>
        </p:nvPicPr>
        <p:blipFill>
          <a:blip r:embed="rId3"/>
          <a:stretch>
            <a:fillRect/>
          </a:stretch>
        </p:blipFill>
        <p:spPr>
          <a:xfrm>
            <a:off x="10080181" y="6500147"/>
            <a:ext cx="679244" cy="182742"/>
          </a:xfrm>
          <a:prstGeom prst="rect">
            <a:avLst/>
          </a:prstGeom>
        </p:spPr>
      </p:pic>
    </p:spTree>
    <p:extLst>
      <p:ext uri="{BB962C8B-B14F-4D97-AF65-F5344CB8AC3E}">
        <p14:creationId xmlns:p14="http://schemas.microsoft.com/office/powerpoint/2010/main" val="3684812950"/>
      </p:ext>
    </p:extLst>
  </p:cSld>
  <p:clrMap bg1="lt1" tx1="dk1" bg2="lt2" tx2="dk2" accent1="accent1" accent2="accent2" accent3="accent3" accent4="accent4" accent5="accent5" accent6="accent6" hlink="hlink" folHlink="folHlink"/>
  <p:sldLayoutIdLst>
    <p:sldLayoutId id="2147483673" r:id="rId1"/>
  </p:sldLayoutIdLst>
  <p:hf hdr="0" ftr="0" dt="0"/>
  <p:txStyles>
    <p:titleStyle>
      <a:lvl1pPr marL="552600" indent="0" algn="l" defTabSz="609562" rtl="0" eaLnBrk="1" latinLnBrk="0" hangingPunct="1">
        <a:spcBef>
          <a:spcPts val="0"/>
        </a:spcBef>
        <a:spcAft>
          <a:spcPts val="2400"/>
        </a:spcAft>
        <a:buFontTx/>
        <a:buNone/>
        <a:defRPr sz="2500" b="0" i="0" kern="1200" cap="all" spc="134" baseline="0">
          <a:solidFill>
            <a:schemeClr val="tx1"/>
          </a:solidFill>
          <a:latin typeface="MarkOT-CondBlack" panose="020B0504020101010102" pitchFamily="34" charset="77"/>
          <a:ea typeface="+mj-ea"/>
          <a:cs typeface="MarkOT-Heavy"/>
        </a:defRPr>
      </a:lvl1pPr>
    </p:titleStyle>
    <p:bodyStyle>
      <a:lvl1pPr marL="169172" indent="-180000" algn="l" defTabSz="609562" rtl="0" eaLnBrk="1" latinLnBrk="0" hangingPunct="1">
        <a:spcBef>
          <a:spcPct val="20000"/>
        </a:spcBef>
        <a:buFont typeface="Arial"/>
        <a:buChar char="•"/>
        <a:defRPr sz="2400" kern="1200" baseline="0">
          <a:solidFill>
            <a:schemeClr val="tx2"/>
          </a:solidFill>
          <a:latin typeface="MarkOT-Medium" panose="020B0504020101010102" pitchFamily="34" charset="77"/>
          <a:ea typeface="+mn-ea"/>
          <a:cs typeface="MarkOT-Italic"/>
        </a:defRPr>
      </a:lvl1pPr>
      <a:lvl2pPr marL="360000" indent="-180000" algn="l" defTabSz="609562" rtl="0" eaLnBrk="1" latinLnBrk="0" hangingPunct="1">
        <a:spcBef>
          <a:spcPct val="20000"/>
        </a:spcBef>
        <a:buFont typeface="Arial" panose="020B0604020202020204" pitchFamily="34" charset="0"/>
        <a:buChar char="•"/>
        <a:defRPr sz="2200" kern="1200">
          <a:solidFill>
            <a:schemeClr val="tx2"/>
          </a:solidFill>
          <a:latin typeface="+mn-lt"/>
          <a:ea typeface="+mn-ea"/>
          <a:cs typeface="MarkOT-Italic"/>
        </a:defRPr>
      </a:lvl2pPr>
      <a:lvl3pPr marL="540000" indent="-180000" algn="l" defTabSz="609562" rtl="0" eaLnBrk="1" latinLnBrk="0" hangingPunct="1">
        <a:spcBef>
          <a:spcPct val="20000"/>
        </a:spcBef>
        <a:buFont typeface="Arial"/>
        <a:buChar char="•"/>
        <a:defRPr sz="2000" kern="1200">
          <a:solidFill>
            <a:schemeClr val="tx2"/>
          </a:solidFill>
          <a:latin typeface="+mn-lt"/>
          <a:ea typeface="+mn-ea"/>
          <a:cs typeface="MarkOT-Italic"/>
        </a:defRPr>
      </a:lvl3pPr>
      <a:lvl4pPr marL="720000" indent="-180000" algn="l" defTabSz="609562" rtl="0" eaLnBrk="1" latinLnBrk="0" hangingPunct="1">
        <a:spcBef>
          <a:spcPct val="20000"/>
        </a:spcBef>
        <a:buFont typeface="Arial" panose="020B0604020202020204" pitchFamily="34" charset="0"/>
        <a:buChar char="•"/>
        <a:defRPr sz="1600" kern="1200">
          <a:solidFill>
            <a:schemeClr val="tx2"/>
          </a:solidFill>
          <a:latin typeface="+mn-lt"/>
          <a:ea typeface="+mn-ea"/>
          <a:cs typeface="MarkOT-Italic"/>
        </a:defRPr>
      </a:lvl4pPr>
      <a:lvl5pPr marL="900000" indent="-180000" algn="l" defTabSz="609562" rtl="0" eaLnBrk="1" latinLnBrk="0" hangingPunct="1">
        <a:spcBef>
          <a:spcPct val="20000"/>
        </a:spcBef>
        <a:buFont typeface="Arial" panose="020B0604020202020204" pitchFamily="34" charset="0"/>
        <a:buChar char="•"/>
        <a:defRPr sz="1400" kern="1200">
          <a:solidFill>
            <a:schemeClr val="tx2"/>
          </a:solidFill>
          <a:latin typeface="+mn-lt"/>
          <a:ea typeface="+mn-ea"/>
          <a:cs typeface="MarkOT-Italic"/>
        </a:defRPr>
      </a:lvl5pPr>
      <a:lvl6pPr marL="3352591" indent="-304781" algn="l" defTabSz="609562" rtl="0" eaLnBrk="1" latinLnBrk="0" hangingPunct="1">
        <a:spcBef>
          <a:spcPct val="20000"/>
        </a:spcBef>
        <a:buFont typeface="Arial"/>
        <a:buChar char="•"/>
        <a:defRPr sz="2667" kern="1200">
          <a:solidFill>
            <a:schemeClr val="tx1"/>
          </a:solidFill>
          <a:latin typeface="+mn-lt"/>
          <a:ea typeface="+mn-ea"/>
          <a:cs typeface="+mn-cs"/>
        </a:defRPr>
      </a:lvl6pPr>
      <a:lvl7pPr marL="3962153" indent="-304781" algn="l" defTabSz="609562" rtl="0" eaLnBrk="1" latinLnBrk="0" hangingPunct="1">
        <a:spcBef>
          <a:spcPct val="20000"/>
        </a:spcBef>
        <a:buFont typeface="Arial"/>
        <a:buChar char="•"/>
        <a:defRPr sz="2667" kern="1200">
          <a:solidFill>
            <a:schemeClr val="tx1"/>
          </a:solidFill>
          <a:latin typeface="+mn-lt"/>
          <a:ea typeface="+mn-ea"/>
          <a:cs typeface="+mn-cs"/>
        </a:defRPr>
      </a:lvl7pPr>
      <a:lvl8pPr marL="4571715" indent="-304781" algn="l" defTabSz="609562" rtl="0" eaLnBrk="1" latinLnBrk="0" hangingPunct="1">
        <a:spcBef>
          <a:spcPct val="20000"/>
        </a:spcBef>
        <a:buFont typeface="Arial"/>
        <a:buChar char="•"/>
        <a:defRPr sz="2667" kern="1200">
          <a:solidFill>
            <a:schemeClr val="tx1"/>
          </a:solidFill>
          <a:latin typeface="+mn-lt"/>
          <a:ea typeface="+mn-ea"/>
          <a:cs typeface="+mn-cs"/>
        </a:defRPr>
      </a:lvl8pPr>
      <a:lvl9pPr marL="5181276" indent="-304781" algn="l" defTabSz="609562" rtl="0" eaLnBrk="1" latinLnBrk="0" hangingPunct="1">
        <a:spcBef>
          <a:spcPct val="20000"/>
        </a:spcBef>
        <a:buFont typeface="Arial"/>
        <a:buChar char="•"/>
        <a:defRPr sz="2667" kern="1200">
          <a:solidFill>
            <a:schemeClr val="tx1"/>
          </a:solidFill>
          <a:latin typeface="+mn-lt"/>
          <a:ea typeface="+mn-ea"/>
          <a:cs typeface="+mn-cs"/>
        </a:defRPr>
      </a:lvl9pPr>
    </p:bodyStyle>
    <p:otherStyle>
      <a:defPPr>
        <a:defRPr lang="en-US"/>
      </a:defPPr>
      <a:lvl1pPr marL="0" algn="l" defTabSz="609562" rtl="0" eaLnBrk="1" latinLnBrk="0" hangingPunct="1">
        <a:defRPr sz="2400" kern="1200">
          <a:solidFill>
            <a:schemeClr val="tx1"/>
          </a:solidFill>
          <a:latin typeface="+mn-lt"/>
          <a:ea typeface="+mn-ea"/>
          <a:cs typeface="+mn-cs"/>
        </a:defRPr>
      </a:lvl1pPr>
      <a:lvl2pPr marL="609562" algn="l" defTabSz="609562" rtl="0" eaLnBrk="1" latinLnBrk="0" hangingPunct="1">
        <a:defRPr sz="2400" kern="1200">
          <a:solidFill>
            <a:schemeClr val="tx1"/>
          </a:solidFill>
          <a:latin typeface="+mn-lt"/>
          <a:ea typeface="+mn-ea"/>
          <a:cs typeface="+mn-cs"/>
        </a:defRPr>
      </a:lvl2pPr>
      <a:lvl3pPr marL="1219124" algn="l" defTabSz="609562" rtl="0" eaLnBrk="1" latinLnBrk="0" hangingPunct="1">
        <a:defRPr sz="2400" kern="1200">
          <a:solidFill>
            <a:schemeClr val="tx1"/>
          </a:solidFill>
          <a:latin typeface="+mn-lt"/>
          <a:ea typeface="+mn-ea"/>
          <a:cs typeface="+mn-cs"/>
        </a:defRPr>
      </a:lvl3pPr>
      <a:lvl4pPr marL="1828686" algn="l" defTabSz="609562" rtl="0" eaLnBrk="1" latinLnBrk="0" hangingPunct="1">
        <a:defRPr sz="2400" kern="1200">
          <a:solidFill>
            <a:schemeClr val="tx1"/>
          </a:solidFill>
          <a:latin typeface="+mn-lt"/>
          <a:ea typeface="+mn-ea"/>
          <a:cs typeface="+mn-cs"/>
        </a:defRPr>
      </a:lvl4pPr>
      <a:lvl5pPr marL="2438248" algn="l" defTabSz="609562" rtl="0" eaLnBrk="1" latinLnBrk="0" hangingPunct="1">
        <a:defRPr sz="2400" kern="1200">
          <a:solidFill>
            <a:schemeClr val="tx1"/>
          </a:solidFill>
          <a:latin typeface="+mn-lt"/>
          <a:ea typeface="+mn-ea"/>
          <a:cs typeface="+mn-cs"/>
        </a:defRPr>
      </a:lvl5pPr>
      <a:lvl6pPr marL="3047810" algn="l" defTabSz="609562" rtl="0" eaLnBrk="1" latinLnBrk="0" hangingPunct="1">
        <a:defRPr sz="2400" kern="1200">
          <a:solidFill>
            <a:schemeClr val="tx1"/>
          </a:solidFill>
          <a:latin typeface="+mn-lt"/>
          <a:ea typeface="+mn-ea"/>
          <a:cs typeface="+mn-cs"/>
        </a:defRPr>
      </a:lvl6pPr>
      <a:lvl7pPr marL="3657372" algn="l" defTabSz="609562" rtl="0" eaLnBrk="1" latinLnBrk="0" hangingPunct="1">
        <a:defRPr sz="2400" kern="1200">
          <a:solidFill>
            <a:schemeClr val="tx1"/>
          </a:solidFill>
          <a:latin typeface="+mn-lt"/>
          <a:ea typeface="+mn-ea"/>
          <a:cs typeface="+mn-cs"/>
        </a:defRPr>
      </a:lvl7pPr>
      <a:lvl8pPr marL="4266934" algn="l" defTabSz="609562" rtl="0" eaLnBrk="1" latinLnBrk="0" hangingPunct="1">
        <a:defRPr sz="2400" kern="1200">
          <a:solidFill>
            <a:schemeClr val="tx1"/>
          </a:solidFill>
          <a:latin typeface="+mn-lt"/>
          <a:ea typeface="+mn-ea"/>
          <a:cs typeface="+mn-cs"/>
        </a:defRPr>
      </a:lvl8pPr>
      <a:lvl9pPr marL="4876495" algn="l" defTabSz="609562" rtl="0" eaLnBrk="1" latinLnBrk="0" hangingPunct="1">
        <a:defRPr sz="2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hyperlink" Target="https://cineplex.sharepoint.com/:x:/r/sites/AnalyticsDataScience/_layouts/15/Doc.aspx?sourcedoc=%7BF5ABEFDF-4219-40E6-BC2E-51B290B7078B%7D&amp;file=LBE%20Budget%20Scenario%20Analysis.xlsx&amp;action=default&amp;mobileredirect=true" TargetMode="External"/><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hyperlink" Target="https://cineplex.sharepoint.com/:x:/s/AnalyticsDataScience/EeTnKanTJPxEiXaghfk-WMIBS8s5EwVuqhPe8iu87ME9Wg" TargetMode="External"/><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hyperlink" Target="https://cineplex.sharepoint.com/:x:/s/AnalyticsDataScience/EeTnKanTJPxEiXaghfk-WMIBS8s5EwVuqhPe8iu87ME9Wg" TargetMode="Externa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6.xml"/></Relationships>
</file>

<file path=ppt/slides/_rels/slide34.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a:extLst>
              <a:ext uri="{FF2B5EF4-FFF2-40B4-BE49-F238E27FC236}">
                <a16:creationId xmlns:a16="http://schemas.microsoft.com/office/drawing/2014/main" id="{1CC1DC9F-0B28-1F19-FAB8-D50B28ED4427}"/>
              </a:ext>
            </a:extLst>
          </p:cNvPr>
          <p:cNvSpPr>
            <a:spLocks noGrp="1"/>
          </p:cNvSpPr>
          <p:nvPr>
            <p:ph type="subTitle" idx="1"/>
          </p:nvPr>
        </p:nvSpPr>
        <p:spPr/>
        <p:txBody>
          <a:bodyPr vert="horz" lIns="91440" tIns="45720" rIns="91440" bIns="45720" rtlCol="0" anchor="t">
            <a:noAutofit/>
          </a:bodyPr>
          <a:lstStyle/>
          <a:p>
            <a:r>
              <a:rPr lang="en-US" sz="2400">
                <a:latin typeface="MarkOT-CondBlack"/>
              </a:rPr>
              <a:t>LBE Insights &amp; Analytics</a:t>
            </a:r>
          </a:p>
        </p:txBody>
      </p:sp>
      <p:sp>
        <p:nvSpPr>
          <p:cNvPr id="3" name="Title 2">
            <a:extLst>
              <a:ext uri="{FF2B5EF4-FFF2-40B4-BE49-F238E27FC236}">
                <a16:creationId xmlns:a16="http://schemas.microsoft.com/office/drawing/2014/main" id="{6B50FD90-52EA-E11C-1CD3-7962D66319E1}"/>
              </a:ext>
            </a:extLst>
          </p:cNvPr>
          <p:cNvSpPr>
            <a:spLocks noGrp="1"/>
          </p:cNvSpPr>
          <p:nvPr>
            <p:ph type="ctrTitle"/>
          </p:nvPr>
        </p:nvSpPr>
        <p:spPr/>
        <p:txBody>
          <a:bodyPr/>
          <a:lstStyle/>
          <a:p>
            <a:r>
              <a:rPr lang="en-US"/>
              <a:t>Marketing mix modelling</a:t>
            </a:r>
          </a:p>
        </p:txBody>
      </p:sp>
      <p:sp>
        <p:nvSpPr>
          <p:cNvPr id="4" name="Text Placeholder 3">
            <a:extLst>
              <a:ext uri="{FF2B5EF4-FFF2-40B4-BE49-F238E27FC236}">
                <a16:creationId xmlns:a16="http://schemas.microsoft.com/office/drawing/2014/main" id="{77BC8EFC-BF77-E667-86B4-78A341126A52}"/>
              </a:ext>
            </a:extLst>
          </p:cNvPr>
          <p:cNvSpPr>
            <a:spLocks noGrp="1"/>
          </p:cNvSpPr>
          <p:nvPr>
            <p:ph type="body" sz="quarter" idx="10"/>
          </p:nvPr>
        </p:nvSpPr>
        <p:spPr/>
        <p:txBody>
          <a:bodyPr>
            <a:noAutofit/>
          </a:bodyPr>
          <a:lstStyle/>
          <a:p>
            <a:r>
              <a:rPr lang="en-US" sz="1400"/>
              <a:t>Data Science &amp; Insights Team</a:t>
            </a:r>
          </a:p>
        </p:txBody>
      </p:sp>
    </p:spTree>
    <p:extLst>
      <p:ext uri="{BB962C8B-B14F-4D97-AF65-F5344CB8AC3E}">
        <p14:creationId xmlns:p14="http://schemas.microsoft.com/office/powerpoint/2010/main" val="229036652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C2F416-6E04-F4CA-A0E6-48A0054E0EC0}"/>
              </a:ext>
            </a:extLst>
          </p:cNvPr>
          <p:cNvSpPr>
            <a:spLocks noGrp="1"/>
          </p:cNvSpPr>
          <p:nvPr>
            <p:ph type="title"/>
          </p:nvPr>
        </p:nvSpPr>
        <p:spPr/>
        <p:txBody>
          <a:bodyPr/>
          <a:lstStyle/>
          <a:p>
            <a:r>
              <a:rPr lang="en-US" dirty="0"/>
              <a:t>Opening scene: the agenda </a:t>
            </a:r>
            <a:endParaRPr lang="en-CA" dirty="0"/>
          </a:p>
        </p:txBody>
      </p:sp>
      <p:sp>
        <p:nvSpPr>
          <p:cNvPr id="3" name="TextBox 2">
            <a:extLst>
              <a:ext uri="{FF2B5EF4-FFF2-40B4-BE49-F238E27FC236}">
                <a16:creationId xmlns:a16="http://schemas.microsoft.com/office/drawing/2014/main" id="{DD3BF864-DB47-5D65-2F6E-94AD6E5A3FEE}"/>
              </a:ext>
            </a:extLst>
          </p:cNvPr>
          <p:cNvSpPr txBox="1"/>
          <p:nvPr/>
        </p:nvSpPr>
        <p:spPr>
          <a:xfrm>
            <a:off x="564021" y="5796884"/>
            <a:ext cx="10707881" cy="307777"/>
          </a:xfrm>
          <a:prstGeom prst="rect">
            <a:avLst/>
          </a:prstGeom>
          <a:noFill/>
        </p:spPr>
        <p:txBody>
          <a:bodyPr wrap="square" rtlCol="0">
            <a:spAutoFit/>
          </a:bodyPr>
          <a:lstStyle/>
          <a:p>
            <a:r>
              <a:rPr lang="en-US" sz="1400" i="1" dirty="0"/>
              <a:t>This iteration of MMM accounts for data Q2 2023 to Q2 2025</a:t>
            </a:r>
            <a:endParaRPr lang="en-CA" sz="1400" i="1" dirty="0"/>
          </a:p>
        </p:txBody>
      </p:sp>
      <p:sp>
        <p:nvSpPr>
          <p:cNvPr id="6" name="TextBox 5">
            <a:extLst>
              <a:ext uri="{FF2B5EF4-FFF2-40B4-BE49-F238E27FC236}">
                <a16:creationId xmlns:a16="http://schemas.microsoft.com/office/drawing/2014/main" id="{39264D40-382F-C9C9-E16E-60BEC4572EFD}"/>
              </a:ext>
            </a:extLst>
          </p:cNvPr>
          <p:cNvSpPr txBox="1"/>
          <p:nvPr/>
        </p:nvSpPr>
        <p:spPr>
          <a:xfrm>
            <a:off x="1204101" y="1231004"/>
            <a:ext cx="7267194" cy="3693319"/>
          </a:xfrm>
          <a:prstGeom prst="rect">
            <a:avLst/>
          </a:prstGeom>
          <a:noFill/>
        </p:spPr>
        <p:txBody>
          <a:bodyPr wrap="square">
            <a:spAutoFit/>
          </a:bodyPr>
          <a:lstStyle/>
          <a:p>
            <a:pPr marL="342900" indent="-342900">
              <a:buAutoNum type="arabicPeriod"/>
            </a:pPr>
            <a:r>
              <a:rPr lang="en-US" b="1" dirty="0"/>
              <a:t>Budget Planning </a:t>
            </a:r>
          </a:p>
          <a:p>
            <a:pPr marL="800100" lvl="1" indent="-342900">
              <a:buFont typeface="Arial" panose="020B0604020202020204" pitchFamily="34" charset="0"/>
              <a:buChar char="•"/>
            </a:pPr>
            <a:r>
              <a:rPr lang="en-US" dirty="0"/>
              <a:t>Budget Scenario Analysis</a:t>
            </a:r>
          </a:p>
          <a:p>
            <a:pPr marL="800100" lvl="1" indent="-342900">
              <a:buFont typeface="Arial" panose="020B0604020202020204" pitchFamily="34" charset="0"/>
              <a:buChar char="•"/>
            </a:pPr>
            <a:r>
              <a:rPr lang="en-US" dirty="0"/>
              <a:t>TRR and PDM Budget Summary </a:t>
            </a:r>
          </a:p>
          <a:p>
            <a:pPr lvl="1"/>
            <a:endParaRPr lang="en-US" dirty="0"/>
          </a:p>
          <a:p>
            <a:pPr marL="342900" indent="-342900">
              <a:buFont typeface="+mj-lt"/>
              <a:buAutoNum type="arabicPeriod" startAt="2"/>
            </a:pPr>
            <a:r>
              <a:rPr lang="en-US" b="1" dirty="0"/>
              <a:t>LOB Overview </a:t>
            </a:r>
          </a:p>
          <a:p>
            <a:pPr marL="800100" lvl="1" indent="-342900">
              <a:buFont typeface="Arial" panose="020B0604020202020204" pitchFamily="34" charset="0"/>
              <a:buChar char="•"/>
            </a:pPr>
            <a:r>
              <a:rPr lang="en-US" dirty="0"/>
              <a:t>LBE Performance Review </a:t>
            </a:r>
          </a:p>
          <a:p>
            <a:pPr marL="800100" lvl="1" indent="-342900">
              <a:buFont typeface="Arial" panose="020B0604020202020204" pitchFamily="34" charset="0"/>
              <a:buChar char="•"/>
            </a:pPr>
            <a:r>
              <a:rPr lang="en-US" dirty="0"/>
              <a:t>LBE Media Spend vs Transaction Analysis </a:t>
            </a:r>
          </a:p>
          <a:p>
            <a:pPr marL="800100" lvl="1" indent="-342900">
              <a:buFont typeface="Arial" panose="020B0604020202020204" pitchFamily="34" charset="0"/>
              <a:buChar char="•"/>
            </a:pPr>
            <a:r>
              <a:rPr lang="en-US" dirty="0"/>
              <a:t>New Location Analysis </a:t>
            </a:r>
          </a:p>
          <a:p>
            <a:pPr marL="800100" lvl="1" indent="-342900">
              <a:buFont typeface="Arial" panose="020B0604020202020204" pitchFamily="34" charset="0"/>
              <a:buChar char="•"/>
            </a:pPr>
            <a:r>
              <a:rPr lang="en-US" dirty="0"/>
              <a:t>Flighting and Insights </a:t>
            </a:r>
          </a:p>
          <a:p>
            <a:pPr lvl="1"/>
            <a:endParaRPr lang="en-US" dirty="0"/>
          </a:p>
          <a:p>
            <a:pPr marL="342900" indent="-342900">
              <a:buAutoNum type="arabicPeriod" startAt="2"/>
            </a:pPr>
            <a:r>
              <a:rPr lang="en-US" b="1" dirty="0"/>
              <a:t>Channel Planning </a:t>
            </a:r>
          </a:p>
          <a:p>
            <a:pPr marL="800100" lvl="1" indent="-342900">
              <a:buFont typeface="Arial" panose="020B0604020202020204" pitchFamily="34" charset="0"/>
              <a:buChar char="•"/>
            </a:pPr>
            <a:r>
              <a:rPr lang="en-US" dirty="0"/>
              <a:t>Channel – specific performance review </a:t>
            </a:r>
          </a:p>
          <a:p>
            <a:pPr marL="800100" lvl="1" indent="-342900">
              <a:buFont typeface="Arial" panose="020B0604020202020204" pitchFamily="34" charset="0"/>
              <a:buChar char="•"/>
            </a:pPr>
            <a:endParaRPr lang="en-US" dirty="0"/>
          </a:p>
        </p:txBody>
      </p:sp>
    </p:spTree>
    <p:extLst>
      <p:ext uri="{BB962C8B-B14F-4D97-AF65-F5344CB8AC3E}">
        <p14:creationId xmlns:p14="http://schemas.microsoft.com/office/powerpoint/2010/main" val="30422802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3BF306-B021-31BC-CFBD-153B2363C3C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14529BE-489A-92D6-C412-26DF5A0CD4AA}"/>
              </a:ext>
            </a:extLst>
          </p:cNvPr>
          <p:cNvSpPr>
            <a:spLocks noGrp="1"/>
          </p:cNvSpPr>
          <p:nvPr>
            <p:ph type="title"/>
          </p:nvPr>
        </p:nvSpPr>
        <p:spPr/>
        <p:txBody>
          <a:bodyPr/>
          <a:lstStyle/>
          <a:p>
            <a:r>
              <a:rPr lang="en-US">
                <a:latin typeface="MarkOT-Ultra"/>
              </a:rPr>
              <a:t>Summary OF OUTPUTS</a:t>
            </a:r>
            <a:endParaRPr lang="en-US"/>
          </a:p>
        </p:txBody>
      </p:sp>
    </p:spTree>
    <p:extLst>
      <p:ext uri="{BB962C8B-B14F-4D97-AF65-F5344CB8AC3E}">
        <p14:creationId xmlns:p14="http://schemas.microsoft.com/office/powerpoint/2010/main" val="134593625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41955B2A-D3B7-C0BB-C879-669786E872C5}"/>
              </a:ext>
            </a:extLst>
          </p:cNvPr>
          <p:cNvSpPr>
            <a:spLocks noGrp="1"/>
          </p:cNvSpPr>
          <p:nvPr>
            <p:ph type="title"/>
          </p:nvPr>
        </p:nvSpPr>
        <p:spPr>
          <a:xfrm>
            <a:off x="0" y="293692"/>
            <a:ext cx="11438909" cy="937312"/>
          </a:xfrm>
        </p:spPr>
        <p:txBody>
          <a:bodyPr/>
          <a:lstStyle/>
          <a:p>
            <a:r>
              <a:rPr lang="en-US" dirty="0"/>
              <a:t>Scenario analysis methodology</a:t>
            </a:r>
          </a:p>
        </p:txBody>
      </p:sp>
      <p:sp>
        <p:nvSpPr>
          <p:cNvPr id="7" name="TextBox 6">
            <a:extLst>
              <a:ext uri="{FF2B5EF4-FFF2-40B4-BE49-F238E27FC236}">
                <a16:creationId xmlns:a16="http://schemas.microsoft.com/office/drawing/2014/main" id="{1687E81C-5B6E-3479-E1AE-3434674E87A7}"/>
              </a:ext>
            </a:extLst>
          </p:cNvPr>
          <p:cNvSpPr txBox="1"/>
          <p:nvPr/>
        </p:nvSpPr>
        <p:spPr>
          <a:xfrm>
            <a:off x="581025" y="1230296"/>
            <a:ext cx="6867525" cy="4739759"/>
          </a:xfrm>
          <a:prstGeom prst="rect">
            <a:avLst/>
          </a:prstGeom>
          <a:noFill/>
        </p:spPr>
        <p:txBody>
          <a:bodyPr wrap="square" lIns="91440" tIns="45720" rIns="91440" bIns="45720" rtlCol="0" anchor="t">
            <a:spAutoFit/>
          </a:bodyPr>
          <a:lstStyle/>
          <a:p>
            <a:pPr>
              <a:spcAft>
                <a:spcPts val="600"/>
              </a:spcAft>
            </a:pPr>
            <a:r>
              <a:rPr lang="en-US" sz="1400" u="sng" dirty="0"/>
              <a:t>Approach</a:t>
            </a:r>
          </a:p>
          <a:p>
            <a:pPr marL="285750" indent="-285750">
              <a:spcAft>
                <a:spcPts val="600"/>
              </a:spcAft>
              <a:buFont typeface="Arial" panose="020B0604020202020204" pitchFamily="34" charset="0"/>
              <a:buChar char="•"/>
            </a:pPr>
            <a:r>
              <a:rPr lang="en-US" sz="1400" dirty="0"/>
              <a:t>The model analyzes the last 52 weeks of campaign spend and corresponding LBE transactions to simulate a budget curve. Each week’s spend is mapped to its contribution, with thousands of simulations generating a best-fit curve.</a:t>
            </a:r>
          </a:p>
          <a:p>
            <a:pPr marL="285750" indent="-285750">
              <a:spcAft>
                <a:spcPts val="600"/>
              </a:spcAft>
              <a:buFont typeface="Arial" panose="020B0604020202020204" pitchFamily="34" charset="0"/>
              <a:buChar char="•"/>
            </a:pPr>
            <a:endParaRPr lang="en-US" sz="1400" dirty="0"/>
          </a:p>
          <a:p>
            <a:pPr>
              <a:spcAft>
                <a:spcPts val="600"/>
              </a:spcAft>
            </a:pPr>
            <a:r>
              <a:rPr lang="en-US" sz="1400" u="sng" dirty="0"/>
              <a:t>Methodology</a:t>
            </a:r>
          </a:p>
          <a:p>
            <a:pPr marL="285750" indent="-285750">
              <a:spcAft>
                <a:spcPts val="600"/>
              </a:spcAft>
              <a:buFont typeface="Arial" panose="020B0604020202020204" pitchFamily="34" charset="0"/>
              <a:buChar char="•"/>
            </a:pPr>
            <a:r>
              <a:rPr lang="en-US" sz="1400" dirty="0"/>
              <a:t>Simulations assume a realistic spend ceiling based on domain knowledge to estimate where marginal returns begin to diminish significantly.</a:t>
            </a:r>
          </a:p>
          <a:p>
            <a:pPr marL="285750" indent="-285750">
              <a:spcAft>
                <a:spcPts val="600"/>
              </a:spcAft>
              <a:buFont typeface="Arial" panose="020B0604020202020204" pitchFamily="34" charset="0"/>
              <a:buChar char="•"/>
            </a:pPr>
            <a:endParaRPr lang="en-US" sz="1400" dirty="0"/>
          </a:p>
          <a:p>
            <a:pPr>
              <a:spcAft>
                <a:spcPts val="600"/>
              </a:spcAft>
            </a:pPr>
            <a:r>
              <a:rPr lang="en-US" sz="1400" u="sng" dirty="0"/>
              <a:t>Output</a:t>
            </a:r>
          </a:p>
          <a:p>
            <a:pPr marL="285750" indent="-285750">
              <a:spcAft>
                <a:spcPts val="600"/>
              </a:spcAft>
              <a:buFont typeface="Arial" panose="020B0604020202020204" pitchFamily="34" charset="0"/>
              <a:buChar char="•"/>
            </a:pPr>
            <a:r>
              <a:rPr lang="en-US" sz="1400" dirty="0"/>
              <a:t>The resulting budget curve illustrates expected returns at different spend levels, with Marginal ROI calculated as the slope at each point along the curve.</a:t>
            </a:r>
          </a:p>
          <a:p>
            <a:pPr>
              <a:spcAft>
                <a:spcPts val="600"/>
              </a:spcAft>
            </a:pPr>
            <a:endParaRPr lang="en-US" sz="1400" dirty="0"/>
          </a:p>
          <a:p>
            <a:pPr>
              <a:spcAft>
                <a:spcPts val="600"/>
              </a:spcAft>
            </a:pPr>
            <a:r>
              <a:rPr lang="en-US" sz="1400" u="sng" dirty="0"/>
              <a:t>Variables</a:t>
            </a:r>
          </a:p>
          <a:p>
            <a:pPr marL="285750" indent="-285750">
              <a:spcAft>
                <a:spcPts val="600"/>
              </a:spcAft>
              <a:buFont typeface="Arial" panose="020B0604020202020204" pitchFamily="34" charset="0"/>
              <a:buChar char="•"/>
            </a:pPr>
            <a:r>
              <a:rPr lang="en-US" sz="1400" dirty="0"/>
              <a:t>Weekly media spend is used as the predictor, and weekly campaign contributions to LBE transactions are the predicted variable</a:t>
            </a:r>
          </a:p>
        </p:txBody>
      </p:sp>
      <p:pic>
        <p:nvPicPr>
          <p:cNvPr id="11" name="Picture 10">
            <a:extLst>
              <a:ext uri="{FF2B5EF4-FFF2-40B4-BE49-F238E27FC236}">
                <a16:creationId xmlns:a16="http://schemas.microsoft.com/office/drawing/2014/main" id="{C270CAFF-08A2-4BB2-8AE5-EC4D4A41F342}"/>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5537"/>
          <a:stretch>
            <a:fillRect/>
          </a:stretch>
        </p:blipFill>
        <p:spPr bwMode="auto">
          <a:xfrm>
            <a:off x="7620000" y="1544004"/>
            <a:ext cx="3990975" cy="3769991"/>
          </a:xfrm>
          <a:prstGeom prst="rect">
            <a:avLst/>
          </a:prstGeom>
          <a:noFill/>
          <a:extLst>
            <a:ext uri="{909E8E84-426E-40DD-AFC4-6F175D3DCCD1}">
              <a14:hiddenFill xmlns:a14="http://schemas.microsoft.com/office/drawing/2010/main">
                <a:solidFill>
                  <a:srgbClr val="FFFFFF"/>
                </a:solidFill>
              </a14:hiddenFill>
            </a:ext>
          </a:extLst>
        </p:spPr>
      </p:pic>
      <p:sp>
        <p:nvSpPr>
          <p:cNvPr id="12" name="TextBox 11">
            <a:extLst>
              <a:ext uri="{FF2B5EF4-FFF2-40B4-BE49-F238E27FC236}">
                <a16:creationId xmlns:a16="http://schemas.microsoft.com/office/drawing/2014/main" id="{9D8CADEB-C40A-1C36-06CF-4825B39B0D3B}"/>
              </a:ext>
            </a:extLst>
          </p:cNvPr>
          <p:cNvSpPr txBox="1"/>
          <p:nvPr/>
        </p:nvSpPr>
        <p:spPr>
          <a:xfrm>
            <a:off x="8520112" y="5313995"/>
            <a:ext cx="2190750" cy="369332"/>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900" dirty="0">
                <a:solidFill>
                  <a:srgbClr val="000000"/>
                </a:solidFill>
                <a:latin typeface="MarkOT-Medium"/>
              </a:rPr>
              <a:t>(Above is an example and does not represent actual data)</a:t>
            </a:r>
            <a:endParaRPr kumimoji="0" lang="en-US" sz="900" b="0" i="0" u="none" strike="noStrike" kern="1200" cap="none" spc="0" normalizeH="0" baseline="0" noProof="0" dirty="0">
              <a:ln>
                <a:noFill/>
              </a:ln>
              <a:solidFill>
                <a:srgbClr val="000000"/>
              </a:solidFill>
              <a:effectLst/>
              <a:uLnTx/>
              <a:uFillTx/>
              <a:latin typeface="MarkOT-Medium"/>
              <a:ea typeface="+mn-ea"/>
              <a:cs typeface="+mn-cs"/>
            </a:endParaRPr>
          </a:p>
        </p:txBody>
      </p:sp>
    </p:spTree>
    <p:extLst>
      <p:ext uri="{BB962C8B-B14F-4D97-AF65-F5344CB8AC3E}">
        <p14:creationId xmlns:p14="http://schemas.microsoft.com/office/powerpoint/2010/main" val="134855337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4C4D9A-E6AB-C747-05F8-A2E316B15DCB}"/>
            </a:ext>
          </a:extLst>
        </p:cNvPr>
        <p:cNvGrpSpPr/>
        <p:nvPr/>
      </p:nvGrpSpPr>
      <p:grpSpPr>
        <a:xfrm>
          <a:off x="0" y="0"/>
          <a:ext cx="0" cy="0"/>
          <a:chOff x="0" y="0"/>
          <a:chExt cx="0" cy="0"/>
        </a:xfrm>
      </p:grpSpPr>
      <p:pic>
        <p:nvPicPr>
          <p:cNvPr id="1026" name="Picture 2">
            <a:extLst>
              <a:ext uri="{FF2B5EF4-FFF2-40B4-BE49-F238E27FC236}">
                <a16:creationId xmlns:a16="http://schemas.microsoft.com/office/drawing/2014/main" id="{345587D9-F658-0CC9-503C-39C3B47F018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80126" y="1294330"/>
            <a:ext cx="6586834" cy="4572000"/>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D18D3902-BF24-6950-6C70-770ADE3DE3A4}"/>
              </a:ext>
            </a:extLst>
          </p:cNvPr>
          <p:cNvSpPr>
            <a:spLocks noGrp="1"/>
          </p:cNvSpPr>
          <p:nvPr>
            <p:ph type="title"/>
          </p:nvPr>
        </p:nvSpPr>
        <p:spPr/>
        <p:txBody>
          <a:bodyPr/>
          <a:lstStyle/>
          <a:p>
            <a:r>
              <a:rPr lang="en-US" dirty="0"/>
              <a:t>BUDGET SCENARIO analysis</a:t>
            </a:r>
          </a:p>
        </p:txBody>
      </p:sp>
      <p:sp>
        <p:nvSpPr>
          <p:cNvPr id="7" name="TextBox 6">
            <a:extLst>
              <a:ext uri="{FF2B5EF4-FFF2-40B4-BE49-F238E27FC236}">
                <a16:creationId xmlns:a16="http://schemas.microsoft.com/office/drawing/2014/main" id="{2083621E-1134-4336-1568-6E97DFA883A8}"/>
              </a:ext>
            </a:extLst>
          </p:cNvPr>
          <p:cNvSpPr txBox="1"/>
          <p:nvPr/>
        </p:nvSpPr>
        <p:spPr>
          <a:xfrm>
            <a:off x="609600" y="5713079"/>
            <a:ext cx="6184478" cy="430887"/>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dirty="0">
              <a:ln>
                <a:noFill/>
              </a:ln>
              <a:solidFill>
                <a:srgbClr val="000000"/>
              </a:solidFill>
              <a:effectLst/>
              <a:uLnTx/>
              <a:uFillTx/>
              <a:latin typeface="MarkOT-Medium"/>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000000"/>
                </a:solidFill>
                <a:effectLst/>
                <a:uLnTx/>
                <a:uFillTx/>
                <a:latin typeface="MarkOT-Medium"/>
                <a:ea typeface="+mn-ea"/>
                <a:cs typeface="+mn-cs"/>
              </a:rPr>
              <a:t>* Budgets have been scaled up to account for missing/incomplete data</a:t>
            </a:r>
          </a:p>
        </p:txBody>
      </p:sp>
      <p:sp>
        <p:nvSpPr>
          <p:cNvPr id="4" name="TextBox 3">
            <a:extLst>
              <a:ext uri="{FF2B5EF4-FFF2-40B4-BE49-F238E27FC236}">
                <a16:creationId xmlns:a16="http://schemas.microsoft.com/office/drawing/2014/main" id="{E492BC6B-17C7-137B-C77E-104D20BA69F3}"/>
              </a:ext>
            </a:extLst>
          </p:cNvPr>
          <p:cNvSpPr txBox="1"/>
          <p:nvPr/>
        </p:nvSpPr>
        <p:spPr>
          <a:xfrm>
            <a:off x="7166959" y="1230296"/>
            <a:ext cx="4427053" cy="4647426"/>
          </a:xfrm>
          <a:prstGeom prst="rect">
            <a:avLst/>
          </a:prstGeom>
          <a:noFill/>
        </p:spPr>
        <p:txBody>
          <a:bodyPr wrap="square" lIns="91440" tIns="45720" rIns="91440" bIns="45720" rtlCol="0" anchor="t">
            <a:spAutoFit/>
          </a:bodyPr>
          <a:lstStyle/>
          <a:p>
            <a:pPr marL="285750" indent="-285750">
              <a:buFont typeface="Arial" panose="020B0604020202020204" pitchFamily="34" charset="0"/>
              <a:buChar char="•"/>
            </a:pPr>
            <a:r>
              <a:rPr lang="en-US" sz="1400" dirty="0"/>
              <a:t>Current Spend (~$3.8M) is in the Steep-Growth Zone. Implying solid returns on each additional dollar spent.</a:t>
            </a:r>
          </a:p>
          <a:p>
            <a:pPr marL="285750" indent="-285750">
              <a:buFont typeface="Arial" panose="020B0604020202020204" pitchFamily="34" charset="0"/>
              <a:buChar char="•"/>
            </a:pPr>
            <a:endParaRPr lang="en-US" sz="1400" dirty="0"/>
          </a:p>
          <a:p>
            <a:pPr marL="285750" indent="-285750">
              <a:buFont typeface="Arial" panose="020B0604020202020204" pitchFamily="34" charset="0"/>
              <a:buChar char="•"/>
            </a:pPr>
            <a:r>
              <a:rPr lang="en-US" sz="1400" dirty="0"/>
              <a:t>The curve continues to rise steadily beyond the current spend, indicating room for growth.</a:t>
            </a:r>
          </a:p>
          <a:p>
            <a:endParaRPr lang="en-US" sz="1400" dirty="0"/>
          </a:p>
          <a:p>
            <a:pPr marL="285750" indent="-285750">
              <a:buFont typeface="Arial" panose="020B0604020202020204" pitchFamily="34" charset="0"/>
              <a:buChar char="•"/>
            </a:pPr>
            <a:r>
              <a:rPr lang="en-US" sz="1400" dirty="0"/>
              <a:t>Increasing budget modestly (e.g. $1M-$2M more) would likely still generate strong incremental revenue.</a:t>
            </a:r>
          </a:p>
          <a:p>
            <a:pPr marL="285750" indent="-285750">
              <a:buFont typeface="Arial" panose="020B0604020202020204" pitchFamily="34" charset="0"/>
              <a:buChar char="•"/>
            </a:pPr>
            <a:endParaRPr lang="en-US" sz="1400" dirty="0"/>
          </a:p>
          <a:p>
            <a:pPr marL="285750" indent="-285750">
              <a:buFont typeface="Arial" panose="020B0604020202020204" pitchFamily="34" charset="0"/>
              <a:buChar char="•"/>
            </a:pPr>
            <a:r>
              <a:rPr lang="en-US" sz="1400" dirty="0"/>
              <a:t>Increasing the budget from around $4M to $6M would result in $3M additional revenue contribution.</a:t>
            </a:r>
          </a:p>
          <a:p>
            <a:endParaRPr lang="en-US" sz="1400" dirty="0"/>
          </a:p>
          <a:p>
            <a:pPr marL="285750" indent="-285750">
              <a:buFont typeface="Arial" panose="020B0604020202020204" pitchFamily="34" charset="0"/>
              <a:buChar char="•"/>
            </a:pPr>
            <a:r>
              <a:rPr lang="en-US" sz="1400" dirty="0"/>
              <a:t>Returns on additional spend diminish as the budget increases. At one point, the budget would have to increase by $4M to receive $1M in revenue contribution.</a:t>
            </a:r>
          </a:p>
          <a:p>
            <a:pPr marL="285750" indent="-285750">
              <a:buFont typeface="Arial" panose="020B0604020202020204" pitchFamily="34" charset="0"/>
              <a:buChar char="•"/>
            </a:pPr>
            <a:endParaRPr lang="en-US" sz="1600" dirty="0"/>
          </a:p>
        </p:txBody>
      </p:sp>
      <p:sp>
        <p:nvSpPr>
          <p:cNvPr id="6" name="TextBox 5">
            <a:extLst>
              <a:ext uri="{FF2B5EF4-FFF2-40B4-BE49-F238E27FC236}">
                <a16:creationId xmlns:a16="http://schemas.microsoft.com/office/drawing/2014/main" id="{3C01D578-725B-B1FF-5D6D-FCD8CFE04AF2}"/>
              </a:ext>
            </a:extLst>
          </p:cNvPr>
          <p:cNvSpPr txBox="1"/>
          <p:nvPr/>
        </p:nvSpPr>
        <p:spPr>
          <a:xfrm>
            <a:off x="1602618" y="1624529"/>
            <a:ext cx="502957" cy="246221"/>
          </a:xfrm>
          <a:prstGeom prst="rect">
            <a:avLst/>
          </a:prstGeom>
          <a:noFill/>
        </p:spPr>
        <p:txBody>
          <a:bodyPr wrap="square" rtlCol="0">
            <a:spAutoFit/>
          </a:bodyPr>
          <a:lstStyle/>
          <a:p>
            <a:r>
              <a:rPr lang="en-US" sz="1000" dirty="0"/>
              <a:t>2025</a:t>
            </a:r>
          </a:p>
        </p:txBody>
      </p:sp>
    </p:spTree>
    <p:extLst>
      <p:ext uri="{BB962C8B-B14F-4D97-AF65-F5344CB8AC3E}">
        <p14:creationId xmlns:p14="http://schemas.microsoft.com/office/powerpoint/2010/main" val="168663005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5F8E4B-3F8D-A187-38B0-FD018A397CC8}"/>
            </a:ext>
          </a:extLst>
        </p:cNvPr>
        <p:cNvGrpSpPr/>
        <p:nvPr/>
      </p:nvGrpSpPr>
      <p:grpSpPr>
        <a:xfrm>
          <a:off x="0" y="0"/>
          <a:ext cx="0" cy="0"/>
          <a:chOff x="0" y="0"/>
          <a:chExt cx="0" cy="0"/>
        </a:xfrm>
      </p:grpSpPr>
      <p:pic>
        <p:nvPicPr>
          <p:cNvPr id="1028" name="Picture 4">
            <a:extLst>
              <a:ext uri="{FF2B5EF4-FFF2-40B4-BE49-F238E27FC236}">
                <a16:creationId xmlns:a16="http://schemas.microsoft.com/office/drawing/2014/main" id="{52F68BF5-7414-F3EE-7988-0A4D8E8F7C6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80127" y="1227826"/>
            <a:ext cx="6582674" cy="4572000"/>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4E9EAB93-E358-48FC-1296-B9D23DFADEE1}"/>
              </a:ext>
            </a:extLst>
          </p:cNvPr>
          <p:cNvSpPr>
            <a:spLocks noGrp="1"/>
          </p:cNvSpPr>
          <p:nvPr>
            <p:ph type="title"/>
          </p:nvPr>
        </p:nvSpPr>
        <p:spPr/>
        <p:txBody>
          <a:bodyPr/>
          <a:lstStyle/>
          <a:p>
            <a:r>
              <a:rPr lang="en-US" dirty="0"/>
              <a:t>BUDGET SCENARIO analysis</a:t>
            </a:r>
          </a:p>
        </p:txBody>
      </p:sp>
      <p:sp>
        <p:nvSpPr>
          <p:cNvPr id="7" name="TextBox 6">
            <a:extLst>
              <a:ext uri="{FF2B5EF4-FFF2-40B4-BE49-F238E27FC236}">
                <a16:creationId xmlns:a16="http://schemas.microsoft.com/office/drawing/2014/main" id="{EABB8F3E-C16A-D85A-B137-4C813005561F}"/>
              </a:ext>
            </a:extLst>
          </p:cNvPr>
          <p:cNvSpPr txBox="1"/>
          <p:nvPr/>
        </p:nvSpPr>
        <p:spPr>
          <a:xfrm>
            <a:off x="609600" y="5713079"/>
            <a:ext cx="6184478" cy="430887"/>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dirty="0">
              <a:ln>
                <a:noFill/>
              </a:ln>
              <a:solidFill>
                <a:srgbClr val="000000"/>
              </a:solidFill>
              <a:effectLst/>
              <a:uLnTx/>
              <a:uFillTx/>
              <a:latin typeface="MarkOT-Medium"/>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000000"/>
                </a:solidFill>
                <a:effectLst/>
                <a:uLnTx/>
                <a:uFillTx/>
                <a:latin typeface="MarkOT-Medium"/>
                <a:ea typeface="+mn-ea"/>
                <a:cs typeface="+mn-cs"/>
              </a:rPr>
              <a:t>* Budgets have been scaled up to account for missing/incomplete data</a:t>
            </a:r>
          </a:p>
        </p:txBody>
      </p:sp>
      <p:sp>
        <p:nvSpPr>
          <p:cNvPr id="5" name="TextBox 4">
            <a:extLst>
              <a:ext uri="{FF2B5EF4-FFF2-40B4-BE49-F238E27FC236}">
                <a16:creationId xmlns:a16="http://schemas.microsoft.com/office/drawing/2014/main" id="{35F81D44-37C5-3989-0683-2086BDBB2E5C}"/>
              </a:ext>
            </a:extLst>
          </p:cNvPr>
          <p:cNvSpPr txBox="1"/>
          <p:nvPr/>
        </p:nvSpPr>
        <p:spPr>
          <a:xfrm>
            <a:off x="2310989" y="1624529"/>
            <a:ext cx="501330" cy="246221"/>
          </a:xfrm>
          <a:prstGeom prst="rect">
            <a:avLst/>
          </a:prstGeom>
          <a:noFill/>
        </p:spPr>
        <p:txBody>
          <a:bodyPr wrap="square" rtlCol="0">
            <a:spAutoFit/>
          </a:bodyPr>
          <a:lstStyle/>
          <a:p>
            <a:r>
              <a:rPr lang="en-US" sz="1000" dirty="0"/>
              <a:t>2024</a:t>
            </a:r>
          </a:p>
        </p:txBody>
      </p:sp>
      <p:sp>
        <p:nvSpPr>
          <p:cNvPr id="6" name="TextBox 5">
            <a:extLst>
              <a:ext uri="{FF2B5EF4-FFF2-40B4-BE49-F238E27FC236}">
                <a16:creationId xmlns:a16="http://schemas.microsoft.com/office/drawing/2014/main" id="{EFBDE617-64F6-DABB-9509-925B8EBF633E}"/>
              </a:ext>
            </a:extLst>
          </p:cNvPr>
          <p:cNvSpPr txBox="1"/>
          <p:nvPr/>
        </p:nvSpPr>
        <p:spPr>
          <a:xfrm>
            <a:off x="1602618" y="1624529"/>
            <a:ext cx="502957" cy="246221"/>
          </a:xfrm>
          <a:prstGeom prst="rect">
            <a:avLst/>
          </a:prstGeom>
          <a:noFill/>
        </p:spPr>
        <p:txBody>
          <a:bodyPr wrap="square" rtlCol="0">
            <a:spAutoFit/>
          </a:bodyPr>
          <a:lstStyle/>
          <a:p>
            <a:r>
              <a:rPr lang="en-US" sz="1000" dirty="0"/>
              <a:t>2025</a:t>
            </a:r>
          </a:p>
        </p:txBody>
      </p:sp>
    </p:spTree>
    <p:extLst>
      <p:ext uri="{BB962C8B-B14F-4D97-AF65-F5344CB8AC3E}">
        <p14:creationId xmlns:p14="http://schemas.microsoft.com/office/powerpoint/2010/main" val="35211665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22336C-FC48-684A-C2E3-B69AF0732DED}"/>
              </a:ext>
            </a:extLst>
          </p:cNvPr>
          <p:cNvSpPr>
            <a:spLocks noGrp="1"/>
          </p:cNvSpPr>
          <p:nvPr>
            <p:ph type="title"/>
          </p:nvPr>
        </p:nvSpPr>
        <p:spPr/>
        <p:txBody>
          <a:bodyPr/>
          <a:lstStyle/>
          <a:p>
            <a:r>
              <a:rPr lang="en-US" dirty="0"/>
              <a:t>BUDGET SCENARIO analysis</a:t>
            </a:r>
          </a:p>
        </p:txBody>
      </p:sp>
      <p:graphicFrame>
        <p:nvGraphicFramePr>
          <p:cNvPr id="5" name="Table 4">
            <a:extLst>
              <a:ext uri="{FF2B5EF4-FFF2-40B4-BE49-F238E27FC236}">
                <a16:creationId xmlns:a16="http://schemas.microsoft.com/office/drawing/2014/main" id="{29A59B50-A980-BF83-17D1-9A2EB5A313A2}"/>
              </a:ext>
            </a:extLst>
          </p:cNvPr>
          <p:cNvGraphicFramePr>
            <a:graphicFrameLocks noGrp="1"/>
          </p:cNvGraphicFramePr>
          <p:nvPr>
            <p:extLst>
              <p:ext uri="{D42A27DB-BD31-4B8C-83A1-F6EECF244321}">
                <p14:modId xmlns:p14="http://schemas.microsoft.com/office/powerpoint/2010/main" val="164015168"/>
              </p:ext>
            </p:extLst>
          </p:nvPr>
        </p:nvGraphicFramePr>
        <p:xfrm>
          <a:off x="579662" y="1231004"/>
          <a:ext cx="6430737" cy="2828925"/>
        </p:xfrm>
        <a:graphic>
          <a:graphicData uri="http://schemas.openxmlformats.org/drawingml/2006/table">
            <a:tbl>
              <a:tblPr/>
              <a:tblGrid>
                <a:gridCol w="1945329">
                  <a:extLst>
                    <a:ext uri="{9D8B030D-6E8A-4147-A177-3AD203B41FA5}">
                      <a16:colId xmlns:a16="http://schemas.microsoft.com/office/drawing/2014/main" val="2107455399"/>
                    </a:ext>
                  </a:extLst>
                </a:gridCol>
                <a:gridCol w="1177110">
                  <a:extLst>
                    <a:ext uri="{9D8B030D-6E8A-4147-A177-3AD203B41FA5}">
                      <a16:colId xmlns:a16="http://schemas.microsoft.com/office/drawing/2014/main" val="863534412"/>
                    </a:ext>
                  </a:extLst>
                </a:gridCol>
                <a:gridCol w="1102766">
                  <a:extLst>
                    <a:ext uri="{9D8B030D-6E8A-4147-A177-3AD203B41FA5}">
                      <a16:colId xmlns:a16="http://schemas.microsoft.com/office/drawing/2014/main" val="1226209187"/>
                    </a:ext>
                  </a:extLst>
                </a:gridCol>
                <a:gridCol w="1102766">
                  <a:extLst>
                    <a:ext uri="{9D8B030D-6E8A-4147-A177-3AD203B41FA5}">
                      <a16:colId xmlns:a16="http://schemas.microsoft.com/office/drawing/2014/main" val="1991143343"/>
                    </a:ext>
                  </a:extLst>
                </a:gridCol>
                <a:gridCol w="1102766">
                  <a:extLst>
                    <a:ext uri="{9D8B030D-6E8A-4147-A177-3AD203B41FA5}">
                      <a16:colId xmlns:a16="http://schemas.microsoft.com/office/drawing/2014/main" val="3358068365"/>
                    </a:ext>
                  </a:extLst>
                </a:gridCol>
              </a:tblGrid>
              <a:tr h="419100">
                <a:tc>
                  <a:txBody>
                    <a:bodyPr/>
                    <a:lstStyle/>
                    <a:p>
                      <a:pPr algn="l" fontAlgn="b">
                        <a:buNone/>
                      </a:pPr>
                      <a:endParaRPr lang="en-US" sz="1100" b="0" i="0" u="none" strike="noStrike">
                        <a:solidFill>
                          <a:srgbClr val="000000"/>
                        </a:solidFill>
                        <a:effectLst/>
                        <a:latin typeface="Aptos Narrow" panose="020B0004020202020204" pitchFamily="34" charset="0"/>
                      </a:endParaRPr>
                    </a:p>
                  </a:txBody>
                  <a:tcPr marL="6350" marR="6350" marT="6350" marB="0" anchor="b">
                    <a:lnL>
                      <a:noFill/>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1100" b="0" i="0" u="none" strike="noStrike">
                          <a:solidFill>
                            <a:srgbClr val="000000"/>
                          </a:solidFill>
                          <a:effectLst/>
                          <a:latin typeface="Aptos Narrow" panose="020B0004020202020204" pitchFamily="34" charset="0"/>
                        </a:rPr>
                        <a:t>Business As Usual (Last 12 months)</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buNone/>
                      </a:pPr>
                      <a:r>
                        <a:rPr lang="en-US" sz="1100" b="0" i="0" u="none" strike="noStrike">
                          <a:solidFill>
                            <a:srgbClr val="000000"/>
                          </a:solidFill>
                          <a:effectLst/>
                          <a:latin typeface="Aptos Narrow" panose="020B0004020202020204" pitchFamily="34" charset="0"/>
                        </a:rPr>
                        <a:t>$136M Revenue (BAU)</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buNone/>
                      </a:pPr>
                      <a:r>
                        <a:rPr lang="en-US" sz="1100" b="0" i="0" u="none" strike="noStrike">
                          <a:solidFill>
                            <a:srgbClr val="000000"/>
                          </a:solidFill>
                          <a:effectLst/>
                          <a:latin typeface="Aptos Narrow" panose="020B0004020202020204" pitchFamily="34" charset="0"/>
                        </a:rPr>
                        <a:t>$140M Revenue (3% higher)</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buNone/>
                      </a:pPr>
                      <a:r>
                        <a:rPr lang="en-US" sz="1100" b="0" i="0" u="none" strike="noStrike">
                          <a:solidFill>
                            <a:srgbClr val="000000"/>
                          </a:solidFill>
                          <a:effectLst/>
                          <a:latin typeface="Aptos Narrow" panose="020B0004020202020204" pitchFamily="34" charset="0"/>
                        </a:rPr>
                        <a:t>$145M Revenue (7% higher)</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extLst>
                  <a:ext uri="{0D108BD9-81ED-4DB2-BD59-A6C34878D82A}">
                    <a16:rowId xmlns:a16="http://schemas.microsoft.com/office/drawing/2014/main" val="2862016553"/>
                  </a:ext>
                </a:extLst>
              </a:tr>
              <a:tr h="219075">
                <a:tc>
                  <a:txBody>
                    <a:bodyPr/>
                    <a:lstStyle/>
                    <a:p>
                      <a:pPr algn="l" fontAlgn="b">
                        <a:buNone/>
                      </a:pPr>
                      <a:r>
                        <a:rPr lang="en-US" sz="1100" b="0" i="0" u="none" strike="noStrike">
                          <a:solidFill>
                            <a:srgbClr val="000000"/>
                          </a:solidFill>
                          <a:effectLst/>
                          <a:latin typeface="Aptos Narrow" panose="020B0004020202020204" pitchFamily="34" charset="0"/>
                        </a:rPr>
                        <a:t>Budget (ex-PR)</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buNone/>
                      </a:pPr>
                      <a:r>
                        <a:rPr lang="en-US" sz="1100" b="0" i="0" u="none" strike="noStrike">
                          <a:solidFill>
                            <a:srgbClr val="000000"/>
                          </a:solidFill>
                          <a:effectLst/>
                          <a:latin typeface="Aptos Narrow" panose="020B0004020202020204" pitchFamily="34" charset="0"/>
                        </a:rPr>
                        <a:t>$3.6M</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1100" b="0" i="0" u="none" strike="noStrike">
                          <a:solidFill>
                            <a:srgbClr val="000000"/>
                          </a:solidFill>
                          <a:effectLst/>
                          <a:latin typeface="Aptos Narrow" panose="020B0004020202020204" pitchFamily="34" charset="0"/>
                        </a:rPr>
                        <a:t>$3.6M</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1100" b="0" i="0" u="none" strike="noStrike">
                          <a:solidFill>
                            <a:srgbClr val="000000"/>
                          </a:solidFill>
                          <a:effectLst/>
                          <a:latin typeface="Aptos Narrow" panose="020B0004020202020204" pitchFamily="34" charset="0"/>
                        </a:rPr>
                        <a:t>$6.8M</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1100" b="0" i="0" u="none" strike="noStrike">
                          <a:solidFill>
                            <a:srgbClr val="000000"/>
                          </a:solidFill>
                          <a:effectLst/>
                          <a:latin typeface="Aptos Narrow" panose="020B0004020202020204" pitchFamily="34" charset="0"/>
                        </a:rPr>
                        <a:t>$16.8M</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96846643"/>
                  </a:ext>
                </a:extLst>
              </a:tr>
              <a:tr h="219075">
                <a:tc>
                  <a:txBody>
                    <a:bodyPr/>
                    <a:lstStyle/>
                    <a:p>
                      <a:pPr algn="l" fontAlgn="b">
                        <a:buNone/>
                      </a:pPr>
                      <a:r>
                        <a:rPr lang="en-US" sz="1100" b="0" i="0" u="none" strike="noStrike">
                          <a:solidFill>
                            <a:srgbClr val="000000"/>
                          </a:solidFill>
                          <a:effectLst/>
                          <a:latin typeface="Aptos Narrow" panose="020B0004020202020204" pitchFamily="34" charset="0"/>
                        </a:rPr>
                        <a:t>Budget</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buNone/>
                      </a:pPr>
                      <a:r>
                        <a:rPr lang="en-US" sz="1100" b="0" i="0" u="none" strike="noStrike">
                          <a:solidFill>
                            <a:srgbClr val="000000"/>
                          </a:solidFill>
                          <a:effectLst/>
                          <a:latin typeface="Aptos Narrow" panose="020B0004020202020204" pitchFamily="34" charset="0"/>
                        </a:rPr>
                        <a:t>$3.8M</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1100" b="0" i="0" u="none" strike="noStrike">
                          <a:solidFill>
                            <a:srgbClr val="000000"/>
                          </a:solidFill>
                          <a:effectLst/>
                          <a:latin typeface="Aptos Narrow" panose="020B0004020202020204" pitchFamily="34" charset="0"/>
                        </a:rPr>
                        <a:t>$3.8M</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1100" b="0" i="0" u="none" strike="noStrike">
                          <a:solidFill>
                            <a:srgbClr val="000000"/>
                          </a:solidFill>
                          <a:effectLst/>
                          <a:latin typeface="Aptos Narrow" panose="020B0004020202020204" pitchFamily="34" charset="0"/>
                        </a:rPr>
                        <a:t>$7.0M</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1100" b="0" i="0" u="none" strike="noStrike">
                          <a:solidFill>
                            <a:srgbClr val="000000"/>
                          </a:solidFill>
                          <a:effectLst/>
                          <a:latin typeface="Aptos Narrow" panose="020B0004020202020204" pitchFamily="34" charset="0"/>
                        </a:rPr>
                        <a:t>$17.0M</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674252796"/>
                  </a:ext>
                </a:extLst>
              </a:tr>
              <a:tr h="219075">
                <a:tc>
                  <a:txBody>
                    <a:bodyPr/>
                    <a:lstStyle/>
                    <a:p>
                      <a:pPr algn="l" fontAlgn="b">
                        <a:buNone/>
                      </a:pPr>
                      <a:r>
                        <a:rPr lang="en-US" sz="1100" b="0" i="0" u="none" strike="noStrike">
                          <a:solidFill>
                            <a:srgbClr val="000000"/>
                          </a:solidFill>
                          <a:effectLst/>
                          <a:latin typeface="Aptos Narrow" panose="020B0004020202020204" pitchFamily="34" charset="0"/>
                        </a:rPr>
                        <a:t>LBE Revenue Contribution</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buNone/>
                      </a:pPr>
                      <a:r>
                        <a:rPr lang="en-US" sz="1100" b="0" i="0" u="none" strike="noStrike">
                          <a:solidFill>
                            <a:srgbClr val="000000"/>
                          </a:solidFill>
                          <a:effectLst/>
                          <a:latin typeface="Aptos Narrow" panose="020B0004020202020204" pitchFamily="34" charset="0"/>
                        </a:rPr>
                        <a:t>$14.0M</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1100" b="0" i="0" u="none" strike="noStrike">
                          <a:solidFill>
                            <a:srgbClr val="000000"/>
                          </a:solidFill>
                          <a:effectLst/>
                          <a:latin typeface="Aptos Narrow" panose="020B0004020202020204" pitchFamily="34" charset="0"/>
                        </a:rPr>
                        <a:t>$14.0M</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1100" b="0" i="0" u="none" strike="noStrike">
                          <a:solidFill>
                            <a:srgbClr val="000000"/>
                          </a:solidFill>
                          <a:effectLst/>
                          <a:latin typeface="Aptos Narrow" panose="020B0004020202020204" pitchFamily="34" charset="0"/>
                        </a:rPr>
                        <a:t>$18.0M</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1100" b="0" i="0" u="none" strike="noStrike">
                          <a:solidFill>
                            <a:srgbClr val="000000"/>
                          </a:solidFill>
                          <a:effectLst/>
                          <a:latin typeface="Aptos Narrow" panose="020B0004020202020204" pitchFamily="34" charset="0"/>
                        </a:rPr>
                        <a:t>$22.0M</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172125351"/>
                  </a:ext>
                </a:extLst>
              </a:tr>
              <a:tr h="219075">
                <a:tc>
                  <a:txBody>
                    <a:bodyPr/>
                    <a:lstStyle/>
                    <a:p>
                      <a:pPr algn="l" fontAlgn="b">
                        <a:buNone/>
                      </a:pPr>
                      <a:r>
                        <a:rPr lang="en-US" sz="1100" b="0" i="0" u="none" strike="noStrike">
                          <a:solidFill>
                            <a:srgbClr val="000000"/>
                          </a:solidFill>
                          <a:effectLst/>
                          <a:latin typeface="Aptos Narrow" panose="020B0004020202020204" pitchFamily="34" charset="0"/>
                        </a:rPr>
                        <a:t>LBE Profit Contribution</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buNone/>
                      </a:pPr>
                      <a:r>
                        <a:rPr lang="en-US" sz="1100" b="0" i="0" u="none" strike="noStrike">
                          <a:solidFill>
                            <a:srgbClr val="000000"/>
                          </a:solidFill>
                          <a:effectLst/>
                          <a:latin typeface="Aptos Narrow" panose="020B0004020202020204" pitchFamily="34" charset="0"/>
                        </a:rPr>
                        <a:t>$9.1M</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1100" b="0" i="0" u="none" strike="noStrike">
                          <a:solidFill>
                            <a:srgbClr val="000000"/>
                          </a:solidFill>
                          <a:effectLst/>
                          <a:latin typeface="Aptos Narrow" panose="020B0004020202020204" pitchFamily="34" charset="0"/>
                        </a:rPr>
                        <a:t>$9.1M</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1100" b="0" i="0" u="none" strike="noStrike">
                          <a:solidFill>
                            <a:srgbClr val="000000"/>
                          </a:solidFill>
                          <a:effectLst/>
                          <a:latin typeface="Aptos Narrow" panose="020B0004020202020204" pitchFamily="34" charset="0"/>
                        </a:rPr>
                        <a:t>$11.7M</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1100" b="0" i="0" u="none" strike="noStrike">
                          <a:solidFill>
                            <a:srgbClr val="000000"/>
                          </a:solidFill>
                          <a:effectLst/>
                          <a:latin typeface="Aptos Narrow" panose="020B0004020202020204" pitchFamily="34" charset="0"/>
                        </a:rPr>
                        <a:t>$14.3M</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624612233"/>
                  </a:ext>
                </a:extLst>
              </a:tr>
              <a:tr h="219075">
                <a:tc>
                  <a:txBody>
                    <a:bodyPr/>
                    <a:lstStyle/>
                    <a:p>
                      <a:pPr algn="l" fontAlgn="b">
                        <a:buNone/>
                      </a:pPr>
                      <a:r>
                        <a:rPr lang="en-US" sz="1100" b="0" i="0" u="none" strike="noStrike">
                          <a:solidFill>
                            <a:srgbClr val="000000"/>
                          </a:solidFill>
                          <a:effectLst/>
                          <a:latin typeface="Aptos Narrow" panose="020B0004020202020204" pitchFamily="34" charset="0"/>
                        </a:rPr>
                        <a:t>Marginal Revenue ROI</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2F2F2"/>
                    </a:solidFill>
                  </a:tcPr>
                </a:tc>
                <a:tc>
                  <a:txBody>
                    <a:bodyPr/>
                    <a:lstStyle/>
                    <a:p>
                      <a:pPr algn="ctr" fontAlgn="ctr">
                        <a:buNone/>
                      </a:pPr>
                      <a:r>
                        <a:rPr lang="en-US" sz="1100" b="0" i="0" u="none" strike="noStrike">
                          <a:solidFill>
                            <a:srgbClr val="000000"/>
                          </a:solidFill>
                          <a:effectLst/>
                          <a:latin typeface="Aptos Narrow" panose="020B0004020202020204" pitchFamily="34" charset="0"/>
                        </a:rPr>
                        <a:t>2.0</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buNone/>
                      </a:pPr>
                      <a:r>
                        <a:rPr lang="en-US" sz="1100" b="0" i="0" u="none" strike="noStrike">
                          <a:solidFill>
                            <a:srgbClr val="000000"/>
                          </a:solidFill>
                          <a:effectLst/>
                          <a:latin typeface="Aptos Narrow" panose="020B0004020202020204" pitchFamily="34" charset="0"/>
                        </a:rPr>
                        <a:t>2.0</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buNone/>
                      </a:pPr>
                      <a:r>
                        <a:rPr lang="en-US" sz="1100" b="0" i="0" u="none" strike="noStrike">
                          <a:solidFill>
                            <a:srgbClr val="000000"/>
                          </a:solidFill>
                          <a:effectLst/>
                          <a:latin typeface="Aptos Narrow" panose="020B0004020202020204" pitchFamily="34" charset="0"/>
                        </a:rPr>
                        <a:t>0.8</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buNone/>
                      </a:pPr>
                      <a:r>
                        <a:rPr lang="en-US" sz="1100" b="0" i="0" u="none" strike="noStrike">
                          <a:solidFill>
                            <a:srgbClr val="000000"/>
                          </a:solidFill>
                          <a:effectLst/>
                          <a:latin typeface="Aptos Narrow" panose="020B0004020202020204" pitchFamily="34" charset="0"/>
                        </a:rPr>
                        <a:t>0.3</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243030070"/>
                  </a:ext>
                </a:extLst>
              </a:tr>
              <a:tr h="219075">
                <a:tc>
                  <a:txBody>
                    <a:bodyPr/>
                    <a:lstStyle/>
                    <a:p>
                      <a:pPr algn="l" fontAlgn="b">
                        <a:buNone/>
                      </a:pPr>
                      <a:r>
                        <a:rPr lang="en-US" sz="1100" b="0" i="0" u="none" strike="noStrike">
                          <a:solidFill>
                            <a:srgbClr val="000000"/>
                          </a:solidFill>
                          <a:effectLst/>
                          <a:latin typeface="Aptos Narrow" panose="020B0004020202020204" pitchFamily="34" charset="0"/>
                        </a:rPr>
                        <a:t>HPL</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1100" b="0" i="0" u="none" strike="noStrike">
                          <a:solidFill>
                            <a:srgbClr val="000000"/>
                          </a:solidFill>
                          <a:effectLst/>
                          <a:latin typeface="Aptos Narrow" panose="020B0004020202020204" pitchFamily="34" charset="0"/>
                        </a:rPr>
                        <a:t>$0.8M</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9BD5AB"/>
                    </a:solidFill>
                  </a:tcPr>
                </a:tc>
                <a:tc>
                  <a:txBody>
                    <a:bodyPr/>
                    <a:lstStyle/>
                    <a:p>
                      <a:pPr algn="ctr" fontAlgn="ctr">
                        <a:buNone/>
                      </a:pPr>
                      <a:r>
                        <a:rPr lang="en-US" sz="1100" b="0" i="0" u="none" strike="noStrike">
                          <a:solidFill>
                            <a:srgbClr val="000000"/>
                          </a:solidFill>
                          <a:effectLst/>
                          <a:latin typeface="Aptos Narrow" panose="020B0004020202020204" pitchFamily="34" charset="0"/>
                        </a:rPr>
                        <a:t>$2.1M</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63BE7B"/>
                    </a:solidFill>
                  </a:tcPr>
                </a:tc>
                <a:tc>
                  <a:txBody>
                    <a:bodyPr/>
                    <a:lstStyle/>
                    <a:p>
                      <a:pPr algn="ctr" fontAlgn="ctr">
                        <a:buNone/>
                      </a:pPr>
                      <a:r>
                        <a:rPr lang="en-US" sz="1100" b="0" i="0" u="none" strike="noStrike">
                          <a:solidFill>
                            <a:srgbClr val="000000"/>
                          </a:solidFill>
                          <a:effectLst/>
                          <a:latin typeface="Aptos Narrow" panose="020B0004020202020204" pitchFamily="34" charset="0"/>
                        </a:rPr>
                        <a:t>$3.9M</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63BE7B"/>
                    </a:solidFill>
                  </a:tcPr>
                </a:tc>
                <a:tc>
                  <a:txBody>
                    <a:bodyPr/>
                    <a:lstStyle/>
                    <a:p>
                      <a:pPr algn="ctr" fontAlgn="ctr">
                        <a:buNone/>
                      </a:pPr>
                      <a:r>
                        <a:rPr lang="en-US" sz="1100" b="0" i="0" u="none" strike="noStrike" dirty="0">
                          <a:solidFill>
                            <a:srgbClr val="000000"/>
                          </a:solidFill>
                          <a:effectLst/>
                          <a:latin typeface="Aptos Narrow" panose="020B0004020202020204" pitchFamily="34" charset="0"/>
                        </a:rPr>
                        <a:t>$9.7M</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63BE7B"/>
                    </a:solidFill>
                  </a:tcPr>
                </a:tc>
                <a:extLst>
                  <a:ext uri="{0D108BD9-81ED-4DB2-BD59-A6C34878D82A}">
                    <a16:rowId xmlns:a16="http://schemas.microsoft.com/office/drawing/2014/main" val="275894116"/>
                  </a:ext>
                </a:extLst>
              </a:tr>
              <a:tr h="219075">
                <a:tc>
                  <a:txBody>
                    <a:bodyPr/>
                    <a:lstStyle/>
                    <a:p>
                      <a:pPr algn="l" fontAlgn="b">
                        <a:buNone/>
                      </a:pPr>
                      <a:r>
                        <a:rPr lang="en-US" sz="1100" b="0" i="0" u="none" strike="noStrike">
                          <a:solidFill>
                            <a:srgbClr val="000000"/>
                          </a:solidFill>
                          <a:effectLst/>
                          <a:latin typeface="Aptos Narrow" panose="020B0004020202020204" pitchFamily="34" charset="0"/>
                        </a:rPr>
                        <a:t>LPL</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1100" b="0" i="0" u="none" strike="noStrike">
                          <a:solidFill>
                            <a:srgbClr val="000000"/>
                          </a:solidFill>
                          <a:effectLst/>
                          <a:latin typeface="Aptos Narrow" panose="020B0004020202020204" pitchFamily="34" charset="0"/>
                        </a:rPr>
                        <a:t>$1.3M</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63BE7B"/>
                    </a:solidFill>
                  </a:tcPr>
                </a:tc>
                <a:tc>
                  <a:txBody>
                    <a:bodyPr/>
                    <a:lstStyle/>
                    <a:p>
                      <a:pPr algn="ctr" fontAlgn="ctr">
                        <a:buNone/>
                      </a:pPr>
                      <a:r>
                        <a:rPr lang="en-US" sz="1100" b="0" i="0" u="none" strike="noStrike">
                          <a:solidFill>
                            <a:srgbClr val="000000"/>
                          </a:solidFill>
                          <a:effectLst/>
                          <a:latin typeface="Aptos Narrow" panose="020B0004020202020204" pitchFamily="34" charset="0"/>
                        </a:rPr>
                        <a:t>$0.6M</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0EAD9"/>
                    </a:solidFill>
                  </a:tcPr>
                </a:tc>
                <a:tc>
                  <a:txBody>
                    <a:bodyPr/>
                    <a:lstStyle/>
                    <a:p>
                      <a:pPr algn="ctr" fontAlgn="ctr">
                        <a:buNone/>
                      </a:pPr>
                      <a:r>
                        <a:rPr lang="en-US" sz="1100" b="0" i="0" u="none" strike="noStrike">
                          <a:solidFill>
                            <a:srgbClr val="000000"/>
                          </a:solidFill>
                          <a:effectLst/>
                          <a:latin typeface="Aptos Narrow" panose="020B0004020202020204" pitchFamily="34" charset="0"/>
                        </a:rPr>
                        <a:t>$1.2M</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FEAD9"/>
                    </a:solidFill>
                  </a:tcPr>
                </a:tc>
                <a:tc>
                  <a:txBody>
                    <a:bodyPr/>
                    <a:lstStyle/>
                    <a:p>
                      <a:pPr algn="ctr" fontAlgn="ctr">
                        <a:buNone/>
                      </a:pPr>
                      <a:r>
                        <a:rPr lang="en-US" sz="1100" b="0" i="0" u="none" strike="noStrike">
                          <a:solidFill>
                            <a:srgbClr val="000000"/>
                          </a:solidFill>
                          <a:effectLst/>
                          <a:latin typeface="Aptos Narrow" panose="020B0004020202020204" pitchFamily="34" charset="0"/>
                        </a:rPr>
                        <a:t>$2.9M</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FEAD9"/>
                    </a:solidFill>
                  </a:tcPr>
                </a:tc>
                <a:extLst>
                  <a:ext uri="{0D108BD9-81ED-4DB2-BD59-A6C34878D82A}">
                    <a16:rowId xmlns:a16="http://schemas.microsoft.com/office/drawing/2014/main" val="2931584520"/>
                  </a:ext>
                </a:extLst>
              </a:tr>
              <a:tr h="219075">
                <a:tc>
                  <a:txBody>
                    <a:bodyPr/>
                    <a:lstStyle/>
                    <a:p>
                      <a:pPr algn="l" fontAlgn="b">
                        <a:buNone/>
                      </a:pPr>
                      <a:r>
                        <a:rPr lang="en-US" sz="1100" b="0" i="0" u="none" strike="noStrike">
                          <a:solidFill>
                            <a:srgbClr val="000000"/>
                          </a:solidFill>
                          <a:effectLst/>
                          <a:latin typeface="Aptos Narrow" panose="020B0004020202020204" pitchFamily="34" charset="0"/>
                        </a:rPr>
                        <a:t>NL - TRR</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1100" b="0" i="0" u="none" strike="noStrike">
                          <a:solidFill>
                            <a:srgbClr val="000000"/>
                          </a:solidFill>
                          <a:effectLst/>
                          <a:latin typeface="Aptos Narrow" panose="020B0004020202020204" pitchFamily="34" charset="0"/>
                        </a:rPr>
                        <a:t>$1.0M</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89CE9C"/>
                    </a:solidFill>
                  </a:tcPr>
                </a:tc>
                <a:tc>
                  <a:txBody>
                    <a:bodyPr/>
                    <a:lstStyle/>
                    <a:p>
                      <a:pPr algn="ctr" fontAlgn="ctr">
                        <a:buNone/>
                      </a:pPr>
                      <a:r>
                        <a:rPr lang="en-US" sz="1100" b="0" i="0" u="none" strike="noStrike">
                          <a:solidFill>
                            <a:srgbClr val="000000"/>
                          </a:solidFill>
                          <a:effectLst/>
                          <a:latin typeface="Aptos Narrow" panose="020B0004020202020204" pitchFamily="34" charset="0"/>
                        </a:rPr>
                        <a:t>$0.4M</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2F2E8"/>
                    </a:solidFill>
                  </a:tcPr>
                </a:tc>
                <a:tc>
                  <a:txBody>
                    <a:bodyPr/>
                    <a:lstStyle/>
                    <a:p>
                      <a:pPr algn="ctr" fontAlgn="ctr">
                        <a:buNone/>
                      </a:pPr>
                      <a:r>
                        <a:rPr lang="en-US" sz="1100" b="0" i="0" u="none" strike="noStrike">
                          <a:solidFill>
                            <a:srgbClr val="000000"/>
                          </a:solidFill>
                          <a:effectLst/>
                          <a:latin typeface="Aptos Narrow" panose="020B0004020202020204" pitchFamily="34" charset="0"/>
                        </a:rPr>
                        <a:t>$0.7M</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1F2E8"/>
                    </a:solidFill>
                  </a:tcPr>
                </a:tc>
                <a:tc>
                  <a:txBody>
                    <a:bodyPr/>
                    <a:lstStyle/>
                    <a:p>
                      <a:pPr algn="ctr" fontAlgn="ctr">
                        <a:buNone/>
                      </a:pPr>
                      <a:r>
                        <a:rPr lang="en-US" sz="1100" b="0" i="0" u="none" strike="noStrike">
                          <a:solidFill>
                            <a:srgbClr val="000000"/>
                          </a:solidFill>
                          <a:effectLst/>
                          <a:latin typeface="Aptos Narrow" panose="020B0004020202020204" pitchFamily="34" charset="0"/>
                        </a:rPr>
                        <a:t>$1.7M</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1F2E8"/>
                    </a:solidFill>
                  </a:tcPr>
                </a:tc>
                <a:extLst>
                  <a:ext uri="{0D108BD9-81ED-4DB2-BD59-A6C34878D82A}">
                    <a16:rowId xmlns:a16="http://schemas.microsoft.com/office/drawing/2014/main" val="2095848151"/>
                  </a:ext>
                </a:extLst>
              </a:tr>
              <a:tr h="219075">
                <a:tc>
                  <a:txBody>
                    <a:bodyPr/>
                    <a:lstStyle/>
                    <a:p>
                      <a:pPr algn="l" fontAlgn="b">
                        <a:buNone/>
                      </a:pPr>
                      <a:r>
                        <a:rPr lang="en-US" sz="1100" b="0" i="0" u="none" strike="noStrike">
                          <a:solidFill>
                            <a:srgbClr val="000000"/>
                          </a:solidFill>
                          <a:effectLst/>
                          <a:latin typeface="Aptos Narrow" panose="020B0004020202020204" pitchFamily="34" charset="0"/>
                        </a:rPr>
                        <a:t>NL - PDM</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1100" b="0" i="0" u="none" strike="noStrike">
                          <a:solidFill>
                            <a:srgbClr val="000000"/>
                          </a:solidFill>
                          <a:effectLst/>
                          <a:latin typeface="Aptos Narrow" panose="020B0004020202020204" pitchFamily="34" charset="0"/>
                        </a:rPr>
                        <a:t>$0.2M</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4F2EA"/>
                    </a:solidFill>
                  </a:tcPr>
                </a:tc>
                <a:tc>
                  <a:txBody>
                    <a:bodyPr/>
                    <a:lstStyle/>
                    <a:p>
                      <a:pPr algn="ctr" fontAlgn="ctr">
                        <a:buNone/>
                      </a:pPr>
                      <a:r>
                        <a:rPr lang="en-US" sz="1100" b="0" i="0" u="none" strike="noStrike">
                          <a:solidFill>
                            <a:srgbClr val="000000"/>
                          </a:solidFill>
                          <a:effectLst/>
                          <a:latin typeface="Aptos Narrow" panose="020B0004020202020204" pitchFamily="34" charset="0"/>
                        </a:rPr>
                        <a:t>$0.1M</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6FAFA"/>
                    </a:solidFill>
                  </a:tcPr>
                </a:tc>
                <a:tc>
                  <a:txBody>
                    <a:bodyPr/>
                    <a:lstStyle/>
                    <a:p>
                      <a:pPr algn="ctr" fontAlgn="ctr">
                        <a:buNone/>
                      </a:pPr>
                      <a:r>
                        <a:rPr lang="en-US" sz="1100" b="0" i="0" u="none" strike="noStrike">
                          <a:solidFill>
                            <a:srgbClr val="000000"/>
                          </a:solidFill>
                          <a:effectLst/>
                          <a:latin typeface="Aptos Narrow" panose="020B0004020202020204" pitchFamily="34" charset="0"/>
                        </a:rPr>
                        <a:t>$0.2M</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6FAFA"/>
                    </a:solidFill>
                  </a:tcPr>
                </a:tc>
                <a:tc>
                  <a:txBody>
                    <a:bodyPr/>
                    <a:lstStyle/>
                    <a:p>
                      <a:pPr algn="ctr" fontAlgn="ctr">
                        <a:buNone/>
                      </a:pPr>
                      <a:r>
                        <a:rPr lang="en-US" sz="1100" b="0" i="0" u="none" strike="noStrike">
                          <a:solidFill>
                            <a:srgbClr val="000000"/>
                          </a:solidFill>
                          <a:effectLst/>
                          <a:latin typeface="Aptos Narrow" panose="020B0004020202020204" pitchFamily="34" charset="0"/>
                        </a:rPr>
                        <a:t>$0.4M</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6FAFA"/>
                    </a:solidFill>
                  </a:tcPr>
                </a:tc>
                <a:extLst>
                  <a:ext uri="{0D108BD9-81ED-4DB2-BD59-A6C34878D82A}">
                    <a16:rowId xmlns:a16="http://schemas.microsoft.com/office/drawing/2014/main" val="519610792"/>
                  </a:ext>
                </a:extLst>
              </a:tr>
              <a:tr h="219075">
                <a:tc>
                  <a:txBody>
                    <a:bodyPr/>
                    <a:lstStyle/>
                    <a:p>
                      <a:pPr algn="l" fontAlgn="b">
                        <a:buNone/>
                      </a:pPr>
                      <a:r>
                        <a:rPr lang="en-US" sz="1100" b="0" i="0" u="none" strike="noStrike">
                          <a:solidFill>
                            <a:srgbClr val="000000"/>
                          </a:solidFill>
                          <a:effectLst/>
                          <a:latin typeface="Aptos Narrow" panose="020B0004020202020204" pitchFamily="34" charset="0"/>
                        </a:rPr>
                        <a:t>PDM</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1100" b="0" i="0" u="none" strike="noStrike">
                          <a:solidFill>
                            <a:srgbClr val="000000"/>
                          </a:solidFill>
                          <a:effectLst/>
                          <a:latin typeface="Aptos Narrow" panose="020B0004020202020204" pitchFamily="34" charset="0"/>
                        </a:rPr>
                        <a:t>$0.3M</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DF0E4"/>
                    </a:solidFill>
                  </a:tcPr>
                </a:tc>
                <a:tc>
                  <a:txBody>
                    <a:bodyPr/>
                    <a:lstStyle/>
                    <a:p>
                      <a:pPr algn="ctr" fontAlgn="ctr">
                        <a:buNone/>
                      </a:pPr>
                      <a:r>
                        <a:rPr lang="en-US" sz="1100" b="0" i="0" u="none" strike="noStrike">
                          <a:solidFill>
                            <a:srgbClr val="000000"/>
                          </a:solidFill>
                          <a:effectLst/>
                          <a:latin typeface="Aptos Narrow" panose="020B0004020202020204" pitchFamily="34" charset="0"/>
                        </a:rPr>
                        <a:t>$0.4M</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FF1E6"/>
                    </a:solidFill>
                  </a:tcPr>
                </a:tc>
                <a:tc>
                  <a:txBody>
                    <a:bodyPr/>
                    <a:lstStyle/>
                    <a:p>
                      <a:pPr algn="ctr" fontAlgn="ctr">
                        <a:buNone/>
                      </a:pPr>
                      <a:r>
                        <a:rPr lang="en-US" sz="1100" b="0" i="0" u="none" strike="noStrike">
                          <a:solidFill>
                            <a:srgbClr val="000000"/>
                          </a:solidFill>
                          <a:effectLst/>
                          <a:latin typeface="Aptos Narrow" panose="020B0004020202020204" pitchFamily="34" charset="0"/>
                        </a:rPr>
                        <a:t>$0.7M</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FF1E6"/>
                    </a:solidFill>
                  </a:tcPr>
                </a:tc>
                <a:tc>
                  <a:txBody>
                    <a:bodyPr/>
                    <a:lstStyle/>
                    <a:p>
                      <a:pPr algn="ctr" fontAlgn="ctr">
                        <a:buNone/>
                      </a:pPr>
                      <a:r>
                        <a:rPr lang="en-US" sz="1100" b="0" i="0" u="none" strike="noStrike">
                          <a:solidFill>
                            <a:srgbClr val="000000"/>
                          </a:solidFill>
                          <a:effectLst/>
                          <a:latin typeface="Aptos Narrow" panose="020B0004020202020204" pitchFamily="34" charset="0"/>
                        </a:rPr>
                        <a:t>$1.9M</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FF1E6"/>
                    </a:solidFill>
                  </a:tcPr>
                </a:tc>
                <a:extLst>
                  <a:ext uri="{0D108BD9-81ED-4DB2-BD59-A6C34878D82A}">
                    <a16:rowId xmlns:a16="http://schemas.microsoft.com/office/drawing/2014/main" val="402469765"/>
                  </a:ext>
                </a:extLst>
              </a:tr>
              <a:tr h="219075">
                <a:tc>
                  <a:txBody>
                    <a:bodyPr/>
                    <a:lstStyle/>
                    <a:p>
                      <a:pPr algn="l" fontAlgn="b">
                        <a:buNone/>
                      </a:pPr>
                      <a:r>
                        <a:rPr lang="en-US" sz="1100" b="0" i="0" u="none" strike="noStrike">
                          <a:solidFill>
                            <a:srgbClr val="000000"/>
                          </a:solidFill>
                          <a:effectLst/>
                          <a:latin typeface="Aptos Narrow" panose="020B0004020202020204" pitchFamily="34" charset="0"/>
                        </a:rPr>
                        <a:t>PR</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1100" b="0" i="0" u="none" strike="noStrike">
                          <a:solidFill>
                            <a:srgbClr val="000000"/>
                          </a:solidFill>
                          <a:effectLst/>
                          <a:latin typeface="Aptos Narrow" panose="020B0004020202020204" pitchFamily="34" charset="0"/>
                        </a:rPr>
                        <a:t>$0.2M</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5F3EB"/>
                    </a:solidFill>
                  </a:tcPr>
                </a:tc>
                <a:tc>
                  <a:txBody>
                    <a:bodyPr/>
                    <a:lstStyle/>
                    <a:p>
                      <a:pPr algn="ctr" fontAlgn="ctr">
                        <a:buNone/>
                      </a:pPr>
                      <a:r>
                        <a:rPr lang="en-US" sz="1100" b="0" i="0" u="none" strike="noStrike">
                          <a:solidFill>
                            <a:srgbClr val="000000"/>
                          </a:solidFill>
                          <a:effectLst/>
                          <a:latin typeface="Aptos Narrow" panose="020B0004020202020204" pitchFamily="34" charset="0"/>
                        </a:rPr>
                        <a:t>$0.2M</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EF7F3"/>
                    </a:solidFill>
                  </a:tcPr>
                </a:tc>
                <a:tc>
                  <a:txBody>
                    <a:bodyPr/>
                    <a:lstStyle/>
                    <a:p>
                      <a:pPr algn="ctr" fontAlgn="ctr">
                        <a:buNone/>
                      </a:pPr>
                      <a:r>
                        <a:rPr lang="en-US" sz="1100" b="0" i="0" u="none" strike="noStrike">
                          <a:solidFill>
                            <a:srgbClr val="000000"/>
                          </a:solidFill>
                          <a:effectLst/>
                          <a:latin typeface="Aptos Narrow" panose="020B0004020202020204" pitchFamily="34" charset="0"/>
                        </a:rPr>
                        <a:t>$0.2M</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5F9F9"/>
                    </a:solidFill>
                  </a:tcPr>
                </a:tc>
                <a:tc>
                  <a:txBody>
                    <a:bodyPr/>
                    <a:lstStyle/>
                    <a:p>
                      <a:pPr algn="ctr" fontAlgn="ctr">
                        <a:buNone/>
                      </a:pPr>
                      <a:r>
                        <a:rPr lang="en-US" sz="1100" b="0" i="0" u="none" strike="noStrike" dirty="0">
                          <a:solidFill>
                            <a:srgbClr val="000000"/>
                          </a:solidFill>
                          <a:effectLst/>
                          <a:latin typeface="Aptos Narrow" panose="020B0004020202020204" pitchFamily="34" charset="0"/>
                        </a:rPr>
                        <a:t>$0.2M</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9FBFD"/>
                    </a:solidFill>
                  </a:tcPr>
                </a:tc>
                <a:extLst>
                  <a:ext uri="{0D108BD9-81ED-4DB2-BD59-A6C34878D82A}">
                    <a16:rowId xmlns:a16="http://schemas.microsoft.com/office/drawing/2014/main" val="496181674"/>
                  </a:ext>
                </a:extLst>
              </a:tr>
            </a:tbl>
          </a:graphicData>
        </a:graphic>
      </p:graphicFrame>
      <p:sp>
        <p:nvSpPr>
          <p:cNvPr id="6" name="TextBox 5">
            <a:extLst>
              <a:ext uri="{FF2B5EF4-FFF2-40B4-BE49-F238E27FC236}">
                <a16:creationId xmlns:a16="http://schemas.microsoft.com/office/drawing/2014/main" id="{D533C3FA-5406-754F-6431-2EAF0954C0FE}"/>
              </a:ext>
            </a:extLst>
          </p:cNvPr>
          <p:cNvSpPr txBox="1"/>
          <p:nvPr/>
        </p:nvSpPr>
        <p:spPr>
          <a:xfrm>
            <a:off x="609600" y="5405302"/>
            <a:ext cx="1751120" cy="307777"/>
          </a:xfrm>
          <a:prstGeom prst="rect">
            <a:avLst/>
          </a:prstGeom>
          <a:noFill/>
        </p:spPr>
        <p:txBody>
          <a:bodyPr wrap="none" rtlCol="0">
            <a:spAutoFit/>
          </a:bodyPr>
          <a:lstStyle/>
          <a:p>
            <a:r>
              <a:rPr lang="en-US" sz="1400" dirty="0">
                <a:hlinkClick r:id="rId3">
                  <a:extLst>
                    <a:ext uri="{A12FA001-AC4F-418D-AE19-62706E023703}">
                      <ahyp:hlinkClr xmlns:ahyp="http://schemas.microsoft.com/office/drawing/2018/hyperlinkcolor" val="tx"/>
                    </a:ext>
                  </a:extLst>
                </a:hlinkClick>
              </a:rPr>
              <a:t>Link to worksheet</a:t>
            </a:r>
            <a:endParaRPr lang="en-US" sz="1400" dirty="0"/>
          </a:p>
        </p:txBody>
      </p:sp>
      <p:sp>
        <p:nvSpPr>
          <p:cNvPr id="7" name="TextBox 6">
            <a:extLst>
              <a:ext uri="{FF2B5EF4-FFF2-40B4-BE49-F238E27FC236}">
                <a16:creationId xmlns:a16="http://schemas.microsoft.com/office/drawing/2014/main" id="{24374A0F-CFB2-FFDD-468A-B5E724926B29}"/>
              </a:ext>
            </a:extLst>
          </p:cNvPr>
          <p:cNvSpPr txBox="1"/>
          <p:nvPr/>
        </p:nvSpPr>
        <p:spPr>
          <a:xfrm>
            <a:off x="609600" y="5713079"/>
            <a:ext cx="6096000" cy="430887"/>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000000"/>
                </a:solidFill>
                <a:effectLst/>
                <a:uLnTx/>
                <a:uFillTx/>
                <a:latin typeface="MarkOT-Medium"/>
                <a:ea typeface="+mn-ea"/>
                <a:cs typeface="+mn-cs"/>
              </a:rPr>
              <a:t>* Spend for NL - TRR has been recalculated, since data spans 2 quarters</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000000"/>
                </a:solidFill>
                <a:effectLst/>
                <a:uLnTx/>
                <a:uFillTx/>
                <a:latin typeface="MarkOT-Medium"/>
                <a:ea typeface="+mn-ea"/>
                <a:cs typeface="+mn-cs"/>
              </a:rPr>
              <a:t>* Budgets have been scaled up to account for missing/incomplete data</a:t>
            </a:r>
          </a:p>
        </p:txBody>
      </p:sp>
      <p:sp>
        <p:nvSpPr>
          <p:cNvPr id="4" name="TextBox 3">
            <a:extLst>
              <a:ext uri="{FF2B5EF4-FFF2-40B4-BE49-F238E27FC236}">
                <a16:creationId xmlns:a16="http://schemas.microsoft.com/office/drawing/2014/main" id="{6673B09E-1374-1547-CF25-329DAD967E0C}"/>
              </a:ext>
            </a:extLst>
          </p:cNvPr>
          <p:cNvSpPr txBox="1"/>
          <p:nvPr/>
        </p:nvSpPr>
        <p:spPr>
          <a:xfrm>
            <a:off x="7162800" y="1236267"/>
            <a:ext cx="4449538" cy="3785652"/>
          </a:xfrm>
          <a:prstGeom prst="rect">
            <a:avLst/>
          </a:prstGeom>
          <a:noFill/>
        </p:spPr>
        <p:txBody>
          <a:bodyPr wrap="square" lIns="91440" tIns="45720" rIns="91440" bIns="45720" rtlCol="0" anchor="t">
            <a:spAutoFit/>
          </a:bodyPr>
          <a:lstStyle/>
          <a:p>
            <a:pPr marL="285750" indent="-285750">
              <a:buFont typeface="Arial" panose="020B0604020202020204" pitchFamily="34" charset="0"/>
              <a:buChar char="•"/>
            </a:pPr>
            <a:r>
              <a:rPr lang="en-US" sz="1600" dirty="0"/>
              <a:t>This model evaluates budget allocation efficiency by analyzing marginal revenue ROI across increasing budget levels. It measures how much incremental revenue and profit are generated by distributing budgets across different location buckets. </a:t>
            </a:r>
          </a:p>
          <a:p>
            <a:pPr marL="285750" indent="-285750">
              <a:buFont typeface="Arial" panose="020B0604020202020204" pitchFamily="34" charset="0"/>
              <a:buChar char="•"/>
            </a:pPr>
            <a:endParaRPr lang="en-US" sz="1600" dirty="0"/>
          </a:p>
          <a:p>
            <a:pPr marL="285750" indent="-285750">
              <a:buFont typeface="Arial" panose="020B0604020202020204" pitchFamily="34" charset="0"/>
              <a:buChar char="•"/>
            </a:pPr>
            <a:r>
              <a:rPr lang="en-US" sz="1600" dirty="0"/>
              <a:t>Model suggests that current budget levels are delivering strong revenue and profit contribution at current levels.</a:t>
            </a:r>
          </a:p>
          <a:p>
            <a:pPr marL="285750" indent="-285750">
              <a:buFont typeface="Arial" panose="020B0604020202020204" pitchFamily="34" charset="0"/>
              <a:buChar char="•"/>
            </a:pPr>
            <a:endParaRPr lang="en-US" sz="1600" dirty="0"/>
          </a:p>
          <a:p>
            <a:pPr marL="285750" indent="-285750">
              <a:buFont typeface="Arial" panose="020B0604020202020204" pitchFamily="34" charset="0"/>
              <a:buChar char="•"/>
            </a:pPr>
            <a:r>
              <a:rPr lang="en-US" sz="1600" dirty="0"/>
              <a:t>Reweighted budget would include a higher proportion of spend in HPL campaigns.</a:t>
            </a:r>
          </a:p>
        </p:txBody>
      </p:sp>
    </p:spTree>
    <p:extLst>
      <p:ext uri="{BB962C8B-B14F-4D97-AF65-F5344CB8AC3E}">
        <p14:creationId xmlns:p14="http://schemas.microsoft.com/office/powerpoint/2010/main" val="128886560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C3C0CF-FF6B-5726-207C-3FAC0E91D3E6}"/>
              </a:ext>
            </a:extLst>
          </p:cNvPr>
          <p:cNvSpPr>
            <a:spLocks noGrp="1"/>
          </p:cNvSpPr>
          <p:nvPr>
            <p:ph type="title"/>
          </p:nvPr>
        </p:nvSpPr>
        <p:spPr/>
        <p:txBody>
          <a:bodyPr/>
          <a:lstStyle/>
          <a:p>
            <a:r>
              <a:rPr lang="en-US" dirty="0"/>
              <a:t>The Rec room BUDGET SUMMARY</a:t>
            </a:r>
          </a:p>
        </p:txBody>
      </p:sp>
      <p:sp>
        <p:nvSpPr>
          <p:cNvPr id="5" name="TextBox 4">
            <a:extLst>
              <a:ext uri="{FF2B5EF4-FFF2-40B4-BE49-F238E27FC236}">
                <a16:creationId xmlns:a16="http://schemas.microsoft.com/office/drawing/2014/main" id="{B8A629D0-51D3-74F6-0146-1F9E56D0B33C}"/>
              </a:ext>
            </a:extLst>
          </p:cNvPr>
          <p:cNvSpPr txBox="1"/>
          <p:nvPr/>
        </p:nvSpPr>
        <p:spPr>
          <a:xfrm>
            <a:off x="7152639" y="1219200"/>
            <a:ext cx="4429761" cy="4832092"/>
          </a:xfrm>
          <a:prstGeom prst="rect">
            <a:avLst/>
          </a:prstGeom>
          <a:noFill/>
        </p:spPr>
        <p:txBody>
          <a:bodyPr wrap="square" lIns="91440" tIns="45720" rIns="91440" bIns="45720" rtlCol="0" anchor="t">
            <a:spAutoFit/>
          </a:bodyPr>
          <a:lstStyle/>
          <a:p>
            <a:pPr marL="285750" indent="-285750">
              <a:buFont typeface="Arial" panose="020B0604020202020204" pitchFamily="34" charset="0"/>
              <a:buChar char="•"/>
            </a:pPr>
            <a:r>
              <a:rPr lang="en-US" sz="1400" dirty="0"/>
              <a:t>The model reallocates the 2026 budget based on each location bucket’s contribution to revenue (i.e., revenue attributable to controllable marketing factors). </a:t>
            </a:r>
          </a:p>
          <a:p>
            <a:endParaRPr lang="en-US" sz="1400" dirty="0"/>
          </a:p>
          <a:p>
            <a:pPr marL="285750" indent="-285750">
              <a:buFont typeface="Arial" panose="020B0604020202020204" pitchFamily="34" charset="0"/>
              <a:buChar char="•"/>
            </a:pPr>
            <a:r>
              <a:rPr lang="en-US" sz="1400" dirty="0"/>
              <a:t>While HPL locations showed the highest efficiency in transaction-driven returns, sustained investment is still necessary in LPL and NL to support long-term brand awareness and market presence in these regions.</a:t>
            </a:r>
          </a:p>
          <a:p>
            <a:endParaRPr lang="en-US" sz="1400" dirty="0"/>
          </a:p>
          <a:p>
            <a:pPr marL="285750" indent="-285750">
              <a:buFont typeface="Arial" panose="020B0604020202020204" pitchFamily="34" charset="0"/>
              <a:buChar char="•"/>
            </a:pPr>
            <a:r>
              <a:rPr lang="en-US" sz="1400" dirty="0"/>
              <a:t>HPL campaigns had the lowest average spend at around 27% over the past two years, yet it contributed to 68% of revenue, indicating high campaign efficiency.</a:t>
            </a:r>
          </a:p>
          <a:p>
            <a:pPr marL="285750" indent="-285750">
              <a:buFont typeface="Arial" panose="020B0604020202020204" pitchFamily="34" charset="0"/>
              <a:buChar char="•"/>
            </a:pPr>
            <a:endParaRPr lang="en-US" sz="1400" dirty="0"/>
          </a:p>
          <a:p>
            <a:r>
              <a:rPr lang="en-US" sz="1400" u="sng" dirty="0"/>
              <a:t>Note:</a:t>
            </a:r>
          </a:p>
          <a:p>
            <a:pPr marL="285750" indent="-285750">
              <a:buFont typeface="Arial" panose="020B0604020202020204" pitchFamily="34" charset="0"/>
              <a:buChar char="•"/>
            </a:pPr>
            <a:r>
              <a:rPr lang="en-US" sz="1400" dirty="0"/>
              <a:t>“All factors” includes seasonality, holidays, and weather. Excluding these leads to normalization of contribution using only factors within control (internal factors).</a:t>
            </a:r>
          </a:p>
        </p:txBody>
      </p:sp>
      <p:sp>
        <p:nvSpPr>
          <p:cNvPr id="7" name="TextBox 6">
            <a:extLst>
              <a:ext uri="{FF2B5EF4-FFF2-40B4-BE49-F238E27FC236}">
                <a16:creationId xmlns:a16="http://schemas.microsoft.com/office/drawing/2014/main" id="{8EBD7BAC-4BAC-A326-9D53-FD10ED04034A}"/>
              </a:ext>
            </a:extLst>
          </p:cNvPr>
          <p:cNvSpPr txBox="1"/>
          <p:nvPr/>
        </p:nvSpPr>
        <p:spPr>
          <a:xfrm>
            <a:off x="609599" y="5405302"/>
            <a:ext cx="1751120" cy="307777"/>
          </a:xfrm>
          <a:prstGeom prst="rect">
            <a:avLst/>
          </a:prstGeom>
          <a:noFill/>
        </p:spPr>
        <p:txBody>
          <a:bodyPr wrap="none" rtlCol="0">
            <a:spAutoFit/>
          </a:bodyPr>
          <a:lstStyle/>
          <a:p>
            <a:r>
              <a:rPr lang="en-US" sz="1400" dirty="0">
                <a:hlinkClick r:id="rId3">
                  <a:extLst>
                    <a:ext uri="{A12FA001-AC4F-418D-AE19-62706E023703}">
                      <ahyp:hlinkClr xmlns:ahyp="http://schemas.microsoft.com/office/drawing/2018/hyperlinkcolor" val="tx"/>
                    </a:ext>
                  </a:extLst>
                </a:hlinkClick>
              </a:rPr>
              <a:t>Link to worksheet</a:t>
            </a:r>
            <a:endParaRPr lang="en-US" sz="1400" dirty="0"/>
          </a:p>
        </p:txBody>
      </p:sp>
      <p:sp>
        <p:nvSpPr>
          <p:cNvPr id="9" name="TextBox 8">
            <a:extLst>
              <a:ext uri="{FF2B5EF4-FFF2-40B4-BE49-F238E27FC236}">
                <a16:creationId xmlns:a16="http://schemas.microsoft.com/office/drawing/2014/main" id="{DDBFDC09-1148-D3E7-D6D0-7D2B69236C8A}"/>
              </a:ext>
            </a:extLst>
          </p:cNvPr>
          <p:cNvSpPr txBox="1"/>
          <p:nvPr/>
        </p:nvSpPr>
        <p:spPr>
          <a:xfrm>
            <a:off x="9374576" y="105565"/>
            <a:ext cx="2708566" cy="769441"/>
          </a:xfrm>
          <a:prstGeom prst="rect">
            <a:avLst/>
          </a:prstGeom>
          <a:noFill/>
        </p:spPr>
        <p:txBody>
          <a:bodyPr wrap="square" rtlCol="0">
            <a:spAutoFit/>
          </a:bodyPr>
          <a:lstStyle/>
          <a:p>
            <a:pPr algn="r"/>
            <a:r>
              <a:rPr lang="en-US" sz="1100" dirty="0"/>
              <a:t>HPL = High-performing locations</a:t>
            </a:r>
          </a:p>
          <a:p>
            <a:pPr algn="r"/>
            <a:r>
              <a:rPr lang="en-US" sz="1100" dirty="0"/>
              <a:t>LPL = Low-performing locations</a:t>
            </a:r>
          </a:p>
          <a:p>
            <a:pPr algn="r"/>
            <a:r>
              <a:rPr lang="en-US" sz="1100" dirty="0"/>
              <a:t>NL = New locations</a:t>
            </a:r>
          </a:p>
          <a:p>
            <a:pPr algn="r"/>
            <a:r>
              <a:rPr lang="en-US" sz="1100" dirty="0"/>
              <a:t>TRR = The Rec Room</a:t>
            </a:r>
          </a:p>
        </p:txBody>
      </p:sp>
      <p:sp>
        <p:nvSpPr>
          <p:cNvPr id="18" name="TextBox 17">
            <a:extLst>
              <a:ext uri="{FF2B5EF4-FFF2-40B4-BE49-F238E27FC236}">
                <a16:creationId xmlns:a16="http://schemas.microsoft.com/office/drawing/2014/main" id="{513F6F5D-13DE-14CD-D45D-A95B0FDE65B3}"/>
              </a:ext>
            </a:extLst>
          </p:cNvPr>
          <p:cNvSpPr txBox="1"/>
          <p:nvPr/>
        </p:nvSpPr>
        <p:spPr>
          <a:xfrm>
            <a:off x="609600" y="5713079"/>
            <a:ext cx="6096000" cy="430887"/>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000000"/>
                </a:solidFill>
                <a:effectLst/>
                <a:uLnTx/>
                <a:uFillTx/>
                <a:latin typeface="MarkOT-Medium"/>
                <a:ea typeface="+mn-ea"/>
                <a:cs typeface="+mn-cs"/>
              </a:rPr>
              <a:t>* Spend for NL - TRR has been recalculated, since data spans 2 quarters</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000000"/>
                </a:solidFill>
                <a:effectLst/>
                <a:uLnTx/>
                <a:uFillTx/>
                <a:latin typeface="MarkOT-Medium"/>
                <a:ea typeface="+mn-ea"/>
                <a:cs typeface="+mn-cs"/>
              </a:rPr>
              <a:t>* Budgets have been scaled up to account for missing/incomplete data</a:t>
            </a:r>
          </a:p>
        </p:txBody>
      </p:sp>
      <p:graphicFrame>
        <p:nvGraphicFramePr>
          <p:cNvPr id="3" name="Table 2">
            <a:extLst>
              <a:ext uri="{FF2B5EF4-FFF2-40B4-BE49-F238E27FC236}">
                <a16:creationId xmlns:a16="http://schemas.microsoft.com/office/drawing/2014/main" id="{FA9E9F15-2D31-50D3-57E2-CE78D638FFBD}"/>
              </a:ext>
            </a:extLst>
          </p:cNvPr>
          <p:cNvGraphicFramePr>
            <a:graphicFrameLocks noGrp="1"/>
          </p:cNvGraphicFramePr>
          <p:nvPr>
            <p:extLst>
              <p:ext uri="{D42A27DB-BD31-4B8C-83A1-F6EECF244321}">
                <p14:modId xmlns:p14="http://schemas.microsoft.com/office/powerpoint/2010/main" val="1469794454"/>
              </p:ext>
            </p:extLst>
          </p:nvPr>
        </p:nvGraphicFramePr>
        <p:xfrm>
          <a:off x="589280" y="1231004"/>
          <a:ext cx="6400800" cy="2471420"/>
        </p:xfrm>
        <a:graphic>
          <a:graphicData uri="http://schemas.openxmlformats.org/drawingml/2006/table">
            <a:tbl>
              <a:tblPr/>
              <a:tblGrid>
                <a:gridCol w="815996">
                  <a:extLst>
                    <a:ext uri="{9D8B030D-6E8A-4147-A177-3AD203B41FA5}">
                      <a16:colId xmlns:a16="http://schemas.microsoft.com/office/drawing/2014/main" val="1693662294"/>
                    </a:ext>
                  </a:extLst>
                </a:gridCol>
                <a:gridCol w="794801">
                  <a:extLst>
                    <a:ext uri="{9D8B030D-6E8A-4147-A177-3AD203B41FA5}">
                      <a16:colId xmlns:a16="http://schemas.microsoft.com/office/drawing/2014/main" val="2859722478"/>
                    </a:ext>
                  </a:extLst>
                </a:gridCol>
                <a:gridCol w="1062279">
                  <a:extLst>
                    <a:ext uri="{9D8B030D-6E8A-4147-A177-3AD203B41FA5}">
                      <a16:colId xmlns:a16="http://schemas.microsoft.com/office/drawing/2014/main" val="2323838227"/>
                    </a:ext>
                  </a:extLst>
                </a:gridCol>
                <a:gridCol w="908828">
                  <a:extLst>
                    <a:ext uri="{9D8B030D-6E8A-4147-A177-3AD203B41FA5}">
                      <a16:colId xmlns:a16="http://schemas.microsoft.com/office/drawing/2014/main" val="466295901"/>
                    </a:ext>
                  </a:extLst>
                </a:gridCol>
                <a:gridCol w="1038541">
                  <a:extLst>
                    <a:ext uri="{9D8B030D-6E8A-4147-A177-3AD203B41FA5}">
                      <a16:colId xmlns:a16="http://schemas.microsoft.com/office/drawing/2014/main" val="3913769516"/>
                    </a:ext>
                  </a:extLst>
                </a:gridCol>
                <a:gridCol w="847788">
                  <a:extLst>
                    <a:ext uri="{9D8B030D-6E8A-4147-A177-3AD203B41FA5}">
                      <a16:colId xmlns:a16="http://schemas.microsoft.com/office/drawing/2014/main" val="2014878679"/>
                    </a:ext>
                  </a:extLst>
                </a:gridCol>
                <a:gridCol w="932567">
                  <a:extLst>
                    <a:ext uri="{9D8B030D-6E8A-4147-A177-3AD203B41FA5}">
                      <a16:colId xmlns:a16="http://schemas.microsoft.com/office/drawing/2014/main" val="2381886575"/>
                    </a:ext>
                  </a:extLst>
                </a:gridCol>
              </a:tblGrid>
              <a:tr h="180975">
                <a:tc rowSpan="2" gridSpan="2">
                  <a:txBody>
                    <a:bodyPr/>
                    <a:lstStyle/>
                    <a:p>
                      <a:pPr algn="l" fontAlgn="ctr">
                        <a:buNone/>
                      </a:pPr>
                      <a:r>
                        <a:rPr lang="en-US" sz="1100" b="1" i="0" u="none" strike="noStrike" dirty="0">
                          <a:solidFill>
                            <a:srgbClr val="000000"/>
                          </a:solidFill>
                          <a:effectLst/>
                          <a:latin typeface="Aptos Narrow" panose="020B0004020202020204" pitchFamily="34" charset="0"/>
                        </a:rPr>
                        <a:t>2026 TRR Budget Input</a:t>
                      </a:r>
                    </a:p>
                  </a:txBody>
                  <a:tcPr marL="6350" marR="6350" marT="6350"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rgbClr val="E8E8E8"/>
                    </a:solidFill>
                  </a:tcPr>
                </a:tc>
                <a:tc rowSpan="2" hMerge="1">
                  <a:txBody>
                    <a:bodyPr/>
                    <a:lstStyle/>
                    <a:p>
                      <a:endParaRPr lang="en-US"/>
                    </a:p>
                  </a:txBody>
                  <a:tcPr/>
                </a:tc>
                <a:tc rowSpan="2">
                  <a:txBody>
                    <a:bodyPr/>
                    <a:lstStyle/>
                    <a:p>
                      <a:pPr algn="ctr" fontAlgn="ctr">
                        <a:buNone/>
                      </a:pPr>
                      <a:r>
                        <a:rPr lang="en-US" sz="1100" b="0" i="0" u="none" strike="noStrike" dirty="0">
                          <a:solidFill>
                            <a:srgbClr val="000000"/>
                          </a:solidFill>
                          <a:effectLst/>
                          <a:latin typeface="Aptos Narrow" panose="020B0004020202020204" pitchFamily="34" charset="0"/>
                        </a:rPr>
                        <a:t>$3,743,000</a:t>
                      </a:r>
                    </a:p>
                  </a:txBody>
                  <a:tcPr marL="6350" marR="6350" marT="6350"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noFill/>
                  </a:tcPr>
                </a:tc>
                <a:tc>
                  <a:txBody>
                    <a:bodyPr/>
                    <a:lstStyle/>
                    <a:p>
                      <a:pPr algn="l" fontAlgn="b">
                        <a:buNone/>
                      </a:pPr>
                      <a:endParaRPr lang="en-US" sz="1100" b="0" i="0" u="none" strike="noStrike">
                        <a:solidFill>
                          <a:srgbClr val="000000"/>
                        </a:solidFill>
                        <a:effectLst/>
                        <a:latin typeface="Aptos Narrow" panose="020B0004020202020204" pitchFamily="34" charset="0"/>
                      </a:endParaRPr>
                    </a:p>
                  </a:txBody>
                  <a:tcPr marL="6350" marR="6350" marT="6350" anchor="b">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a:noFill/>
                    </a:lnT>
                    <a:lnB>
                      <a:noFill/>
                    </a:lnB>
                    <a:solidFill>
                      <a:srgbClr val="FFFFFF"/>
                    </a:solidFill>
                  </a:tcPr>
                </a:tc>
                <a:tc gridSpan="2">
                  <a:txBody>
                    <a:bodyPr/>
                    <a:lstStyle/>
                    <a:p>
                      <a:pPr algn="l" fontAlgn="b">
                        <a:buNone/>
                      </a:pPr>
                      <a:r>
                        <a:rPr lang="en-US" sz="1100" b="0" i="0" u="none" strike="noStrike" dirty="0">
                          <a:solidFill>
                            <a:srgbClr val="000000"/>
                          </a:solidFill>
                          <a:effectLst/>
                          <a:latin typeface="Aptos Narrow" panose="020B0004020202020204" pitchFamily="34" charset="0"/>
                        </a:rPr>
                        <a:t>2-Year Actual Past Budget</a:t>
                      </a:r>
                    </a:p>
                  </a:txBody>
                  <a:tcPr marL="6350" marR="6350" marT="6350" anchor="b">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rgbClr val="E8E8E8"/>
                    </a:solidFill>
                  </a:tcPr>
                </a:tc>
                <a:tc hMerge="1">
                  <a:txBody>
                    <a:bodyPr/>
                    <a:lstStyle/>
                    <a:p>
                      <a:endParaRPr lang="en-US"/>
                    </a:p>
                  </a:txBody>
                  <a:tcPr/>
                </a:tc>
                <a:tc>
                  <a:txBody>
                    <a:bodyPr/>
                    <a:lstStyle/>
                    <a:p>
                      <a:pPr algn="r" fontAlgn="b">
                        <a:buNone/>
                      </a:pPr>
                      <a:r>
                        <a:rPr lang="en-US" sz="1100" b="0" i="0" u="none" strike="noStrike">
                          <a:solidFill>
                            <a:srgbClr val="000000"/>
                          </a:solidFill>
                          <a:effectLst/>
                          <a:latin typeface="Aptos Narrow" panose="020B0004020202020204" pitchFamily="34" charset="0"/>
                        </a:rPr>
                        <a:t>$5,600,000</a:t>
                      </a:r>
                    </a:p>
                  </a:txBody>
                  <a:tcPr marL="6350" marR="6350" marT="6350" anchor="b">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noFill/>
                  </a:tcPr>
                </a:tc>
                <a:extLst>
                  <a:ext uri="{0D108BD9-81ED-4DB2-BD59-A6C34878D82A}">
                    <a16:rowId xmlns:a16="http://schemas.microsoft.com/office/drawing/2014/main" val="2228286857"/>
                  </a:ext>
                </a:extLst>
              </a:tr>
              <a:tr h="180975">
                <a:tc gridSpan="2" vMerge="1">
                  <a:txBody>
                    <a:bodyPr/>
                    <a:lstStyle/>
                    <a:p>
                      <a:endParaRPr lang="en-US"/>
                    </a:p>
                  </a:txBody>
                  <a:tcPr/>
                </a:tc>
                <a:tc hMerge="1" vMerge="1">
                  <a:txBody>
                    <a:bodyPr/>
                    <a:lstStyle/>
                    <a:p>
                      <a:endParaRPr lang="en-US"/>
                    </a:p>
                  </a:txBody>
                  <a:tcPr/>
                </a:tc>
                <a:tc vMerge="1">
                  <a:txBody>
                    <a:bodyPr/>
                    <a:lstStyle/>
                    <a:p>
                      <a:endParaRPr lang="en-US"/>
                    </a:p>
                  </a:txBody>
                  <a:tcPr/>
                </a:tc>
                <a:tc>
                  <a:txBody>
                    <a:bodyPr/>
                    <a:lstStyle/>
                    <a:p>
                      <a:pPr algn="l" fontAlgn="b">
                        <a:buNone/>
                      </a:pPr>
                      <a:endParaRPr lang="en-US" sz="1100" b="0" i="0" u="none" strike="noStrike">
                        <a:solidFill>
                          <a:srgbClr val="000000"/>
                        </a:solidFill>
                        <a:effectLst/>
                        <a:latin typeface="Aptos Narrow" panose="020B0004020202020204" pitchFamily="34" charset="0"/>
                      </a:endParaRPr>
                    </a:p>
                  </a:txBody>
                  <a:tcPr marL="6350" marR="6350" marT="6350" anchor="b">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a:noFill/>
                    </a:lnT>
                    <a:lnB>
                      <a:noFill/>
                    </a:lnB>
                    <a:solidFill>
                      <a:srgbClr val="FFFFFF"/>
                    </a:solidFill>
                  </a:tcPr>
                </a:tc>
                <a:tc gridSpan="2">
                  <a:txBody>
                    <a:bodyPr/>
                    <a:lstStyle/>
                    <a:p>
                      <a:pPr algn="l" fontAlgn="b">
                        <a:buNone/>
                      </a:pPr>
                      <a:r>
                        <a:rPr lang="en-US" sz="1100" b="0" i="0" u="none" strike="noStrike" dirty="0">
                          <a:solidFill>
                            <a:srgbClr val="000000"/>
                          </a:solidFill>
                          <a:effectLst/>
                          <a:latin typeface="Aptos Narrow" panose="020B0004020202020204" pitchFamily="34" charset="0"/>
                        </a:rPr>
                        <a:t>Weeks</a:t>
                      </a:r>
                    </a:p>
                  </a:txBody>
                  <a:tcPr marL="6350" marR="6350" marT="6350" anchor="b">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rgbClr val="E8E8E8"/>
                    </a:solidFill>
                  </a:tcPr>
                </a:tc>
                <a:tc hMerge="1">
                  <a:txBody>
                    <a:bodyPr/>
                    <a:lstStyle/>
                    <a:p>
                      <a:endParaRPr lang="en-US"/>
                    </a:p>
                  </a:txBody>
                  <a:tcPr/>
                </a:tc>
                <a:tc>
                  <a:txBody>
                    <a:bodyPr/>
                    <a:lstStyle/>
                    <a:p>
                      <a:pPr algn="r" fontAlgn="b">
                        <a:buNone/>
                      </a:pPr>
                      <a:r>
                        <a:rPr lang="en-US" sz="1100" b="0" i="0" u="none" strike="noStrike" dirty="0">
                          <a:solidFill>
                            <a:srgbClr val="000000"/>
                          </a:solidFill>
                          <a:effectLst/>
                          <a:latin typeface="Aptos Narrow" panose="020B0004020202020204" pitchFamily="34" charset="0"/>
                        </a:rPr>
                        <a:t>52</a:t>
                      </a:r>
                    </a:p>
                  </a:txBody>
                  <a:tcPr marL="6350" marR="6350" marT="6350" anchor="b">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noFill/>
                  </a:tcPr>
                </a:tc>
                <a:extLst>
                  <a:ext uri="{0D108BD9-81ED-4DB2-BD59-A6C34878D82A}">
                    <a16:rowId xmlns:a16="http://schemas.microsoft.com/office/drawing/2014/main" val="2240571415"/>
                  </a:ext>
                </a:extLst>
              </a:tr>
              <a:tr h="180975">
                <a:tc>
                  <a:txBody>
                    <a:bodyPr/>
                    <a:lstStyle/>
                    <a:p>
                      <a:pPr algn="l" fontAlgn="b">
                        <a:buNone/>
                      </a:pPr>
                      <a:endParaRPr lang="en-US" sz="1100" b="0" i="0" u="none" strike="noStrike">
                        <a:solidFill>
                          <a:srgbClr val="000000"/>
                        </a:solidFill>
                        <a:effectLst/>
                        <a:latin typeface="Aptos Narrow" panose="020B0004020202020204" pitchFamily="34" charset="0"/>
                      </a:endParaRPr>
                    </a:p>
                  </a:txBody>
                  <a:tcPr marL="6350" marR="6350" marT="6350" anchor="b">
                    <a:lnL>
                      <a:noFill/>
                    </a:lnL>
                    <a:lnR>
                      <a:noFill/>
                    </a:lnR>
                    <a:lnT w="12700" cap="flat" cmpd="sng" algn="ctr">
                      <a:solidFill>
                        <a:schemeClr val="tx2"/>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buNone/>
                      </a:pPr>
                      <a:endParaRPr lang="en-US" sz="1100" b="0" i="0" u="none" strike="noStrike">
                        <a:solidFill>
                          <a:srgbClr val="000000"/>
                        </a:solidFill>
                        <a:effectLst/>
                        <a:latin typeface="Aptos Narrow" panose="020B0004020202020204" pitchFamily="34" charset="0"/>
                      </a:endParaRPr>
                    </a:p>
                  </a:txBody>
                  <a:tcPr marL="6350" marR="6350" marT="6350" anchor="b">
                    <a:lnL>
                      <a:noFill/>
                    </a:lnL>
                    <a:lnR>
                      <a:noFill/>
                    </a:lnR>
                    <a:lnT w="12700" cap="flat" cmpd="sng" algn="ctr">
                      <a:solidFill>
                        <a:schemeClr val="tx2"/>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buNone/>
                      </a:pPr>
                      <a:endParaRPr lang="en-US" sz="1100" b="0" i="0" u="none" strike="noStrike">
                        <a:solidFill>
                          <a:srgbClr val="000000"/>
                        </a:solidFill>
                        <a:effectLst/>
                        <a:latin typeface="Aptos Narrow" panose="020B0004020202020204" pitchFamily="34" charset="0"/>
                      </a:endParaRPr>
                    </a:p>
                  </a:txBody>
                  <a:tcPr marL="6350" marR="6350" marT="6350" anchor="b">
                    <a:lnL>
                      <a:noFill/>
                    </a:lnL>
                    <a:lnR>
                      <a:noFill/>
                    </a:lnR>
                    <a:lnT w="12700" cap="flat" cmpd="sng" algn="ctr">
                      <a:solidFill>
                        <a:schemeClr val="tx2"/>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l" fontAlgn="b">
                        <a:buNone/>
                      </a:pPr>
                      <a:endParaRPr lang="en-US" sz="1100" b="0" i="0" u="none" strike="noStrike">
                        <a:solidFill>
                          <a:srgbClr val="000000"/>
                        </a:solidFill>
                        <a:effectLst/>
                        <a:latin typeface="Aptos Narrow" panose="020B0004020202020204" pitchFamily="34" charset="0"/>
                      </a:endParaRPr>
                    </a:p>
                  </a:txBody>
                  <a:tcPr marL="6350" marR="6350" marT="6350" anchor="b">
                    <a:lnL>
                      <a:noFill/>
                    </a:lnL>
                    <a:lnR>
                      <a:noFill/>
                    </a:lnR>
                    <a:lnT>
                      <a:noFill/>
                    </a:lnT>
                    <a:lnB w="12700" cap="flat" cmpd="sng" algn="ctr">
                      <a:solidFill>
                        <a:srgbClr val="000000"/>
                      </a:solidFill>
                      <a:prstDash val="solid"/>
                      <a:round/>
                      <a:headEnd type="none" w="med" len="med"/>
                      <a:tailEnd type="none" w="med" len="med"/>
                    </a:lnB>
                    <a:solidFill>
                      <a:srgbClr val="FFFFFF"/>
                    </a:solidFill>
                  </a:tcPr>
                </a:tc>
                <a:tc>
                  <a:txBody>
                    <a:bodyPr/>
                    <a:lstStyle/>
                    <a:p>
                      <a:pPr algn="l" fontAlgn="b">
                        <a:buNone/>
                      </a:pPr>
                      <a:endParaRPr lang="en-US" sz="1100" b="0" i="0" u="none" strike="noStrike">
                        <a:solidFill>
                          <a:srgbClr val="000000"/>
                        </a:solidFill>
                        <a:effectLst/>
                        <a:latin typeface="Aptos Narrow" panose="020B0004020202020204" pitchFamily="34" charset="0"/>
                      </a:endParaRPr>
                    </a:p>
                  </a:txBody>
                  <a:tcPr marL="6350" marR="6350" marT="6350" anchor="b">
                    <a:lnL>
                      <a:noFill/>
                    </a:lnL>
                    <a:lnR>
                      <a:noFill/>
                    </a:lnR>
                    <a:lnT w="12700" cap="flat" cmpd="sng" algn="ctr">
                      <a:solidFill>
                        <a:schemeClr val="tx2"/>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l" fontAlgn="b">
                        <a:buNone/>
                      </a:pPr>
                      <a:endParaRPr lang="en-US" sz="1100" b="0" i="0" u="none" strike="noStrike">
                        <a:solidFill>
                          <a:srgbClr val="000000"/>
                        </a:solidFill>
                        <a:effectLst/>
                        <a:latin typeface="Aptos Narrow" panose="020B0004020202020204" pitchFamily="34" charset="0"/>
                      </a:endParaRPr>
                    </a:p>
                  </a:txBody>
                  <a:tcPr marL="6350" marR="6350" marT="6350" anchor="b">
                    <a:lnL>
                      <a:noFill/>
                    </a:lnL>
                    <a:lnR>
                      <a:noFill/>
                    </a:lnR>
                    <a:lnT w="12700" cap="flat" cmpd="sng" algn="ctr">
                      <a:solidFill>
                        <a:schemeClr val="tx2"/>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l" fontAlgn="b">
                        <a:buNone/>
                      </a:pPr>
                      <a:endParaRPr lang="en-US" sz="1100" b="0" i="0" u="none" strike="noStrike">
                        <a:solidFill>
                          <a:srgbClr val="000000"/>
                        </a:solidFill>
                        <a:effectLst/>
                        <a:latin typeface="Aptos Narrow" panose="020B0004020202020204" pitchFamily="34" charset="0"/>
                      </a:endParaRPr>
                    </a:p>
                  </a:txBody>
                  <a:tcPr marL="6350" marR="6350" marT="6350" anchor="b">
                    <a:lnL>
                      <a:noFill/>
                    </a:lnL>
                    <a:lnR>
                      <a:noFill/>
                    </a:lnR>
                    <a:lnT w="12700" cap="flat" cmpd="sng" algn="ctr">
                      <a:solidFill>
                        <a:schemeClr val="tx2"/>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3536701726"/>
                  </a:ext>
                </a:extLst>
              </a:tr>
              <a:tr h="552450">
                <a:tc>
                  <a:txBody>
                    <a:bodyPr/>
                    <a:lstStyle/>
                    <a:p>
                      <a:pPr algn="ctr" fontAlgn="ctr">
                        <a:buNone/>
                      </a:pPr>
                      <a:r>
                        <a:rPr lang="en-US" sz="1100" b="0" i="0" u="none" strike="noStrike">
                          <a:solidFill>
                            <a:srgbClr val="000000"/>
                          </a:solidFill>
                          <a:effectLst/>
                          <a:latin typeface="Aptos Narrow" panose="020B0004020202020204" pitchFamily="34" charset="0"/>
                        </a:rPr>
                        <a:t>Location Bucket</a:t>
                      </a:r>
                    </a:p>
                  </a:txBody>
                  <a:tcPr marL="6350" marR="6350" marT="635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0E4F5"/>
                    </a:solidFill>
                  </a:tcPr>
                </a:tc>
                <a:tc>
                  <a:txBody>
                    <a:bodyPr/>
                    <a:lstStyle/>
                    <a:p>
                      <a:pPr algn="ctr" fontAlgn="ctr">
                        <a:buNone/>
                      </a:pPr>
                      <a:r>
                        <a:rPr lang="en-US" sz="1100" b="0" i="0" u="none" strike="noStrike" dirty="0">
                          <a:solidFill>
                            <a:srgbClr val="000000"/>
                          </a:solidFill>
                          <a:effectLst/>
                          <a:latin typeface="Aptos Narrow" panose="020B0004020202020204" pitchFamily="34" charset="0"/>
                        </a:rPr>
                        <a:t>Contribution to Revenue (all factors)</a:t>
                      </a:r>
                    </a:p>
                  </a:txBody>
                  <a:tcPr marL="6350" marR="6350" marT="635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0E4F5"/>
                    </a:solidFill>
                  </a:tcPr>
                </a:tc>
                <a:tc>
                  <a:txBody>
                    <a:bodyPr/>
                    <a:lstStyle/>
                    <a:p>
                      <a:pPr algn="ctr" fontAlgn="ctr">
                        <a:buNone/>
                      </a:pPr>
                      <a:r>
                        <a:rPr lang="en-US" sz="1100" b="0" i="0" u="none" strike="noStrike" dirty="0">
                          <a:solidFill>
                            <a:srgbClr val="000000"/>
                          </a:solidFill>
                          <a:effectLst/>
                          <a:latin typeface="Aptos Narrow" panose="020B0004020202020204" pitchFamily="34" charset="0"/>
                        </a:rPr>
                        <a:t>Contribution to Revenue (internal factors only)</a:t>
                      </a:r>
                    </a:p>
                  </a:txBody>
                  <a:tcPr marL="6350" marR="6350" marT="635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0E4F5"/>
                    </a:solidFill>
                  </a:tcPr>
                </a:tc>
                <a:tc>
                  <a:txBody>
                    <a:bodyPr/>
                    <a:lstStyle/>
                    <a:p>
                      <a:pPr algn="ctr" fontAlgn="ctr">
                        <a:buNone/>
                      </a:pPr>
                      <a:r>
                        <a:rPr lang="en-US" sz="1100" b="0" i="0" u="none" strike="noStrike">
                          <a:solidFill>
                            <a:srgbClr val="000000"/>
                          </a:solidFill>
                          <a:effectLst/>
                          <a:latin typeface="Aptos Narrow" panose="020B0004020202020204" pitchFamily="34" charset="0"/>
                        </a:rPr>
                        <a:t>Spend Proportion (trailing 2 years)</a:t>
                      </a:r>
                    </a:p>
                  </a:txBody>
                  <a:tcPr marL="6350" marR="6350" marT="635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0E4F5"/>
                    </a:solidFill>
                  </a:tcPr>
                </a:tc>
                <a:tc>
                  <a:txBody>
                    <a:bodyPr/>
                    <a:lstStyle/>
                    <a:p>
                      <a:pPr algn="ctr" fontAlgn="ctr">
                        <a:buNone/>
                      </a:pPr>
                      <a:r>
                        <a:rPr lang="en-US" sz="1100" b="0" i="0" u="none" strike="noStrike">
                          <a:solidFill>
                            <a:srgbClr val="000000"/>
                          </a:solidFill>
                          <a:effectLst/>
                          <a:latin typeface="Aptos Narrow" panose="020B0004020202020204" pitchFamily="34" charset="0"/>
                        </a:rPr>
                        <a:t>Actual Yearly Spend (trailing 2-year avg.)</a:t>
                      </a:r>
                    </a:p>
                  </a:txBody>
                  <a:tcPr marL="6350" marR="6350" marT="635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0E4F5"/>
                    </a:solidFill>
                  </a:tcPr>
                </a:tc>
                <a:tc>
                  <a:txBody>
                    <a:bodyPr/>
                    <a:lstStyle/>
                    <a:p>
                      <a:pPr algn="ctr" fontAlgn="ctr">
                        <a:buNone/>
                      </a:pPr>
                      <a:r>
                        <a:rPr lang="en-US" sz="1100" b="0" i="0" u="none" strike="noStrike">
                          <a:solidFill>
                            <a:srgbClr val="000000"/>
                          </a:solidFill>
                          <a:effectLst/>
                          <a:latin typeface="Aptos Narrow" panose="020B0004020202020204" pitchFamily="34" charset="0"/>
                        </a:rPr>
                        <a:t>Model-based 2026 Allocation</a:t>
                      </a:r>
                    </a:p>
                  </a:txBody>
                  <a:tcPr marL="6350" marR="6350" marT="635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0E4F5"/>
                    </a:solidFill>
                  </a:tcPr>
                </a:tc>
                <a:tc>
                  <a:txBody>
                    <a:bodyPr/>
                    <a:lstStyle/>
                    <a:p>
                      <a:pPr algn="ctr" fontAlgn="ctr">
                        <a:buNone/>
                      </a:pPr>
                      <a:r>
                        <a:rPr lang="en-US" sz="1100" b="0" i="0" u="none" strike="noStrike">
                          <a:solidFill>
                            <a:srgbClr val="000000"/>
                          </a:solidFill>
                          <a:effectLst/>
                          <a:latin typeface="Aptos Narrow" panose="020B0004020202020204" pitchFamily="34" charset="0"/>
                        </a:rPr>
                        <a:t>Model-based 2026 Allocation / week</a:t>
                      </a:r>
                    </a:p>
                  </a:txBody>
                  <a:tcPr marL="6350" marR="6350" marT="635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0E4F5"/>
                    </a:solidFill>
                  </a:tcPr>
                </a:tc>
                <a:extLst>
                  <a:ext uri="{0D108BD9-81ED-4DB2-BD59-A6C34878D82A}">
                    <a16:rowId xmlns:a16="http://schemas.microsoft.com/office/drawing/2014/main" val="1975269930"/>
                  </a:ext>
                </a:extLst>
              </a:tr>
              <a:tr h="314325">
                <a:tc>
                  <a:txBody>
                    <a:bodyPr/>
                    <a:lstStyle/>
                    <a:p>
                      <a:pPr algn="l" fontAlgn="ctr">
                        <a:buNone/>
                      </a:pPr>
                      <a:r>
                        <a:rPr lang="en-US" sz="1100" b="0" i="0" u="none" strike="noStrike">
                          <a:solidFill>
                            <a:srgbClr val="000000"/>
                          </a:solidFill>
                          <a:effectLst/>
                          <a:latin typeface="Aptos Narrow" panose="020B0004020202020204" pitchFamily="34" charset="0"/>
                        </a:rPr>
                        <a:t>HPL</a:t>
                      </a:r>
                    </a:p>
                  </a:txBody>
                  <a:tcPr marL="6350" marR="6350" marT="635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en-US" sz="1100" b="0" i="0" u="none" strike="noStrike">
                          <a:solidFill>
                            <a:srgbClr val="000000"/>
                          </a:solidFill>
                          <a:effectLst/>
                          <a:latin typeface="Aptos Narrow" panose="020B0004020202020204" pitchFamily="34" charset="0"/>
                        </a:rPr>
                        <a:t>3.4%</a:t>
                      </a:r>
                    </a:p>
                  </a:txBody>
                  <a:tcPr marL="6350" marR="6350" marT="635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en-US" sz="1100" b="0" i="0" u="none" strike="noStrike">
                          <a:solidFill>
                            <a:srgbClr val="000000"/>
                          </a:solidFill>
                          <a:effectLst/>
                          <a:latin typeface="Aptos Narrow" panose="020B0004020202020204" pitchFamily="34" charset="0"/>
                        </a:rPr>
                        <a:t>68.0%</a:t>
                      </a:r>
                    </a:p>
                  </a:txBody>
                  <a:tcPr marL="6350" marR="6350" marT="635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63BE7B"/>
                    </a:solidFill>
                  </a:tcPr>
                </a:tc>
                <a:tc>
                  <a:txBody>
                    <a:bodyPr/>
                    <a:lstStyle/>
                    <a:p>
                      <a:pPr algn="r" fontAlgn="ctr">
                        <a:buNone/>
                      </a:pPr>
                      <a:r>
                        <a:rPr lang="en-US" sz="1100" b="0" i="0" u="none" strike="noStrike">
                          <a:solidFill>
                            <a:srgbClr val="000000"/>
                          </a:solidFill>
                          <a:effectLst/>
                          <a:latin typeface="Aptos Narrow" panose="020B0004020202020204" pitchFamily="34" charset="0"/>
                        </a:rPr>
                        <a:t>26.6%</a:t>
                      </a:r>
                    </a:p>
                  </a:txBody>
                  <a:tcPr marL="6350" marR="6350" marT="635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CFCFF"/>
                    </a:solidFill>
                  </a:tcPr>
                </a:tc>
                <a:tc>
                  <a:txBody>
                    <a:bodyPr/>
                    <a:lstStyle/>
                    <a:p>
                      <a:pPr algn="r" fontAlgn="ctr">
                        <a:buNone/>
                      </a:pPr>
                      <a:r>
                        <a:rPr lang="en-US" sz="1100" b="0" i="0" u="none" strike="noStrike">
                          <a:solidFill>
                            <a:srgbClr val="000000"/>
                          </a:solidFill>
                          <a:effectLst/>
                          <a:latin typeface="Aptos Narrow" panose="020B0004020202020204" pitchFamily="34" charset="0"/>
                        </a:rPr>
                        <a:t>$753,680</a:t>
                      </a:r>
                    </a:p>
                  </a:txBody>
                  <a:tcPr marL="6350" marR="6350" marT="635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en-US" sz="1100" b="0" i="0" u="none" strike="noStrike" dirty="0">
                          <a:solidFill>
                            <a:srgbClr val="000000"/>
                          </a:solidFill>
                          <a:effectLst/>
                          <a:latin typeface="Aptos Narrow" panose="020B0004020202020204" pitchFamily="34" charset="0"/>
                        </a:rPr>
                        <a:t>$2,545,240</a:t>
                      </a:r>
                    </a:p>
                  </a:txBody>
                  <a:tcPr marL="6350" marR="6350" marT="635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en-US" sz="1100" b="0" i="0" u="none" strike="noStrike">
                          <a:solidFill>
                            <a:srgbClr val="000000"/>
                          </a:solidFill>
                          <a:effectLst/>
                          <a:latin typeface="Aptos Narrow" panose="020B0004020202020204" pitchFamily="34" charset="0"/>
                        </a:rPr>
                        <a:t>$48,947</a:t>
                      </a:r>
                    </a:p>
                  </a:txBody>
                  <a:tcPr marL="6350" marR="6350" marT="635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843768440"/>
                  </a:ext>
                </a:extLst>
              </a:tr>
              <a:tr h="314325">
                <a:tc>
                  <a:txBody>
                    <a:bodyPr/>
                    <a:lstStyle/>
                    <a:p>
                      <a:pPr algn="l" fontAlgn="ctr">
                        <a:buNone/>
                      </a:pPr>
                      <a:r>
                        <a:rPr lang="en-US" sz="1100" b="0" i="0" u="none" strike="noStrike">
                          <a:solidFill>
                            <a:srgbClr val="000000"/>
                          </a:solidFill>
                          <a:effectLst/>
                          <a:latin typeface="Aptos Narrow" panose="020B0004020202020204" pitchFamily="34" charset="0"/>
                        </a:rPr>
                        <a:t>LPL</a:t>
                      </a:r>
                    </a:p>
                  </a:txBody>
                  <a:tcPr marL="6350" marR="6350" marT="635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en-US" sz="1100" b="0" i="0" u="none" strike="noStrike">
                          <a:solidFill>
                            <a:srgbClr val="000000"/>
                          </a:solidFill>
                          <a:effectLst/>
                          <a:latin typeface="Aptos Narrow" panose="020B0004020202020204" pitchFamily="34" charset="0"/>
                        </a:rPr>
                        <a:t>1.0%</a:t>
                      </a:r>
                    </a:p>
                  </a:txBody>
                  <a:tcPr marL="6350" marR="6350" marT="635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en-US" sz="1100" b="0" i="0" u="none" strike="noStrike">
                          <a:solidFill>
                            <a:srgbClr val="000000"/>
                          </a:solidFill>
                          <a:effectLst/>
                          <a:latin typeface="Aptos Narrow" panose="020B0004020202020204" pitchFamily="34" charset="0"/>
                        </a:rPr>
                        <a:t>20.0%</a:t>
                      </a:r>
                    </a:p>
                  </a:txBody>
                  <a:tcPr marL="6350" marR="6350" marT="635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7F4ED"/>
                    </a:solidFill>
                  </a:tcPr>
                </a:tc>
                <a:tc>
                  <a:txBody>
                    <a:bodyPr/>
                    <a:lstStyle/>
                    <a:p>
                      <a:pPr algn="r" fontAlgn="ctr">
                        <a:buNone/>
                      </a:pPr>
                      <a:r>
                        <a:rPr lang="en-US" sz="1100" b="0" i="0" u="none" strike="noStrike">
                          <a:solidFill>
                            <a:srgbClr val="000000"/>
                          </a:solidFill>
                          <a:effectLst/>
                          <a:latin typeface="Aptos Narrow" panose="020B0004020202020204" pitchFamily="34" charset="0"/>
                        </a:rPr>
                        <a:t>41.8%</a:t>
                      </a:r>
                    </a:p>
                  </a:txBody>
                  <a:tcPr marL="6350" marR="6350" marT="635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63BE7B"/>
                    </a:solidFill>
                  </a:tcPr>
                </a:tc>
                <a:tc>
                  <a:txBody>
                    <a:bodyPr/>
                    <a:lstStyle/>
                    <a:p>
                      <a:pPr algn="r" fontAlgn="ctr">
                        <a:buNone/>
                      </a:pPr>
                      <a:r>
                        <a:rPr lang="en-US" sz="1100" b="0" i="0" u="none" strike="noStrike" dirty="0">
                          <a:solidFill>
                            <a:srgbClr val="000000"/>
                          </a:solidFill>
                          <a:effectLst/>
                          <a:latin typeface="Aptos Narrow" panose="020B0004020202020204" pitchFamily="34" charset="0"/>
                        </a:rPr>
                        <a:t>$1,182,230</a:t>
                      </a:r>
                    </a:p>
                  </a:txBody>
                  <a:tcPr marL="6350" marR="6350" marT="635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en-US" sz="1100" b="0" i="0" u="none" strike="noStrike">
                          <a:solidFill>
                            <a:srgbClr val="000000"/>
                          </a:solidFill>
                          <a:effectLst/>
                          <a:latin typeface="Aptos Narrow" panose="020B0004020202020204" pitchFamily="34" charset="0"/>
                        </a:rPr>
                        <a:t>$748,600</a:t>
                      </a:r>
                    </a:p>
                  </a:txBody>
                  <a:tcPr marL="6350" marR="6350" marT="635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en-US" sz="1100" b="0" i="0" u="none" strike="noStrike">
                          <a:solidFill>
                            <a:srgbClr val="000000"/>
                          </a:solidFill>
                          <a:effectLst/>
                          <a:latin typeface="Aptos Narrow" panose="020B0004020202020204" pitchFamily="34" charset="0"/>
                        </a:rPr>
                        <a:t>$14,396</a:t>
                      </a:r>
                    </a:p>
                  </a:txBody>
                  <a:tcPr marL="6350" marR="6350" marT="635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224428561"/>
                  </a:ext>
                </a:extLst>
              </a:tr>
              <a:tr h="314325">
                <a:tc>
                  <a:txBody>
                    <a:bodyPr/>
                    <a:lstStyle/>
                    <a:p>
                      <a:pPr algn="l" fontAlgn="ctr">
                        <a:buNone/>
                      </a:pPr>
                      <a:r>
                        <a:rPr lang="en-US" sz="1100" b="0" i="0" u="none" strike="noStrike">
                          <a:solidFill>
                            <a:srgbClr val="000000"/>
                          </a:solidFill>
                          <a:effectLst/>
                          <a:latin typeface="Aptos Narrow" panose="020B0004020202020204" pitchFamily="34" charset="0"/>
                        </a:rPr>
                        <a:t>NL - TRR</a:t>
                      </a:r>
                    </a:p>
                  </a:txBody>
                  <a:tcPr marL="6350" marR="6350" marT="635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en-US" sz="1100" b="0" i="0" u="none" strike="noStrike">
                          <a:solidFill>
                            <a:srgbClr val="000000"/>
                          </a:solidFill>
                          <a:effectLst/>
                          <a:latin typeface="Aptos Narrow" panose="020B0004020202020204" pitchFamily="34" charset="0"/>
                        </a:rPr>
                        <a:t>0.6%</a:t>
                      </a:r>
                    </a:p>
                  </a:txBody>
                  <a:tcPr marL="6350" marR="6350" marT="635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en-US" sz="1100" b="0" i="0" u="none" strike="noStrike">
                          <a:solidFill>
                            <a:srgbClr val="000000"/>
                          </a:solidFill>
                          <a:effectLst/>
                          <a:latin typeface="Aptos Narrow" panose="020B0004020202020204" pitchFamily="34" charset="0"/>
                        </a:rPr>
                        <a:t>12.0%</a:t>
                      </a:r>
                    </a:p>
                  </a:txBody>
                  <a:tcPr marL="6350" marR="6350" marT="635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CFCFF"/>
                    </a:solidFill>
                  </a:tcPr>
                </a:tc>
                <a:tc>
                  <a:txBody>
                    <a:bodyPr/>
                    <a:lstStyle/>
                    <a:p>
                      <a:pPr algn="r" fontAlgn="ctr">
                        <a:buNone/>
                      </a:pPr>
                      <a:r>
                        <a:rPr lang="en-US" sz="1100" b="0" i="0" u="none" strike="noStrike">
                          <a:solidFill>
                            <a:srgbClr val="000000"/>
                          </a:solidFill>
                          <a:effectLst/>
                          <a:latin typeface="Aptos Narrow" panose="020B0004020202020204" pitchFamily="34" charset="0"/>
                        </a:rPr>
                        <a:t>31.6%</a:t>
                      </a:r>
                    </a:p>
                  </a:txBody>
                  <a:tcPr marL="6350" marR="6350" marT="635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BE8D5"/>
                    </a:solidFill>
                  </a:tcPr>
                </a:tc>
                <a:tc>
                  <a:txBody>
                    <a:bodyPr/>
                    <a:lstStyle/>
                    <a:p>
                      <a:pPr algn="r" fontAlgn="ctr">
                        <a:buNone/>
                      </a:pPr>
                      <a:r>
                        <a:rPr lang="en-US" sz="1100" b="0" i="0" u="none" strike="noStrike">
                          <a:solidFill>
                            <a:srgbClr val="000000"/>
                          </a:solidFill>
                          <a:effectLst/>
                          <a:latin typeface="Aptos Narrow" panose="020B0004020202020204" pitchFamily="34" charset="0"/>
                        </a:rPr>
                        <a:t>$893,190</a:t>
                      </a:r>
                    </a:p>
                  </a:txBody>
                  <a:tcPr marL="6350" marR="6350" marT="635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en-US" sz="1100" b="0" i="0" u="none" strike="noStrike">
                          <a:solidFill>
                            <a:srgbClr val="000000"/>
                          </a:solidFill>
                          <a:effectLst/>
                          <a:latin typeface="Aptos Narrow" panose="020B0004020202020204" pitchFamily="34" charset="0"/>
                        </a:rPr>
                        <a:t>$449,160</a:t>
                      </a:r>
                    </a:p>
                  </a:txBody>
                  <a:tcPr marL="6350" marR="6350" marT="635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en-US" sz="1100" b="0" i="0" u="none" strike="noStrike">
                          <a:solidFill>
                            <a:srgbClr val="000000"/>
                          </a:solidFill>
                          <a:effectLst/>
                          <a:latin typeface="Aptos Narrow" panose="020B0004020202020204" pitchFamily="34" charset="0"/>
                        </a:rPr>
                        <a:t>$8,638</a:t>
                      </a:r>
                    </a:p>
                  </a:txBody>
                  <a:tcPr marL="6350" marR="6350" marT="635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594416793"/>
                  </a:ext>
                </a:extLst>
              </a:tr>
              <a:tr h="314325">
                <a:tc>
                  <a:txBody>
                    <a:bodyPr/>
                    <a:lstStyle/>
                    <a:p>
                      <a:pPr algn="l" fontAlgn="ctr">
                        <a:buNone/>
                      </a:pPr>
                      <a:r>
                        <a:rPr lang="en-US" sz="1100" b="0" i="0" u="none" strike="noStrike">
                          <a:solidFill>
                            <a:srgbClr val="000000"/>
                          </a:solidFill>
                          <a:effectLst/>
                          <a:latin typeface="Aptos Narrow" panose="020B0004020202020204" pitchFamily="34" charset="0"/>
                        </a:rPr>
                        <a:t>Total</a:t>
                      </a:r>
                    </a:p>
                  </a:txBody>
                  <a:tcPr marL="6350" marR="6350" marT="635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8E8E8"/>
                    </a:solidFill>
                  </a:tcPr>
                </a:tc>
                <a:tc>
                  <a:txBody>
                    <a:bodyPr/>
                    <a:lstStyle/>
                    <a:p>
                      <a:pPr algn="r" fontAlgn="ctr">
                        <a:buNone/>
                      </a:pPr>
                      <a:r>
                        <a:rPr lang="en-US" sz="1100" b="0" i="0" u="none" strike="noStrike">
                          <a:solidFill>
                            <a:srgbClr val="000000"/>
                          </a:solidFill>
                          <a:effectLst/>
                          <a:latin typeface="Aptos Narrow" panose="020B0004020202020204" pitchFamily="34" charset="0"/>
                        </a:rPr>
                        <a:t>5.0%</a:t>
                      </a:r>
                    </a:p>
                  </a:txBody>
                  <a:tcPr marL="6350" marR="6350" marT="635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8E8E8"/>
                    </a:solidFill>
                  </a:tcPr>
                </a:tc>
                <a:tc>
                  <a:txBody>
                    <a:bodyPr/>
                    <a:lstStyle/>
                    <a:p>
                      <a:pPr algn="r" fontAlgn="ctr">
                        <a:buNone/>
                      </a:pPr>
                      <a:r>
                        <a:rPr lang="en-US" sz="1100" b="0" i="0" u="none" strike="noStrike" dirty="0">
                          <a:solidFill>
                            <a:srgbClr val="000000"/>
                          </a:solidFill>
                          <a:effectLst/>
                          <a:latin typeface="Aptos Narrow" panose="020B0004020202020204" pitchFamily="34" charset="0"/>
                        </a:rPr>
                        <a:t>100.0%</a:t>
                      </a:r>
                    </a:p>
                  </a:txBody>
                  <a:tcPr marL="6350" marR="6350" marT="635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8E8E8"/>
                    </a:solidFill>
                  </a:tcPr>
                </a:tc>
                <a:tc>
                  <a:txBody>
                    <a:bodyPr/>
                    <a:lstStyle/>
                    <a:p>
                      <a:pPr algn="r" fontAlgn="ctr">
                        <a:buNone/>
                      </a:pPr>
                      <a:r>
                        <a:rPr lang="en-US" sz="1100" b="0" i="0" u="none" strike="noStrike">
                          <a:solidFill>
                            <a:srgbClr val="000000"/>
                          </a:solidFill>
                          <a:effectLst/>
                          <a:latin typeface="Aptos Narrow" panose="020B0004020202020204" pitchFamily="34" charset="0"/>
                        </a:rPr>
                        <a:t>100.0%</a:t>
                      </a:r>
                    </a:p>
                  </a:txBody>
                  <a:tcPr marL="6350" marR="6350" marT="635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8E8E8"/>
                    </a:solidFill>
                  </a:tcPr>
                </a:tc>
                <a:tc>
                  <a:txBody>
                    <a:bodyPr/>
                    <a:lstStyle/>
                    <a:p>
                      <a:pPr algn="r" fontAlgn="ctr">
                        <a:buNone/>
                      </a:pPr>
                      <a:r>
                        <a:rPr lang="en-US" sz="1100" b="0" i="0" u="none" strike="noStrike">
                          <a:solidFill>
                            <a:srgbClr val="000000"/>
                          </a:solidFill>
                          <a:effectLst/>
                          <a:latin typeface="Aptos Narrow" panose="020B0004020202020204" pitchFamily="34" charset="0"/>
                        </a:rPr>
                        <a:t>$2,829,100</a:t>
                      </a:r>
                    </a:p>
                  </a:txBody>
                  <a:tcPr marL="6350" marR="6350" marT="635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8E8E8"/>
                    </a:solidFill>
                  </a:tcPr>
                </a:tc>
                <a:tc>
                  <a:txBody>
                    <a:bodyPr/>
                    <a:lstStyle/>
                    <a:p>
                      <a:pPr algn="r" fontAlgn="ctr">
                        <a:buNone/>
                      </a:pPr>
                      <a:r>
                        <a:rPr lang="en-US" sz="1100" b="0" i="0" u="none" strike="noStrike">
                          <a:solidFill>
                            <a:srgbClr val="000000"/>
                          </a:solidFill>
                          <a:effectLst/>
                          <a:latin typeface="Aptos Narrow" panose="020B0004020202020204" pitchFamily="34" charset="0"/>
                        </a:rPr>
                        <a:t>$3,743,000</a:t>
                      </a:r>
                    </a:p>
                  </a:txBody>
                  <a:tcPr marL="6350" marR="6350" marT="635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8E8E8"/>
                    </a:solidFill>
                  </a:tcPr>
                </a:tc>
                <a:tc>
                  <a:txBody>
                    <a:bodyPr/>
                    <a:lstStyle/>
                    <a:p>
                      <a:pPr algn="r" fontAlgn="ctr">
                        <a:buNone/>
                      </a:pPr>
                      <a:r>
                        <a:rPr lang="en-US" sz="1100" b="0" i="0" u="none" strike="noStrike" dirty="0">
                          <a:solidFill>
                            <a:srgbClr val="000000"/>
                          </a:solidFill>
                          <a:effectLst/>
                          <a:latin typeface="Aptos Narrow" panose="020B0004020202020204" pitchFamily="34" charset="0"/>
                        </a:rPr>
                        <a:t>$71,981</a:t>
                      </a:r>
                    </a:p>
                  </a:txBody>
                  <a:tcPr marL="6350" marR="6350" marT="635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8E8E8"/>
                    </a:solidFill>
                  </a:tcPr>
                </a:tc>
                <a:extLst>
                  <a:ext uri="{0D108BD9-81ED-4DB2-BD59-A6C34878D82A}">
                    <a16:rowId xmlns:a16="http://schemas.microsoft.com/office/drawing/2014/main" val="2488483945"/>
                  </a:ext>
                </a:extLst>
              </a:tr>
            </a:tbl>
          </a:graphicData>
        </a:graphic>
      </p:graphicFrame>
    </p:spTree>
    <p:extLst>
      <p:ext uri="{BB962C8B-B14F-4D97-AF65-F5344CB8AC3E}">
        <p14:creationId xmlns:p14="http://schemas.microsoft.com/office/powerpoint/2010/main" val="397025533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82AFDF-331E-95C0-E23B-5EB4DEE6019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CC6FFF6-08E3-2D76-12B8-03622DAACA74}"/>
              </a:ext>
            </a:extLst>
          </p:cNvPr>
          <p:cNvSpPr>
            <a:spLocks noGrp="1"/>
          </p:cNvSpPr>
          <p:nvPr>
            <p:ph type="title"/>
          </p:nvPr>
        </p:nvSpPr>
        <p:spPr/>
        <p:txBody>
          <a:bodyPr/>
          <a:lstStyle/>
          <a:p>
            <a:r>
              <a:rPr lang="en-US" dirty="0"/>
              <a:t>Playdium BUDGET SUMMARY</a:t>
            </a:r>
          </a:p>
        </p:txBody>
      </p:sp>
      <p:sp>
        <p:nvSpPr>
          <p:cNvPr id="5" name="TextBox 4">
            <a:extLst>
              <a:ext uri="{FF2B5EF4-FFF2-40B4-BE49-F238E27FC236}">
                <a16:creationId xmlns:a16="http://schemas.microsoft.com/office/drawing/2014/main" id="{3D1FB362-ABAB-0926-FC3C-FC3C8EDE63AE}"/>
              </a:ext>
            </a:extLst>
          </p:cNvPr>
          <p:cNvSpPr txBox="1"/>
          <p:nvPr/>
        </p:nvSpPr>
        <p:spPr>
          <a:xfrm>
            <a:off x="7152641" y="1231004"/>
            <a:ext cx="4429760" cy="3539430"/>
          </a:xfrm>
          <a:prstGeom prst="rect">
            <a:avLst/>
          </a:prstGeom>
          <a:noFill/>
        </p:spPr>
        <p:txBody>
          <a:bodyPr wrap="square" lIns="91440" tIns="45720" rIns="91440" bIns="45720" rtlCol="0" anchor="t">
            <a:spAutoFit/>
          </a:bodyPr>
          <a:lstStyle/>
          <a:p>
            <a:pPr marL="285750" indent="-285750">
              <a:buFont typeface="Arial" panose="020B0604020202020204" pitchFamily="34" charset="0"/>
              <a:buChar char="•"/>
            </a:pPr>
            <a:r>
              <a:rPr lang="en-US" sz="1600" dirty="0"/>
              <a:t>Established Playdium locations have higher contribution to revenue, and thus higher efficiency in spend.</a:t>
            </a:r>
          </a:p>
          <a:p>
            <a:pPr marL="285750" indent="-285750">
              <a:buFont typeface="Arial" panose="020B0604020202020204" pitchFamily="34" charset="0"/>
              <a:buChar char="•"/>
            </a:pPr>
            <a:endParaRPr lang="en-US" sz="1600" dirty="0"/>
          </a:p>
          <a:p>
            <a:pPr marL="285750" indent="-285750">
              <a:buFont typeface="Arial" panose="020B0604020202020204" pitchFamily="34" charset="0"/>
              <a:buChar char="•"/>
            </a:pPr>
            <a:r>
              <a:rPr lang="en-US" sz="1600" dirty="0"/>
              <a:t>New location spending accounted for around 44% of the budget on average but only contributed to 19% of revenue.</a:t>
            </a:r>
          </a:p>
          <a:p>
            <a:pPr marL="285750" indent="-285750">
              <a:buFont typeface="Arial" panose="020B0604020202020204" pitchFamily="34" charset="0"/>
              <a:buChar char="•"/>
            </a:pPr>
            <a:endParaRPr lang="en-US" sz="1600" dirty="0"/>
          </a:p>
          <a:p>
            <a:r>
              <a:rPr lang="en-US" sz="1600" u="sng" dirty="0"/>
              <a:t>Note:</a:t>
            </a:r>
          </a:p>
          <a:p>
            <a:pPr marL="285750" indent="-285750">
              <a:buFont typeface="Arial" panose="020B0604020202020204" pitchFamily="34" charset="0"/>
              <a:buChar char="•"/>
            </a:pPr>
            <a:r>
              <a:rPr lang="en-US" sz="1600" dirty="0"/>
              <a:t>“All factors” includes seasonality, holidays, and weather. Excluding these leads to normalization of contribution using only factors within control (internal factors).</a:t>
            </a:r>
          </a:p>
        </p:txBody>
      </p:sp>
      <p:sp>
        <p:nvSpPr>
          <p:cNvPr id="9" name="TextBox 8">
            <a:extLst>
              <a:ext uri="{FF2B5EF4-FFF2-40B4-BE49-F238E27FC236}">
                <a16:creationId xmlns:a16="http://schemas.microsoft.com/office/drawing/2014/main" id="{CDDFFCF2-64C3-A71B-7D2D-4AC41E389779}"/>
              </a:ext>
            </a:extLst>
          </p:cNvPr>
          <p:cNvSpPr txBox="1"/>
          <p:nvPr/>
        </p:nvSpPr>
        <p:spPr>
          <a:xfrm>
            <a:off x="9374576" y="105565"/>
            <a:ext cx="2708566" cy="769441"/>
          </a:xfrm>
          <a:prstGeom prst="rect">
            <a:avLst/>
          </a:prstGeom>
          <a:noFill/>
        </p:spPr>
        <p:txBody>
          <a:bodyPr wrap="square" rtlCol="0">
            <a:spAutoFit/>
          </a:bodyPr>
          <a:lstStyle/>
          <a:p>
            <a:pPr algn="r"/>
            <a:r>
              <a:rPr lang="en-US" sz="1100" dirty="0"/>
              <a:t>HPL = High-performing locations</a:t>
            </a:r>
          </a:p>
          <a:p>
            <a:pPr algn="r"/>
            <a:r>
              <a:rPr lang="en-US" sz="1100" dirty="0"/>
              <a:t>LPL = Low-performing locations</a:t>
            </a:r>
          </a:p>
          <a:p>
            <a:pPr algn="r"/>
            <a:r>
              <a:rPr lang="en-US" sz="1100" dirty="0"/>
              <a:t>NL = New locations</a:t>
            </a:r>
          </a:p>
          <a:p>
            <a:pPr algn="r"/>
            <a:r>
              <a:rPr lang="en-US" sz="1100" dirty="0"/>
              <a:t>PDM = Playdium</a:t>
            </a:r>
          </a:p>
        </p:txBody>
      </p:sp>
      <p:sp>
        <p:nvSpPr>
          <p:cNvPr id="10" name="TextBox 9">
            <a:extLst>
              <a:ext uri="{FF2B5EF4-FFF2-40B4-BE49-F238E27FC236}">
                <a16:creationId xmlns:a16="http://schemas.microsoft.com/office/drawing/2014/main" id="{43AD1A10-CDD2-F4D4-4B21-5D61B85BD2A5}"/>
              </a:ext>
            </a:extLst>
          </p:cNvPr>
          <p:cNvSpPr txBox="1"/>
          <p:nvPr/>
        </p:nvSpPr>
        <p:spPr>
          <a:xfrm>
            <a:off x="609600" y="5405302"/>
            <a:ext cx="1751120" cy="307777"/>
          </a:xfrm>
          <a:prstGeom prst="rect">
            <a:avLst/>
          </a:prstGeom>
          <a:noFill/>
        </p:spPr>
        <p:txBody>
          <a:bodyPr wrap="none" rtlCol="0">
            <a:spAutoFit/>
          </a:bodyPr>
          <a:lstStyle/>
          <a:p>
            <a:r>
              <a:rPr lang="en-US" sz="1400" dirty="0">
                <a:hlinkClick r:id="rId2">
                  <a:extLst>
                    <a:ext uri="{A12FA001-AC4F-418D-AE19-62706E023703}">
                      <ahyp:hlinkClr xmlns:ahyp="http://schemas.microsoft.com/office/drawing/2018/hyperlinkcolor" val="tx"/>
                    </a:ext>
                  </a:extLst>
                </a:hlinkClick>
              </a:rPr>
              <a:t>Link to worksheet</a:t>
            </a:r>
            <a:endParaRPr lang="en-US" sz="1400" dirty="0"/>
          </a:p>
        </p:txBody>
      </p:sp>
      <p:sp>
        <p:nvSpPr>
          <p:cNvPr id="11" name="TextBox 10">
            <a:extLst>
              <a:ext uri="{FF2B5EF4-FFF2-40B4-BE49-F238E27FC236}">
                <a16:creationId xmlns:a16="http://schemas.microsoft.com/office/drawing/2014/main" id="{F676BA56-F654-E871-6D80-5871C51A2779}"/>
              </a:ext>
            </a:extLst>
          </p:cNvPr>
          <p:cNvSpPr txBox="1"/>
          <p:nvPr/>
        </p:nvSpPr>
        <p:spPr>
          <a:xfrm>
            <a:off x="609600" y="5713079"/>
            <a:ext cx="6096000" cy="430887"/>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000000"/>
                </a:solidFill>
                <a:effectLst/>
                <a:uLnTx/>
                <a:uFillTx/>
                <a:latin typeface="MarkOT-Medium"/>
                <a:ea typeface="+mn-ea"/>
                <a:cs typeface="+mn-cs"/>
              </a:rPr>
              <a:t>* Spend for NL - TRR has been recalculated, since data spans 2 quarters</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000000"/>
                </a:solidFill>
                <a:effectLst/>
                <a:uLnTx/>
                <a:uFillTx/>
                <a:latin typeface="MarkOT-Medium"/>
                <a:ea typeface="+mn-ea"/>
                <a:cs typeface="+mn-cs"/>
              </a:rPr>
              <a:t>* Budgets have been scaled up to account for missing/incomplete data</a:t>
            </a:r>
          </a:p>
        </p:txBody>
      </p:sp>
      <p:graphicFrame>
        <p:nvGraphicFramePr>
          <p:cNvPr id="3" name="Table 2">
            <a:extLst>
              <a:ext uri="{FF2B5EF4-FFF2-40B4-BE49-F238E27FC236}">
                <a16:creationId xmlns:a16="http://schemas.microsoft.com/office/drawing/2014/main" id="{61A94393-B307-0EC1-9A61-0528B736B2B1}"/>
              </a:ext>
            </a:extLst>
          </p:cNvPr>
          <p:cNvGraphicFramePr>
            <a:graphicFrameLocks noGrp="1"/>
          </p:cNvGraphicFramePr>
          <p:nvPr>
            <p:extLst>
              <p:ext uri="{D42A27DB-BD31-4B8C-83A1-F6EECF244321}">
                <p14:modId xmlns:p14="http://schemas.microsoft.com/office/powerpoint/2010/main" val="3290930912"/>
              </p:ext>
            </p:extLst>
          </p:nvPr>
        </p:nvGraphicFramePr>
        <p:xfrm>
          <a:off x="601980" y="1231004"/>
          <a:ext cx="6400799" cy="2324735"/>
        </p:xfrm>
        <a:graphic>
          <a:graphicData uri="http://schemas.openxmlformats.org/drawingml/2006/table">
            <a:tbl>
              <a:tblPr/>
              <a:tblGrid>
                <a:gridCol w="815996">
                  <a:extLst>
                    <a:ext uri="{9D8B030D-6E8A-4147-A177-3AD203B41FA5}">
                      <a16:colId xmlns:a16="http://schemas.microsoft.com/office/drawing/2014/main" val="237968890"/>
                    </a:ext>
                  </a:extLst>
                </a:gridCol>
                <a:gridCol w="794801">
                  <a:extLst>
                    <a:ext uri="{9D8B030D-6E8A-4147-A177-3AD203B41FA5}">
                      <a16:colId xmlns:a16="http://schemas.microsoft.com/office/drawing/2014/main" val="3296714294"/>
                    </a:ext>
                  </a:extLst>
                </a:gridCol>
                <a:gridCol w="1070332">
                  <a:extLst>
                    <a:ext uri="{9D8B030D-6E8A-4147-A177-3AD203B41FA5}">
                      <a16:colId xmlns:a16="http://schemas.microsoft.com/office/drawing/2014/main" val="620592495"/>
                    </a:ext>
                  </a:extLst>
                </a:gridCol>
                <a:gridCol w="900775">
                  <a:extLst>
                    <a:ext uri="{9D8B030D-6E8A-4147-A177-3AD203B41FA5}">
                      <a16:colId xmlns:a16="http://schemas.microsoft.com/office/drawing/2014/main" val="4209886720"/>
                    </a:ext>
                  </a:extLst>
                </a:gridCol>
                <a:gridCol w="1038540">
                  <a:extLst>
                    <a:ext uri="{9D8B030D-6E8A-4147-A177-3AD203B41FA5}">
                      <a16:colId xmlns:a16="http://schemas.microsoft.com/office/drawing/2014/main" val="2616247982"/>
                    </a:ext>
                  </a:extLst>
                </a:gridCol>
                <a:gridCol w="847788">
                  <a:extLst>
                    <a:ext uri="{9D8B030D-6E8A-4147-A177-3AD203B41FA5}">
                      <a16:colId xmlns:a16="http://schemas.microsoft.com/office/drawing/2014/main" val="4055528193"/>
                    </a:ext>
                  </a:extLst>
                </a:gridCol>
                <a:gridCol w="932567">
                  <a:extLst>
                    <a:ext uri="{9D8B030D-6E8A-4147-A177-3AD203B41FA5}">
                      <a16:colId xmlns:a16="http://schemas.microsoft.com/office/drawing/2014/main" val="3305393638"/>
                    </a:ext>
                  </a:extLst>
                </a:gridCol>
              </a:tblGrid>
              <a:tr h="180975">
                <a:tc rowSpan="2" gridSpan="2">
                  <a:txBody>
                    <a:bodyPr/>
                    <a:lstStyle/>
                    <a:p>
                      <a:pPr algn="l" fontAlgn="ctr">
                        <a:buNone/>
                      </a:pPr>
                      <a:r>
                        <a:rPr lang="en-US" sz="1100" b="1" i="0" u="none" strike="noStrike" dirty="0">
                          <a:solidFill>
                            <a:srgbClr val="000000"/>
                          </a:solidFill>
                          <a:effectLst/>
                          <a:latin typeface="Aptos Narrow" panose="020B0004020202020204" pitchFamily="34" charset="0"/>
                        </a:rPr>
                        <a:t>2026 PDM Budget Input</a:t>
                      </a:r>
                    </a:p>
                  </a:txBody>
                  <a:tcPr marL="6350" marR="6350" marT="6350"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rgbClr val="E8E8E8"/>
                    </a:solidFill>
                  </a:tcPr>
                </a:tc>
                <a:tc rowSpan="2" hMerge="1">
                  <a:txBody>
                    <a:bodyPr/>
                    <a:lstStyle/>
                    <a:p>
                      <a:endParaRPr lang="en-US"/>
                    </a:p>
                  </a:txBody>
                  <a:tcPr/>
                </a:tc>
                <a:tc rowSpan="2">
                  <a:txBody>
                    <a:bodyPr/>
                    <a:lstStyle/>
                    <a:p>
                      <a:pPr algn="ctr" fontAlgn="ctr">
                        <a:buNone/>
                      </a:pPr>
                      <a:r>
                        <a:rPr lang="en-US" sz="1100" b="0" i="0" u="none" strike="noStrike" dirty="0">
                          <a:solidFill>
                            <a:srgbClr val="000000"/>
                          </a:solidFill>
                          <a:effectLst/>
                          <a:latin typeface="Aptos Narrow" panose="020B0004020202020204" pitchFamily="34" charset="0"/>
                        </a:rPr>
                        <a:t>$636,000</a:t>
                      </a:r>
                    </a:p>
                  </a:txBody>
                  <a:tcPr marL="6350" marR="6350" marT="6350"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noFill/>
                  </a:tcPr>
                </a:tc>
                <a:tc>
                  <a:txBody>
                    <a:bodyPr/>
                    <a:lstStyle/>
                    <a:p>
                      <a:pPr algn="l" fontAlgn="b">
                        <a:buNone/>
                      </a:pPr>
                      <a:endParaRPr lang="en-US" sz="1100" b="0" i="0" u="none" strike="noStrike">
                        <a:solidFill>
                          <a:srgbClr val="000000"/>
                        </a:solidFill>
                        <a:effectLst/>
                        <a:latin typeface="Aptos Narrow" panose="020B0004020202020204" pitchFamily="34" charset="0"/>
                      </a:endParaRPr>
                    </a:p>
                  </a:txBody>
                  <a:tcPr marL="6350" marR="6350" marT="6350" anchor="b">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a:noFill/>
                    </a:lnT>
                    <a:lnB>
                      <a:noFill/>
                    </a:lnB>
                    <a:solidFill>
                      <a:srgbClr val="FFFFFF"/>
                    </a:solidFill>
                  </a:tcPr>
                </a:tc>
                <a:tc gridSpan="2">
                  <a:txBody>
                    <a:bodyPr/>
                    <a:lstStyle/>
                    <a:p>
                      <a:pPr algn="l" fontAlgn="b">
                        <a:buNone/>
                      </a:pPr>
                      <a:r>
                        <a:rPr lang="en-US" sz="1100" b="0" i="0" u="none" strike="noStrike" dirty="0">
                          <a:solidFill>
                            <a:srgbClr val="000000"/>
                          </a:solidFill>
                          <a:effectLst/>
                          <a:latin typeface="Aptos Narrow" panose="020B0004020202020204" pitchFamily="34" charset="0"/>
                        </a:rPr>
                        <a:t>2-Year Actual Past Budget</a:t>
                      </a:r>
                    </a:p>
                  </a:txBody>
                  <a:tcPr marL="6350" marR="6350" marT="6350" anchor="b">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rgbClr val="E8E8E8"/>
                    </a:solidFill>
                  </a:tcPr>
                </a:tc>
                <a:tc hMerge="1">
                  <a:txBody>
                    <a:bodyPr/>
                    <a:lstStyle/>
                    <a:p>
                      <a:endParaRPr lang="en-US"/>
                    </a:p>
                  </a:txBody>
                  <a:tcPr/>
                </a:tc>
                <a:tc>
                  <a:txBody>
                    <a:bodyPr/>
                    <a:lstStyle/>
                    <a:p>
                      <a:pPr algn="r" fontAlgn="b">
                        <a:buNone/>
                      </a:pPr>
                      <a:r>
                        <a:rPr lang="en-US" sz="1100" b="0" i="0" u="none" strike="noStrike">
                          <a:solidFill>
                            <a:srgbClr val="000000"/>
                          </a:solidFill>
                          <a:effectLst/>
                          <a:latin typeface="Aptos Narrow" panose="020B0004020202020204" pitchFamily="34" charset="0"/>
                        </a:rPr>
                        <a:t>$900,000</a:t>
                      </a:r>
                    </a:p>
                  </a:txBody>
                  <a:tcPr marL="6350" marR="6350" marT="6350" anchor="b">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noFill/>
                  </a:tcPr>
                </a:tc>
                <a:extLst>
                  <a:ext uri="{0D108BD9-81ED-4DB2-BD59-A6C34878D82A}">
                    <a16:rowId xmlns:a16="http://schemas.microsoft.com/office/drawing/2014/main" val="3028927735"/>
                  </a:ext>
                </a:extLst>
              </a:tr>
              <a:tr h="180975">
                <a:tc gridSpan="2" vMerge="1">
                  <a:txBody>
                    <a:bodyPr/>
                    <a:lstStyle/>
                    <a:p>
                      <a:endParaRPr lang="en-US"/>
                    </a:p>
                  </a:txBody>
                  <a:tcPr/>
                </a:tc>
                <a:tc hMerge="1" vMerge="1">
                  <a:txBody>
                    <a:bodyPr/>
                    <a:lstStyle/>
                    <a:p>
                      <a:endParaRPr lang="en-US"/>
                    </a:p>
                  </a:txBody>
                  <a:tcPr/>
                </a:tc>
                <a:tc vMerge="1">
                  <a:txBody>
                    <a:bodyPr/>
                    <a:lstStyle/>
                    <a:p>
                      <a:endParaRPr lang="en-US"/>
                    </a:p>
                  </a:txBody>
                  <a:tcPr/>
                </a:tc>
                <a:tc>
                  <a:txBody>
                    <a:bodyPr/>
                    <a:lstStyle/>
                    <a:p>
                      <a:pPr algn="l" fontAlgn="b">
                        <a:buNone/>
                      </a:pPr>
                      <a:endParaRPr lang="en-US" sz="1100" b="0" i="0" u="none" strike="noStrike">
                        <a:solidFill>
                          <a:srgbClr val="000000"/>
                        </a:solidFill>
                        <a:effectLst/>
                        <a:latin typeface="Aptos Narrow" panose="020B0004020202020204" pitchFamily="34" charset="0"/>
                      </a:endParaRPr>
                    </a:p>
                  </a:txBody>
                  <a:tcPr marL="6350" marR="6350" marT="6350" anchor="b">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a:noFill/>
                    </a:lnT>
                    <a:lnB>
                      <a:noFill/>
                    </a:lnB>
                    <a:solidFill>
                      <a:srgbClr val="FFFFFF"/>
                    </a:solidFill>
                  </a:tcPr>
                </a:tc>
                <a:tc gridSpan="2">
                  <a:txBody>
                    <a:bodyPr/>
                    <a:lstStyle/>
                    <a:p>
                      <a:pPr algn="l" fontAlgn="b">
                        <a:buNone/>
                      </a:pPr>
                      <a:r>
                        <a:rPr lang="en-US" sz="1100" b="0" i="0" u="none" strike="noStrike" dirty="0">
                          <a:solidFill>
                            <a:srgbClr val="000000"/>
                          </a:solidFill>
                          <a:effectLst/>
                          <a:latin typeface="Aptos Narrow" panose="020B0004020202020204" pitchFamily="34" charset="0"/>
                        </a:rPr>
                        <a:t>Weeks</a:t>
                      </a:r>
                    </a:p>
                  </a:txBody>
                  <a:tcPr marL="6350" marR="6350" marT="6350" anchor="b">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rgbClr val="E8E8E8"/>
                    </a:solidFill>
                  </a:tcPr>
                </a:tc>
                <a:tc hMerge="1">
                  <a:txBody>
                    <a:bodyPr/>
                    <a:lstStyle/>
                    <a:p>
                      <a:endParaRPr lang="en-US"/>
                    </a:p>
                  </a:txBody>
                  <a:tcPr/>
                </a:tc>
                <a:tc>
                  <a:txBody>
                    <a:bodyPr/>
                    <a:lstStyle/>
                    <a:p>
                      <a:pPr algn="r" fontAlgn="b">
                        <a:buNone/>
                      </a:pPr>
                      <a:r>
                        <a:rPr lang="en-US" sz="1100" b="0" i="0" u="none" strike="noStrike" dirty="0">
                          <a:solidFill>
                            <a:srgbClr val="000000"/>
                          </a:solidFill>
                          <a:effectLst/>
                          <a:latin typeface="Aptos Narrow" panose="020B0004020202020204" pitchFamily="34" charset="0"/>
                        </a:rPr>
                        <a:t>52</a:t>
                      </a:r>
                    </a:p>
                  </a:txBody>
                  <a:tcPr marL="6350" marR="6350" marT="6350" anchor="b">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noFill/>
                  </a:tcPr>
                </a:tc>
                <a:extLst>
                  <a:ext uri="{0D108BD9-81ED-4DB2-BD59-A6C34878D82A}">
                    <a16:rowId xmlns:a16="http://schemas.microsoft.com/office/drawing/2014/main" val="4233128614"/>
                  </a:ext>
                </a:extLst>
              </a:tr>
              <a:tr h="190500">
                <a:tc>
                  <a:txBody>
                    <a:bodyPr/>
                    <a:lstStyle/>
                    <a:p>
                      <a:pPr algn="l" fontAlgn="b">
                        <a:buNone/>
                      </a:pPr>
                      <a:endParaRPr lang="en-US" sz="1100" b="0" i="0" u="none" strike="noStrike">
                        <a:solidFill>
                          <a:srgbClr val="000000"/>
                        </a:solidFill>
                        <a:effectLst/>
                        <a:latin typeface="Aptos Narrow" panose="020B0004020202020204" pitchFamily="34" charset="0"/>
                      </a:endParaRPr>
                    </a:p>
                  </a:txBody>
                  <a:tcPr marL="6350" marR="6350" marT="6350" anchor="b">
                    <a:lnL>
                      <a:noFill/>
                    </a:lnL>
                    <a:lnR>
                      <a:noFill/>
                    </a:lnR>
                    <a:lnT w="12700" cap="flat" cmpd="sng" algn="ctr">
                      <a:solidFill>
                        <a:schemeClr val="tx2"/>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buNone/>
                      </a:pPr>
                      <a:endParaRPr lang="en-US" sz="1100" b="0" i="0" u="none" strike="noStrike">
                        <a:solidFill>
                          <a:srgbClr val="000000"/>
                        </a:solidFill>
                        <a:effectLst/>
                        <a:latin typeface="Aptos Narrow" panose="020B0004020202020204" pitchFamily="34" charset="0"/>
                      </a:endParaRPr>
                    </a:p>
                  </a:txBody>
                  <a:tcPr marL="6350" marR="6350" marT="6350" anchor="b">
                    <a:lnL>
                      <a:noFill/>
                    </a:lnL>
                    <a:lnR>
                      <a:noFill/>
                    </a:lnR>
                    <a:lnT w="12700" cap="flat" cmpd="sng" algn="ctr">
                      <a:solidFill>
                        <a:schemeClr val="tx2"/>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buNone/>
                      </a:pPr>
                      <a:endParaRPr lang="en-US" sz="1100" b="0" i="0" u="none" strike="noStrike">
                        <a:solidFill>
                          <a:srgbClr val="000000"/>
                        </a:solidFill>
                        <a:effectLst/>
                        <a:latin typeface="Aptos Narrow" panose="020B0004020202020204" pitchFamily="34" charset="0"/>
                      </a:endParaRPr>
                    </a:p>
                  </a:txBody>
                  <a:tcPr marL="6350" marR="6350" marT="6350" anchor="b">
                    <a:lnL>
                      <a:noFill/>
                    </a:lnL>
                    <a:lnR>
                      <a:noFill/>
                    </a:lnR>
                    <a:lnT w="12700" cap="flat" cmpd="sng" algn="ctr">
                      <a:solidFill>
                        <a:schemeClr val="tx2"/>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l" fontAlgn="b">
                        <a:buNone/>
                      </a:pPr>
                      <a:endParaRPr lang="en-US" sz="1100" b="0" i="0" u="none" strike="noStrike">
                        <a:solidFill>
                          <a:srgbClr val="000000"/>
                        </a:solidFill>
                        <a:effectLst/>
                        <a:latin typeface="Aptos Narrow" panose="020B0004020202020204" pitchFamily="34" charset="0"/>
                      </a:endParaRPr>
                    </a:p>
                  </a:txBody>
                  <a:tcPr marL="6350" marR="6350" marT="6350" anchor="b">
                    <a:lnL>
                      <a:noFill/>
                    </a:lnL>
                    <a:lnR>
                      <a:noFill/>
                    </a:lnR>
                    <a:lnT>
                      <a:noFill/>
                    </a:lnT>
                    <a:lnB w="12700" cap="flat" cmpd="sng" algn="ctr">
                      <a:solidFill>
                        <a:srgbClr val="000000"/>
                      </a:solidFill>
                      <a:prstDash val="solid"/>
                      <a:round/>
                      <a:headEnd type="none" w="med" len="med"/>
                      <a:tailEnd type="none" w="med" len="med"/>
                    </a:lnB>
                    <a:solidFill>
                      <a:srgbClr val="FFFFFF"/>
                    </a:solidFill>
                  </a:tcPr>
                </a:tc>
                <a:tc>
                  <a:txBody>
                    <a:bodyPr/>
                    <a:lstStyle/>
                    <a:p>
                      <a:pPr algn="l" fontAlgn="b">
                        <a:buNone/>
                      </a:pPr>
                      <a:endParaRPr lang="en-US" sz="1100" b="0" i="0" u="none" strike="noStrike">
                        <a:solidFill>
                          <a:srgbClr val="000000"/>
                        </a:solidFill>
                        <a:effectLst/>
                        <a:latin typeface="Aptos Narrow" panose="020B0004020202020204" pitchFamily="34" charset="0"/>
                      </a:endParaRPr>
                    </a:p>
                  </a:txBody>
                  <a:tcPr marL="6350" marR="6350" marT="6350" anchor="b">
                    <a:lnL>
                      <a:noFill/>
                    </a:lnL>
                    <a:lnR>
                      <a:noFill/>
                    </a:lnR>
                    <a:lnT w="12700" cap="flat" cmpd="sng" algn="ctr">
                      <a:solidFill>
                        <a:schemeClr val="tx2"/>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l" fontAlgn="b">
                        <a:buNone/>
                      </a:pPr>
                      <a:endParaRPr lang="en-US" sz="1100" b="0" i="0" u="none" strike="noStrike">
                        <a:solidFill>
                          <a:srgbClr val="000000"/>
                        </a:solidFill>
                        <a:effectLst/>
                        <a:latin typeface="Aptos Narrow" panose="020B0004020202020204" pitchFamily="34" charset="0"/>
                      </a:endParaRPr>
                    </a:p>
                  </a:txBody>
                  <a:tcPr marL="6350" marR="6350" marT="6350" anchor="b">
                    <a:lnL>
                      <a:noFill/>
                    </a:lnL>
                    <a:lnR>
                      <a:noFill/>
                    </a:lnR>
                    <a:lnT w="12700" cap="flat" cmpd="sng" algn="ctr">
                      <a:solidFill>
                        <a:schemeClr val="tx2"/>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l" fontAlgn="b">
                        <a:buNone/>
                      </a:pPr>
                      <a:endParaRPr lang="en-US" sz="1100" b="0" i="0" u="none" strike="noStrike">
                        <a:solidFill>
                          <a:srgbClr val="000000"/>
                        </a:solidFill>
                        <a:effectLst/>
                        <a:latin typeface="Aptos Narrow" panose="020B0004020202020204" pitchFamily="34" charset="0"/>
                      </a:endParaRPr>
                    </a:p>
                  </a:txBody>
                  <a:tcPr marL="6350" marR="6350" marT="6350" anchor="b">
                    <a:lnL>
                      <a:noFill/>
                    </a:lnL>
                    <a:lnR>
                      <a:noFill/>
                    </a:lnR>
                    <a:lnT w="12700" cap="flat" cmpd="sng" algn="ctr">
                      <a:solidFill>
                        <a:schemeClr val="tx2"/>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2216570451"/>
                  </a:ext>
                </a:extLst>
              </a:tr>
              <a:tr h="552450">
                <a:tc>
                  <a:txBody>
                    <a:bodyPr/>
                    <a:lstStyle/>
                    <a:p>
                      <a:pPr algn="ctr" fontAlgn="ctr">
                        <a:buNone/>
                      </a:pPr>
                      <a:r>
                        <a:rPr lang="en-US" sz="1100" b="0" i="0" u="none" strike="noStrike">
                          <a:solidFill>
                            <a:srgbClr val="000000"/>
                          </a:solidFill>
                          <a:effectLst/>
                          <a:latin typeface="Aptos Narrow" panose="020B0004020202020204" pitchFamily="34" charset="0"/>
                        </a:rPr>
                        <a:t>Location Bucket</a:t>
                      </a:r>
                    </a:p>
                  </a:txBody>
                  <a:tcPr marL="6350" marR="6350" marT="635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0E4F5"/>
                    </a:solidFill>
                  </a:tcPr>
                </a:tc>
                <a:tc>
                  <a:txBody>
                    <a:bodyPr/>
                    <a:lstStyle/>
                    <a:p>
                      <a:pPr algn="ctr" fontAlgn="ctr">
                        <a:buNone/>
                      </a:pPr>
                      <a:r>
                        <a:rPr lang="en-US" sz="1100" b="0" i="0" u="none" strike="noStrike" dirty="0">
                          <a:solidFill>
                            <a:srgbClr val="000000"/>
                          </a:solidFill>
                          <a:effectLst/>
                          <a:latin typeface="Aptos Narrow" panose="020B0004020202020204" pitchFamily="34" charset="0"/>
                        </a:rPr>
                        <a:t>Contribution to Revenue (all factors)</a:t>
                      </a:r>
                    </a:p>
                  </a:txBody>
                  <a:tcPr marL="6350" marR="6350" marT="635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0E4F5"/>
                    </a:solidFill>
                  </a:tcPr>
                </a:tc>
                <a:tc>
                  <a:txBody>
                    <a:bodyPr/>
                    <a:lstStyle/>
                    <a:p>
                      <a:pPr algn="ctr" fontAlgn="ctr">
                        <a:buNone/>
                      </a:pPr>
                      <a:r>
                        <a:rPr lang="en-US" sz="1100" b="0" i="0" u="none" strike="noStrike" dirty="0">
                          <a:solidFill>
                            <a:srgbClr val="000000"/>
                          </a:solidFill>
                          <a:effectLst/>
                          <a:latin typeface="Aptos Narrow" panose="020B0004020202020204" pitchFamily="34" charset="0"/>
                        </a:rPr>
                        <a:t>Contribution to Revenue (internal factors only)</a:t>
                      </a:r>
                    </a:p>
                  </a:txBody>
                  <a:tcPr marL="6350" marR="6350" marT="635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0E4F5"/>
                    </a:solidFill>
                  </a:tcPr>
                </a:tc>
                <a:tc>
                  <a:txBody>
                    <a:bodyPr/>
                    <a:lstStyle/>
                    <a:p>
                      <a:pPr algn="ctr" fontAlgn="ctr">
                        <a:buNone/>
                      </a:pPr>
                      <a:r>
                        <a:rPr lang="en-US" sz="1100" b="0" i="0" u="none" strike="noStrike">
                          <a:solidFill>
                            <a:srgbClr val="000000"/>
                          </a:solidFill>
                          <a:effectLst/>
                          <a:latin typeface="Aptos Narrow" panose="020B0004020202020204" pitchFamily="34" charset="0"/>
                        </a:rPr>
                        <a:t>Spend Proportion (trailing 2 years)</a:t>
                      </a:r>
                    </a:p>
                  </a:txBody>
                  <a:tcPr marL="6350" marR="6350" marT="635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0E4F5"/>
                    </a:solidFill>
                  </a:tcPr>
                </a:tc>
                <a:tc>
                  <a:txBody>
                    <a:bodyPr/>
                    <a:lstStyle/>
                    <a:p>
                      <a:pPr algn="ctr" fontAlgn="ctr">
                        <a:buNone/>
                      </a:pPr>
                      <a:r>
                        <a:rPr lang="en-US" sz="1100" b="0" i="0" u="none" strike="noStrike">
                          <a:solidFill>
                            <a:srgbClr val="000000"/>
                          </a:solidFill>
                          <a:effectLst/>
                          <a:latin typeface="Aptos Narrow" panose="020B0004020202020204" pitchFamily="34" charset="0"/>
                        </a:rPr>
                        <a:t>Actual Yearly Spend (trailing 2-year avg.)</a:t>
                      </a:r>
                    </a:p>
                  </a:txBody>
                  <a:tcPr marL="6350" marR="6350" marT="635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0E4F5"/>
                    </a:solidFill>
                  </a:tcPr>
                </a:tc>
                <a:tc>
                  <a:txBody>
                    <a:bodyPr/>
                    <a:lstStyle/>
                    <a:p>
                      <a:pPr algn="ctr" fontAlgn="ctr">
                        <a:buNone/>
                      </a:pPr>
                      <a:r>
                        <a:rPr lang="en-US" sz="1100" b="0" i="0" u="none" strike="noStrike" dirty="0">
                          <a:solidFill>
                            <a:srgbClr val="000000"/>
                          </a:solidFill>
                          <a:effectLst/>
                          <a:latin typeface="Aptos Narrow" panose="020B0004020202020204" pitchFamily="34" charset="0"/>
                        </a:rPr>
                        <a:t>Model-based 2026 Allocation</a:t>
                      </a:r>
                    </a:p>
                  </a:txBody>
                  <a:tcPr marL="6350" marR="6350" marT="635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0E4F5"/>
                    </a:solidFill>
                  </a:tcPr>
                </a:tc>
                <a:tc>
                  <a:txBody>
                    <a:bodyPr/>
                    <a:lstStyle/>
                    <a:p>
                      <a:pPr algn="ctr" fontAlgn="ctr">
                        <a:buNone/>
                      </a:pPr>
                      <a:r>
                        <a:rPr lang="en-US" sz="1100" b="0" i="0" u="none" strike="noStrike">
                          <a:solidFill>
                            <a:srgbClr val="000000"/>
                          </a:solidFill>
                          <a:effectLst/>
                          <a:latin typeface="Aptos Narrow" panose="020B0004020202020204" pitchFamily="34" charset="0"/>
                        </a:rPr>
                        <a:t>Model-based 2026 Allocation / week</a:t>
                      </a:r>
                    </a:p>
                  </a:txBody>
                  <a:tcPr marL="6350" marR="6350" marT="635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0E4F5"/>
                    </a:solidFill>
                  </a:tcPr>
                </a:tc>
                <a:extLst>
                  <a:ext uri="{0D108BD9-81ED-4DB2-BD59-A6C34878D82A}">
                    <a16:rowId xmlns:a16="http://schemas.microsoft.com/office/drawing/2014/main" val="1810537410"/>
                  </a:ext>
                </a:extLst>
              </a:tr>
              <a:tr h="314325">
                <a:tc>
                  <a:txBody>
                    <a:bodyPr/>
                    <a:lstStyle/>
                    <a:p>
                      <a:pPr algn="l" fontAlgn="ctr">
                        <a:buNone/>
                      </a:pPr>
                      <a:r>
                        <a:rPr lang="en-US" sz="1100" b="0" i="0" u="none" strike="noStrike">
                          <a:solidFill>
                            <a:srgbClr val="000000"/>
                          </a:solidFill>
                          <a:effectLst/>
                          <a:latin typeface="Aptos Narrow" panose="020B0004020202020204" pitchFamily="34" charset="0"/>
                        </a:rPr>
                        <a:t>NL - PDM</a:t>
                      </a:r>
                    </a:p>
                  </a:txBody>
                  <a:tcPr marL="6350" marR="6350" marT="635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en-US" sz="1100" b="0" i="0" u="none" strike="noStrike">
                          <a:solidFill>
                            <a:srgbClr val="000000"/>
                          </a:solidFill>
                          <a:effectLst/>
                          <a:latin typeface="Aptos Narrow" panose="020B0004020202020204" pitchFamily="34" charset="0"/>
                        </a:rPr>
                        <a:t>0.5%</a:t>
                      </a:r>
                    </a:p>
                  </a:txBody>
                  <a:tcPr marL="6350" marR="6350" marT="635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en-US" sz="1100" b="0" i="0" u="none" strike="noStrike">
                          <a:solidFill>
                            <a:srgbClr val="000000"/>
                          </a:solidFill>
                          <a:effectLst/>
                          <a:latin typeface="Aptos Narrow" panose="020B0004020202020204" pitchFamily="34" charset="0"/>
                        </a:rPr>
                        <a:t>19.2%</a:t>
                      </a:r>
                    </a:p>
                  </a:txBody>
                  <a:tcPr marL="6350" marR="6350" marT="635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CFCFF"/>
                    </a:solidFill>
                  </a:tcPr>
                </a:tc>
                <a:tc>
                  <a:txBody>
                    <a:bodyPr/>
                    <a:lstStyle/>
                    <a:p>
                      <a:pPr algn="r" fontAlgn="ctr">
                        <a:buNone/>
                      </a:pPr>
                      <a:r>
                        <a:rPr lang="en-US" sz="1100" b="0" i="0" u="none" strike="noStrike">
                          <a:solidFill>
                            <a:srgbClr val="000000"/>
                          </a:solidFill>
                          <a:effectLst/>
                          <a:latin typeface="Aptos Narrow" panose="020B0004020202020204" pitchFamily="34" charset="0"/>
                        </a:rPr>
                        <a:t>43.9%</a:t>
                      </a:r>
                    </a:p>
                  </a:txBody>
                  <a:tcPr marL="6350" marR="6350" marT="635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CFCFF"/>
                    </a:solidFill>
                  </a:tcPr>
                </a:tc>
                <a:tc>
                  <a:txBody>
                    <a:bodyPr/>
                    <a:lstStyle/>
                    <a:p>
                      <a:pPr algn="r" fontAlgn="ctr">
                        <a:buNone/>
                      </a:pPr>
                      <a:r>
                        <a:rPr lang="en-US" sz="1100" b="0" i="0" u="none" strike="noStrike">
                          <a:solidFill>
                            <a:srgbClr val="000000"/>
                          </a:solidFill>
                          <a:effectLst/>
                          <a:latin typeface="Aptos Narrow" panose="020B0004020202020204" pitchFamily="34" charset="0"/>
                        </a:rPr>
                        <a:t>$192,879</a:t>
                      </a:r>
                    </a:p>
                  </a:txBody>
                  <a:tcPr marL="6350" marR="6350" marT="635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en-US" sz="1100" b="0" i="0" u="none" strike="noStrike">
                          <a:solidFill>
                            <a:srgbClr val="000000"/>
                          </a:solidFill>
                          <a:effectLst/>
                          <a:latin typeface="Aptos Narrow" panose="020B0004020202020204" pitchFamily="34" charset="0"/>
                        </a:rPr>
                        <a:t>$122,308</a:t>
                      </a:r>
                    </a:p>
                  </a:txBody>
                  <a:tcPr marL="6350" marR="6350" marT="635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en-US" sz="1100" b="0" i="0" u="none" strike="noStrike">
                          <a:solidFill>
                            <a:srgbClr val="000000"/>
                          </a:solidFill>
                          <a:effectLst/>
                          <a:latin typeface="Aptos Narrow" panose="020B0004020202020204" pitchFamily="34" charset="0"/>
                        </a:rPr>
                        <a:t>$2,352</a:t>
                      </a:r>
                    </a:p>
                  </a:txBody>
                  <a:tcPr marL="6350" marR="6350" marT="635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87075495"/>
                  </a:ext>
                </a:extLst>
              </a:tr>
              <a:tr h="314325">
                <a:tc>
                  <a:txBody>
                    <a:bodyPr/>
                    <a:lstStyle/>
                    <a:p>
                      <a:pPr algn="l" fontAlgn="ctr">
                        <a:buNone/>
                      </a:pPr>
                      <a:r>
                        <a:rPr lang="en-US" sz="1100" b="0" i="0" u="none" strike="noStrike">
                          <a:solidFill>
                            <a:srgbClr val="000000"/>
                          </a:solidFill>
                          <a:effectLst/>
                          <a:latin typeface="Aptos Narrow" panose="020B0004020202020204" pitchFamily="34" charset="0"/>
                        </a:rPr>
                        <a:t>PDM</a:t>
                      </a:r>
                    </a:p>
                  </a:txBody>
                  <a:tcPr marL="6350" marR="6350" marT="635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en-US" sz="1100" b="0" i="0" u="none" strike="noStrike">
                          <a:solidFill>
                            <a:srgbClr val="000000"/>
                          </a:solidFill>
                          <a:effectLst/>
                          <a:latin typeface="Aptos Narrow" panose="020B0004020202020204" pitchFamily="34" charset="0"/>
                        </a:rPr>
                        <a:t>2.1%</a:t>
                      </a:r>
                    </a:p>
                  </a:txBody>
                  <a:tcPr marL="6350" marR="6350" marT="635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en-US" sz="1100" b="0" i="0" u="none" strike="noStrike">
                          <a:solidFill>
                            <a:srgbClr val="000000"/>
                          </a:solidFill>
                          <a:effectLst/>
                          <a:latin typeface="Aptos Narrow" panose="020B0004020202020204" pitchFamily="34" charset="0"/>
                        </a:rPr>
                        <a:t>80.8%</a:t>
                      </a:r>
                    </a:p>
                  </a:txBody>
                  <a:tcPr marL="6350" marR="6350" marT="635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63BE7B"/>
                    </a:solidFill>
                  </a:tcPr>
                </a:tc>
                <a:tc>
                  <a:txBody>
                    <a:bodyPr/>
                    <a:lstStyle/>
                    <a:p>
                      <a:pPr algn="r" fontAlgn="ctr">
                        <a:buNone/>
                      </a:pPr>
                      <a:r>
                        <a:rPr lang="en-US" sz="1100" b="0" i="0" u="none" strike="noStrike">
                          <a:solidFill>
                            <a:srgbClr val="000000"/>
                          </a:solidFill>
                          <a:effectLst/>
                          <a:latin typeface="Aptos Narrow" panose="020B0004020202020204" pitchFamily="34" charset="0"/>
                        </a:rPr>
                        <a:t>56.1%</a:t>
                      </a:r>
                    </a:p>
                  </a:txBody>
                  <a:tcPr marL="6350" marR="6350" marT="635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63BE7B"/>
                    </a:solidFill>
                  </a:tcPr>
                </a:tc>
                <a:tc>
                  <a:txBody>
                    <a:bodyPr/>
                    <a:lstStyle/>
                    <a:p>
                      <a:pPr algn="r" fontAlgn="ctr">
                        <a:buNone/>
                      </a:pPr>
                      <a:r>
                        <a:rPr lang="en-US" sz="1100" b="0" i="0" u="none" strike="noStrike">
                          <a:solidFill>
                            <a:srgbClr val="000000"/>
                          </a:solidFill>
                          <a:effectLst/>
                          <a:latin typeface="Aptos Narrow" panose="020B0004020202020204" pitchFamily="34" charset="0"/>
                        </a:rPr>
                        <a:t>$246,586</a:t>
                      </a:r>
                    </a:p>
                  </a:txBody>
                  <a:tcPr marL="6350" marR="6350" marT="635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en-US" sz="1100" b="0" i="0" u="none" strike="noStrike">
                          <a:solidFill>
                            <a:srgbClr val="000000"/>
                          </a:solidFill>
                          <a:effectLst/>
                          <a:latin typeface="Aptos Narrow" panose="020B0004020202020204" pitchFamily="34" charset="0"/>
                        </a:rPr>
                        <a:t>$513,692</a:t>
                      </a:r>
                    </a:p>
                  </a:txBody>
                  <a:tcPr marL="6350" marR="6350" marT="635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en-US" sz="1100" b="0" i="0" u="none" strike="noStrike">
                          <a:solidFill>
                            <a:srgbClr val="000000"/>
                          </a:solidFill>
                          <a:effectLst/>
                          <a:latin typeface="Aptos Narrow" panose="020B0004020202020204" pitchFamily="34" charset="0"/>
                        </a:rPr>
                        <a:t>$9,879</a:t>
                      </a:r>
                    </a:p>
                  </a:txBody>
                  <a:tcPr marL="6350" marR="6350" marT="635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970293933"/>
                  </a:ext>
                </a:extLst>
              </a:tr>
              <a:tr h="314325">
                <a:tc>
                  <a:txBody>
                    <a:bodyPr/>
                    <a:lstStyle/>
                    <a:p>
                      <a:pPr algn="l" fontAlgn="ctr">
                        <a:buNone/>
                      </a:pPr>
                      <a:r>
                        <a:rPr lang="en-US" sz="1100" b="0" i="0" u="none" strike="noStrike">
                          <a:solidFill>
                            <a:srgbClr val="000000"/>
                          </a:solidFill>
                          <a:effectLst/>
                          <a:latin typeface="Aptos Narrow" panose="020B0004020202020204" pitchFamily="34" charset="0"/>
                        </a:rPr>
                        <a:t>Total</a:t>
                      </a:r>
                    </a:p>
                  </a:txBody>
                  <a:tcPr marL="6350" marR="6350" marT="635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8E8E8"/>
                    </a:solidFill>
                  </a:tcPr>
                </a:tc>
                <a:tc>
                  <a:txBody>
                    <a:bodyPr/>
                    <a:lstStyle/>
                    <a:p>
                      <a:pPr algn="r" fontAlgn="ctr">
                        <a:buNone/>
                      </a:pPr>
                      <a:r>
                        <a:rPr lang="en-US" sz="1100" b="0" i="0" u="none" strike="noStrike">
                          <a:solidFill>
                            <a:srgbClr val="000000"/>
                          </a:solidFill>
                          <a:effectLst/>
                          <a:latin typeface="Aptos Narrow" panose="020B0004020202020204" pitchFamily="34" charset="0"/>
                        </a:rPr>
                        <a:t>2.6%</a:t>
                      </a:r>
                    </a:p>
                  </a:txBody>
                  <a:tcPr marL="6350" marR="6350" marT="635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8E8E8"/>
                    </a:solidFill>
                  </a:tcPr>
                </a:tc>
                <a:tc>
                  <a:txBody>
                    <a:bodyPr/>
                    <a:lstStyle/>
                    <a:p>
                      <a:pPr algn="r" fontAlgn="ctr">
                        <a:buNone/>
                      </a:pPr>
                      <a:r>
                        <a:rPr lang="en-US" sz="1100" b="0" i="0" u="none" strike="noStrike">
                          <a:solidFill>
                            <a:srgbClr val="000000"/>
                          </a:solidFill>
                          <a:effectLst/>
                          <a:latin typeface="Aptos Narrow" panose="020B0004020202020204" pitchFamily="34" charset="0"/>
                        </a:rPr>
                        <a:t>100.0%</a:t>
                      </a:r>
                    </a:p>
                  </a:txBody>
                  <a:tcPr marL="6350" marR="6350" marT="635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8E8E8"/>
                    </a:solidFill>
                  </a:tcPr>
                </a:tc>
                <a:tc>
                  <a:txBody>
                    <a:bodyPr/>
                    <a:lstStyle/>
                    <a:p>
                      <a:pPr algn="r" fontAlgn="ctr">
                        <a:buNone/>
                      </a:pPr>
                      <a:r>
                        <a:rPr lang="en-US" sz="1100" b="0" i="0" u="none" strike="noStrike">
                          <a:solidFill>
                            <a:srgbClr val="000000"/>
                          </a:solidFill>
                          <a:effectLst/>
                          <a:latin typeface="Aptos Narrow" panose="020B0004020202020204" pitchFamily="34" charset="0"/>
                        </a:rPr>
                        <a:t>100.0%</a:t>
                      </a:r>
                    </a:p>
                  </a:txBody>
                  <a:tcPr marL="6350" marR="6350" marT="635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8E8E8"/>
                    </a:solidFill>
                  </a:tcPr>
                </a:tc>
                <a:tc>
                  <a:txBody>
                    <a:bodyPr/>
                    <a:lstStyle/>
                    <a:p>
                      <a:pPr algn="r" fontAlgn="ctr">
                        <a:buNone/>
                      </a:pPr>
                      <a:r>
                        <a:rPr lang="en-US" sz="1100" b="0" i="0" u="none" strike="noStrike">
                          <a:solidFill>
                            <a:srgbClr val="000000"/>
                          </a:solidFill>
                          <a:effectLst/>
                          <a:latin typeface="Aptos Narrow" panose="020B0004020202020204" pitchFamily="34" charset="0"/>
                        </a:rPr>
                        <a:t>$439,465</a:t>
                      </a:r>
                    </a:p>
                  </a:txBody>
                  <a:tcPr marL="6350" marR="6350" marT="635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8E8E8"/>
                    </a:solidFill>
                  </a:tcPr>
                </a:tc>
                <a:tc>
                  <a:txBody>
                    <a:bodyPr/>
                    <a:lstStyle/>
                    <a:p>
                      <a:pPr algn="r" fontAlgn="ctr">
                        <a:buNone/>
                      </a:pPr>
                      <a:r>
                        <a:rPr lang="en-US" sz="1100" b="0" i="0" u="none" strike="noStrike">
                          <a:solidFill>
                            <a:srgbClr val="000000"/>
                          </a:solidFill>
                          <a:effectLst/>
                          <a:latin typeface="Aptos Narrow" panose="020B0004020202020204" pitchFamily="34" charset="0"/>
                        </a:rPr>
                        <a:t>$636,000</a:t>
                      </a:r>
                    </a:p>
                  </a:txBody>
                  <a:tcPr marL="6350" marR="6350" marT="635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8E8E8"/>
                    </a:solidFill>
                  </a:tcPr>
                </a:tc>
                <a:tc>
                  <a:txBody>
                    <a:bodyPr/>
                    <a:lstStyle/>
                    <a:p>
                      <a:pPr algn="r" fontAlgn="ctr">
                        <a:buNone/>
                      </a:pPr>
                      <a:r>
                        <a:rPr lang="en-US" sz="1100" b="0" i="0" u="none" strike="noStrike" dirty="0">
                          <a:solidFill>
                            <a:srgbClr val="000000"/>
                          </a:solidFill>
                          <a:effectLst/>
                          <a:latin typeface="Aptos Narrow" panose="020B0004020202020204" pitchFamily="34" charset="0"/>
                        </a:rPr>
                        <a:t>$12,231</a:t>
                      </a:r>
                    </a:p>
                  </a:txBody>
                  <a:tcPr marL="6350" marR="6350" marT="635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8E8E8"/>
                    </a:solidFill>
                  </a:tcPr>
                </a:tc>
                <a:extLst>
                  <a:ext uri="{0D108BD9-81ED-4DB2-BD59-A6C34878D82A}">
                    <a16:rowId xmlns:a16="http://schemas.microsoft.com/office/drawing/2014/main" val="2277475454"/>
                  </a:ext>
                </a:extLst>
              </a:tr>
            </a:tbl>
          </a:graphicData>
        </a:graphic>
      </p:graphicFrame>
    </p:spTree>
    <p:extLst>
      <p:ext uri="{BB962C8B-B14F-4D97-AF65-F5344CB8AC3E}">
        <p14:creationId xmlns:p14="http://schemas.microsoft.com/office/powerpoint/2010/main" val="179428162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BE9FE8-E3AD-C54F-07B7-159708ECDBA6}"/>
              </a:ext>
            </a:extLst>
          </p:cNvPr>
          <p:cNvSpPr>
            <a:spLocks noGrp="1"/>
          </p:cNvSpPr>
          <p:nvPr>
            <p:ph type="title"/>
          </p:nvPr>
        </p:nvSpPr>
        <p:spPr/>
        <p:txBody>
          <a:bodyPr/>
          <a:lstStyle/>
          <a:p>
            <a:r>
              <a:rPr lang="en-US" dirty="0"/>
              <a:t>Budget key takeaways </a:t>
            </a:r>
          </a:p>
        </p:txBody>
      </p:sp>
      <p:sp>
        <p:nvSpPr>
          <p:cNvPr id="19" name="TextBox 18">
            <a:extLst>
              <a:ext uri="{FF2B5EF4-FFF2-40B4-BE49-F238E27FC236}">
                <a16:creationId xmlns:a16="http://schemas.microsoft.com/office/drawing/2014/main" id="{823C99E5-ACA8-D2BB-5FB8-0CB319AF2DF5}"/>
              </a:ext>
            </a:extLst>
          </p:cNvPr>
          <p:cNvSpPr txBox="1"/>
          <p:nvPr/>
        </p:nvSpPr>
        <p:spPr>
          <a:xfrm>
            <a:off x="571500" y="1231004"/>
            <a:ext cx="11010900" cy="4524315"/>
          </a:xfrm>
          <a:prstGeom prst="rect">
            <a:avLst/>
          </a:prstGeom>
          <a:noFill/>
        </p:spPr>
        <p:txBody>
          <a:bodyPr wrap="square">
            <a:spAutoFit/>
          </a:bodyPr>
          <a:lstStyle/>
          <a:p>
            <a:pPr marL="285750" indent="-285750">
              <a:buFont typeface="Arial" panose="020B0604020202020204" pitchFamily="34" charset="0"/>
              <a:buChar char="•"/>
            </a:pPr>
            <a:r>
              <a:rPr lang="en-US" sz="1600" b="1" dirty="0"/>
              <a:t>Maintain the core spend:</a:t>
            </a:r>
            <a:r>
              <a:rPr lang="en-US" sz="1600" dirty="0"/>
              <a:t> </a:t>
            </a:r>
          </a:p>
          <a:p>
            <a:pPr marL="742950" lvl="1" indent="-285750">
              <a:buFont typeface="Arial" panose="020B0604020202020204" pitchFamily="34" charset="0"/>
              <a:buChar char="•"/>
            </a:pPr>
            <a:r>
              <a:rPr lang="en-US" sz="1600" dirty="0"/>
              <a:t>Current budget is generating strong returns.</a:t>
            </a:r>
          </a:p>
          <a:p>
            <a:pPr marL="285750" indent="-285750">
              <a:buFont typeface="Arial" panose="020B0604020202020204" pitchFamily="34" charset="0"/>
              <a:buChar char="•"/>
            </a:pPr>
            <a:endParaRPr lang="en-US" sz="1600" dirty="0"/>
          </a:p>
          <a:p>
            <a:pPr marL="285750" indent="-285750">
              <a:buFont typeface="Arial" panose="020B0604020202020204" pitchFamily="34" charset="0"/>
              <a:buChar char="•"/>
            </a:pPr>
            <a:r>
              <a:rPr lang="en-US" sz="1600" b="1" dirty="0"/>
              <a:t>Incrementally increase budget: </a:t>
            </a:r>
          </a:p>
          <a:p>
            <a:pPr marL="742950" lvl="1" indent="-285750">
              <a:buFont typeface="Arial" panose="020B0604020202020204" pitchFamily="34" charset="0"/>
              <a:buChar char="•"/>
            </a:pPr>
            <a:r>
              <a:rPr lang="en-US" sz="1600" dirty="0"/>
              <a:t>Modest increases can unlock more growth.</a:t>
            </a:r>
          </a:p>
          <a:p>
            <a:pPr marL="285750" indent="-285750">
              <a:buFont typeface="Arial" panose="020B0604020202020204" pitchFamily="34" charset="0"/>
              <a:buChar char="•"/>
            </a:pPr>
            <a:endParaRPr lang="en-US" sz="1600" dirty="0"/>
          </a:p>
          <a:p>
            <a:pPr marL="285750" indent="-285750">
              <a:buFont typeface="Arial" panose="020B0604020202020204" pitchFamily="34" charset="0"/>
              <a:buChar char="•"/>
            </a:pPr>
            <a:r>
              <a:rPr lang="en-US" sz="1600" b="1" dirty="0"/>
              <a:t>Monitor for diminishing returns beyond ~$12M: </a:t>
            </a:r>
          </a:p>
          <a:p>
            <a:pPr marL="742950" lvl="1" indent="-285750">
              <a:buFont typeface="Arial" panose="020B0604020202020204" pitchFamily="34" charset="0"/>
              <a:buChar char="•"/>
            </a:pPr>
            <a:r>
              <a:rPr lang="en-US" sz="1600" dirty="0"/>
              <a:t>Apply scrutiny to any spend above this level.</a:t>
            </a:r>
          </a:p>
          <a:p>
            <a:pPr marL="285750" indent="-285750">
              <a:buFont typeface="Arial" panose="020B0604020202020204" pitchFamily="34" charset="0"/>
              <a:buChar char="•"/>
            </a:pPr>
            <a:endParaRPr lang="en-US" sz="1600" dirty="0"/>
          </a:p>
          <a:p>
            <a:pPr marL="285750" indent="-285750">
              <a:buFont typeface="Arial" panose="020B0604020202020204" pitchFamily="34" charset="0"/>
              <a:buChar char="•"/>
            </a:pPr>
            <a:r>
              <a:rPr lang="en-US" sz="1600" b="1" dirty="0"/>
              <a:t>Use ROI modeling to guide scaling decisions: </a:t>
            </a:r>
          </a:p>
          <a:p>
            <a:pPr marL="742950" lvl="1" indent="-285750">
              <a:buFont typeface="Arial" panose="020B0604020202020204" pitchFamily="34" charset="0"/>
              <a:buChar char="•"/>
            </a:pPr>
            <a:r>
              <a:rPr lang="en-US" sz="1600" dirty="0"/>
              <a:t>There's no clear plateau yet.</a:t>
            </a:r>
          </a:p>
          <a:p>
            <a:pPr marL="285750" indent="-285750">
              <a:buFont typeface="Arial" panose="020B0604020202020204" pitchFamily="34" charset="0"/>
              <a:buChar char="•"/>
            </a:pPr>
            <a:endParaRPr lang="en-US" sz="1600" dirty="0"/>
          </a:p>
          <a:p>
            <a:pPr marL="285750" indent="-285750">
              <a:buFont typeface="Arial" panose="020B0604020202020204" pitchFamily="34" charset="0"/>
              <a:buChar char="•"/>
            </a:pPr>
            <a:r>
              <a:rPr lang="en-US" sz="1600" b="1" dirty="0"/>
              <a:t>Sustain high-performing locations: </a:t>
            </a:r>
          </a:p>
          <a:p>
            <a:pPr marL="742950" lvl="1" indent="-285750">
              <a:buFont typeface="Arial" panose="020B0604020202020204" pitchFamily="34" charset="0"/>
              <a:buChar char="•"/>
            </a:pPr>
            <a:r>
              <a:rPr lang="en-US" sz="1600" dirty="0"/>
              <a:t>These scale well and sustain ROI as spend grows.</a:t>
            </a:r>
          </a:p>
          <a:p>
            <a:pPr marL="285750" indent="-285750">
              <a:buFont typeface="Arial" panose="020B0604020202020204" pitchFamily="34" charset="0"/>
              <a:buChar char="•"/>
            </a:pPr>
            <a:endParaRPr lang="en-US" sz="1600" dirty="0"/>
          </a:p>
          <a:p>
            <a:pPr marL="285750" indent="-285750">
              <a:buFont typeface="Arial" panose="020B0604020202020204" pitchFamily="34" charset="0"/>
              <a:buChar char="•"/>
            </a:pPr>
            <a:r>
              <a:rPr lang="en-US" sz="1600" b="1" dirty="0"/>
              <a:t>Low Performing and New Locations: </a:t>
            </a:r>
          </a:p>
          <a:p>
            <a:pPr marL="742950" lvl="1" indent="-285750">
              <a:buFont typeface="Arial" panose="020B0604020202020204" pitchFamily="34" charset="0"/>
              <a:buChar char="•"/>
            </a:pPr>
            <a:r>
              <a:rPr lang="en-US" sz="1600" dirty="0"/>
              <a:t>While the model suggests to keep fixed or reduce budgets. Paid media will still need increased investment to achieve reach and build awareness. </a:t>
            </a:r>
          </a:p>
        </p:txBody>
      </p:sp>
    </p:spTree>
    <p:extLst>
      <p:ext uri="{BB962C8B-B14F-4D97-AF65-F5344CB8AC3E}">
        <p14:creationId xmlns:p14="http://schemas.microsoft.com/office/powerpoint/2010/main" val="78885620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E19EA7-2105-1C70-E50A-28BA1E9CEAB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B7FB954-CAA2-D26C-0A3E-2437718EC17B}"/>
              </a:ext>
            </a:extLst>
          </p:cNvPr>
          <p:cNvSpPr>
            <a:spLocks noGrp="1"/>
          </p:cNvSpPr>
          <p:nvPr>
            <p:ph type="title"/>
          </p:nvPr>
        </p:nvSpPr>
        <p:spPr/>
        <p:txBody>
          <a:bodyPr/>
          <a:lstStyle/>
          <a:p>
            <a:r>
              <a:rPr lang="en-US"/>
              <a:t>Lines of business</a:t>
            </a:r>
          </a:p>
        </p:txBody>
      </p:sp>
    </p:spTree>
    <p:extLst>
      <p:ext uri="{BB962C8B-B14F-4D97-AF65-F5344CB8AC3E}">
        <p14:creationId xmlns:p14="http://schemas.microsoft.com/office/powerpoint/2010/main" val="342558963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F27340-AA7E-F0FB-2F03-3FCBB7058BA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86AA2E1-9B72-53CD-618D-8B9D78DB01F6}"/>
              </a:ext>
            </a:extLst>
          </p:cNvPr>
          <p:cNvSpPr>
            <a:spLocks noGrp="1"/>
          </p:cNvSpPr>
          <p:nvPr>
            <p:ph type="title"/>
          </p:nvPr>
        </p:nvSpPr>
        <p:spPr>
          <a:xfrm>
            <a:off x="651947" y="2657462"/>
            <a:ext cx="10888105" cy="771538"/>
          </a:xfrm>
        </p:spPr>
        <p:txBody>
          <a:bodyPr/>
          <a:lstStyle/>
          <a:p>
            <a:pPr marL="0"/>
            <a:r>
              <a:rPr lang="en-US"/>
              <a:t>lob summary</a:t>
            </a:r>
          </a:p>
        </p:txBody>
      </p:sp>
    </p:spTree>
    <p:extLst>
      <p:ext uri="{BB962C8B-B14F-4D97-AF65-F5344CB8AC3E}">
        <p14:creationId xmlns:p14="http://schemas.microsoft.com/office/powerpoint/2010/main" val="150259858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9F297C-24E0-4C37-DA47-9628153D594E}"/>
            </a:ext>
          </a:extLst>
        </p:cNvPr>
        <p:cNvGrpSpPr/>
        <p:nvPr/>
      </p:nvGrpSpPr>
      <p:grpSpPr>
        <a:xfrm>
          <a:off x="0" y="0"/>
          <a:ext cx="0" cy="0"/>
          <a:chOff x="0" y="0"/>
          <a:chExt cx="0" cy="0"/>
        </a:xfrm>
      </p:grpSpPr>
      <p:pic>
        <p:nvPicPr>
          <p:cNvPr id="8194" name="Picture 2">
            <a:extLst>
              <a:ext uri="{FF2B5EF4-FFF2-40B4-BE49-F238E27FC236}">
                <a16:creationId xmlns:a16="http://schemas.microsoft.com/office/drawing/2014/main" id="{EB6EE461-A940-7BA4-CC39-F008BC2A118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71500" y="1229557"/>
            <a:ext cx="5923491" cy="4572000"/>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679CC41D-A148-270C-CD17-44046C9583E7}"/>
              </a:ext>
            </a:extLst>
          </p:cNvPr>
          <p:cNvSpPr>
            <a:spLocks noGrp="1"/>
          </p:cNvSpPr>
          <p:nvPr>
            <p:ph type="title"/>
          </p:nvPr>
        </p:nvSpPr>
        <p:spPr/>
        <p:txBody>
          <a:bodyPr/>
          <a:lstStyle/>
          <a:p>
            <a:pPr marL="552450"/>
            <a:r>
              <a:rPr lang="en-US">
                <a:latin typeface="MarkOT-CondBlack"/>
              </a:rPr>
              <a:t>LBE Spend by location type </a:t>
            </a:r>
            <a:r>
              <a:rPr lang="en-US" cap="none">
                <a:latin typeface="MarkOT-CondBlack"/>
              </a:rPr>
              <a:t>vs</a:t>
            </a:r>
            <a:r>
              <a:rPr lang="en-US">
                <a:latin typeface="MarkOT-CondBlack"/>
              </a:rPr>
              <a:t> impressions</a:t>
            </a:r>
            <a:endParaRPr lang="en-US"/>
          </a:p>
        </p:txBody>
      </p:sp>
      <p:sp>
        <p:nvSpPr>
          <p:cNvPr id="4" name="TextBox 3">
            <a:extLst>
              <a:ext uri="{FF2B5EF4-FFF2-40B4-BE49-F238E27FC236}">
                <a16:creationId xmlns:a16="http://schemas.microsoft.com/office/drawing/2014/main" id="{9FCB7528-F7B1-30A5-8CB3-EF5429473E73}"/>
              </a:ext>
            </a:extLst>
          </p:cNvPr>
          <p:cNvSpPr txBox="1"/>
          <p:nvPr/>
        </p:nvSpPr>
        <p:spPr>
          <a:xfrm>
            <a:off x="571500" y="6283963"/>
            <a:ext cx="2702052" cy="307777"/>
          </a:xfrm>
          <a:prstGeom prst="rect">
            <a:avLst/>
          </a:prstGeom>
          <a:noFill/>
        </p:spPr>
        <p:txBody>
          <a:bodyPr wrap="square" rtlCol="0">
            <a:spAutoFit/>
          </a:bodyPr>
          <a:lstStyle/>
          <a:p>
            <a:r>
              <a:rPr lang="en-US" sz="1400"/>
              <a:t>Awareness Campaigns</a:t>
            </a:r>
          </a:p>
        </p:txBody>
      </p:sp>
      <p:sp>
        <p:nvSpPr>
          <p:cNvPr id="6" name="TextBox 5">
            <a:extLst>
              <a:ext uri="{FF2B5EF4-FFF2-40B4-BE49-F238E27FC236}">
                <a16:creationId xmlns:a16="http://schemas.microsoft.com/office/drawing/2014/main" id="{607C6403-C6ED-7B91-F861-A65A2D0CA0F8}"/>
              </a:ext>
            </a:extLst>
          </p:cNvPr>
          <p:cNvSpPr txBox="1"/>
          <p:nvPr/>
        </p:nvSpPr>
        <p:spPr>
          <a:xfrm>
            <a:off x="7064830" y="1279811"/>
            <a:ext cx="4517570" cy="4031873"/>
          </a:xfrm>
          <a:prstGeom prst="rect">
            <a:avLst/>
          </a:prstGeom>
          <a:noFill/>
        </p:spPr>
        <p:txBody>
          <a:bodyPr wrap="square" lIns="91440" tIns="45720" rIns="91440" bIns="45720" rtlCol="0" anchor="t">
            <a:spAutoFit/>
          </a:bodyPr>
          <a:lstStyle/>
          <a:p>
            <a:pPr marL="285750" indent="-285750">
              <a:buFont typeface="Arial" panose="020B0604020202020204" pitchFamily="34" charset="0"/>
              <a:buChar char="•"/>
            </a:pPr>
            <a:r>
              <a:rPr lang="en-US" sz="1600" b="1" dirty="0"/>
              <a:t>Rec Room New Location </a:t>
            </a:r>
            <a:r>
              <a:rPr lang="en-US" sz="1600" dirty="0"/>
              <a:t>campaigns accounted for 15% of the budget but brought in 22% of all impressions, indicating efficiency in the location bucket.</a:t>
            </a:r>
          </a:p>
          <a:p>
            <a:pPr marL="285750" indent="-285750">
              <a:buFont typeface="Arial" panose="020B0604020202020204" pitchFamily="34" charset="0"/>
              <a:buChar char="•"/>
            </a:pPr>
            <a:endParaRPr lang="en-US" sz="1600" dirty="0"/>
          </a:p>
          <a:p>
            <a:pPr marL="285750" indent="-285750">
              <a:buFont typeface="Arial" panose="020B0604020202020204" pitchFamily="34" charset="0"/>
              <a:buChar char="•"/>
            </a:pPr>
            <a:r>
              <a:rPr lang="en-US" sz="1600" b="1" dirty="0"/>
              <a:t>Playdium New Location </a:t>
            </a:r>
            <a:r>
              <a:rPr lang="en-US" sz="1600" dirty="0"/>
              <a:t>was another location type that had high efficiency campaigns for awareness.</a:t>
            </a:r>
          </a:p>
          <a:p>
            <a:endParaRPr lang="en-US" sz="1600" dirty="0"/>
          </a:p>
          <a:p>
            <a:r>
              <a:rPr lang="en-US" sz="1600" u="sng" dirty="0"/>
              <a:t>Note:</a:t>
            </a:r>
          </a:p>
          <a:p>
            <a:pPr marL="285750" indent="-285750">
              <a:buFont typeface="Arial" panose="020B0604020202020204" pitchFamily="34" charset="0"/>
              <a:buChar char="•"/>
            </a:pPr>
            <a:r>
              <a:rPr lang="en-US" sz="1600" dirty="0"/>
              <a:t>“NL - TRR” includes:</a:t>
            </a:r>
          </a:p>
          <a:p>
            <a:pPr marL="742950" lvl="1" indent="-285750">
              <a:buFont typeface="Arial" panose="020B0604020202020204" pitchFamily="34" charset="0"/>
              <a:buChar char="•"/>
            </a:pPr>
            <a:r>
              <a:rPr lang="en-US" sz="1600" dirty="0"/>
              <a:t>Vancouver Granville</a:t>
            </a:r>
          </a:p>
          <a:p>
            <a:pPr marL="742950" lvl="1" indent="-285750">
              <a:buFont typeface="Arial" panose="020B0604020202020204" pitchFamily="34" charset="0"/>
              <a:buChar char="•"/>
            </a:pPr>
            <a:r>
              <a:rPr lang="en-US" sz="1600" dirty="0"/>
              <a:t>Montreal Royalmount</a:t>
            </a:r>
          </a:p>
          <a:p>
            <a:pPr marL="285750" indent="-285750">
              <a:buFont typeface="Arial" panose="020B0604020202020204" pitchFamily="34" charset="0"/>
              <a:buChar char="•"/>
            </a:pPr>
            <a:r>
              <a:rPr lang="en-US" sz="1600" dirty="0"/>
              <a:t>“NL - PDM” includes:</a:t>
            </a:r>
          </a:p>
          <a:p>
            <a:pPr marL="742950" lvl="1" indent="-285750">
              <a:buFont typeface="Arial" panose="020B0604020202020204" pitchFamily="34" charset="0"/>
              <a:buChar char="•"/>
            </a:pPr>
            <a:r>
              <a:rPr lang="en-US" sz="1600" dirty="0"/>
              <a:t>Toronto Fairview</a:t>
            </a:r>
          </a:p>
        </p:txBody>
      </p:sp>
      <p:sp>
        <p:nvSpPr>
          <p:cNvPr id="3" name="TextBox 2">
            <a:extLst>
              <a:ext uri="{FF2B5EF4-FFF2-40B4-BE49-F238E27FC236}">
                <a16:creationId xmlns:a16="http://schemas.microsoft.com/office/drawing/2014/main" id="{F3679278-4487-761A-CE73-F71BC37D422F}"/>
              </a:ext>
            </a:extLst>
          </p:cNvPr>
          <p:cNvSpPr txBox="1"/>
          <p:nvPr/>
        </p:nvSpPr>
        <p:spPr>
          <a:xfrm>
            <a:off x="571500" y="5803004"/>
            <a:ext cx="5142747"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000" dirty="0">
                <a:solidFill>
                  <a:srgbClr val="000000"/>
                </a:solidFill>
              </a:rPr>
              <a:t>*Data covers Q2 2023 to Q2 2025</a:t>
            </a:r>
          </a:p>
          <a:p>
            <a:r>
              <a:rPr lang="en-US" sz="1000" dirty="0">
                <a:solidFill>
                  <a:srgbClr val="000000"/>
                </a:solidFill>
              </a:rPr>
              <a:t>*Data does not consider external factors such as weather, holidays</a:t>
            </a:r>
          </a:p>
        </p:txBody>
      </p:sp>
      <p:sp>
        <p:nvSpPr>
          <p:cNvPr id="7" name="TextBox 6">
            <a:extLst>
              <a:ext uri="{FF2B5EF4-FFF2-40B4-BE49-F238E27FC236}">
                <a16:creationId xmlns:a16="http://schemas.microsoft.com/office/drawing/2014/main" id="{BA9DF9F0-B338-5797-6FBB-EB02E053C919}"/>
              </a:ext>
            </a:extLst>
          </p:cNvPr>
          <p:cNvSpPr txBox="1"/>
          <p:nvPr/>
        </p:nvSpPr>
        <p:spPr>
          <a:xfrm>
            <a:off x="9374576" y="105565"/>
            <a:ext cx="2708566" cy="938719"/>
          </a:xfrm>
          <a:prstGeom prst="rect">
            <a:avLst/>
          </a:prstGeom>
          <a:noFill/>
        </p:spPr>
        <p:txBody>
          <a:bodyPr wrap="square" rtlCol="0">
            <a:spAutoFit/>
          </a:bodyPr>
          <a:lstStyle/>
          <a:p>
            <a:pPr algn="r"/>
            <a:r>
              <a:rPr lang="en-US" sz="1100"/>
              <a:t>HPL = High-performing locations</a:t>
            </a:r>
          </a:p>
          <a:p>
            <a:pPr algn="r"/>
            <a:r>
              <a:rPr lang="en-US" sz="1100"/>
              <a:t>LPL = Low-performing locations</a:t>
            </a:r>
          </a:p>
          <a:p>
            <a:pPr algn="r"/>
            <a:r>
              <a:rPr lang="en-US" sz="1100"/>
              <a:t>NL = New locations</a:t>
            </a:r>
          </a:p>
          <a:p>
            <a:pPr algn="r"/>
            <a:r>
              <a:rPr lang="en-US" sz="1100"/>
              <a:t>TRR = The Rec Room</a:t>
            </a:r>
          </a:p>
          <a:p>
            <a:pPr algn="r"/>
            <a:r>
              <a:rPr lang="en-US" sz="1100"/>
              <a:t>PDM = Playdium</a:t>
            </a:r>
          </a:p>
        </p:txBody>
      </p:sp>
    </p:spTree>
    <p:extLst>
      <p:ext uri="{BB962C8B-B14F-4D97-AF65-F5344CB8AC3E}">
        <p14:creationId xmlns:p14="http://schemas.microsoft.com/office/powerpoint/2010/main" val="310191221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384EB6-EA53-DD91-515F-6DDB7AFE1259}"/>
            </a:ext>
          </a:extLst>
        </p:cNvPr>
        <p:cNvGrpSpPr/>
        <p:nvPr/>
      </p:nvGrpSpPr>
      <p:grpSpPr>
        <a:xfrm>
          <a:off x="0" y="0"/>
          <a:ext cx="0" cy="0"/>
          <a:chOff x="0" y="0"/>
          <a:chExt cx="0" cy="0"/>
        </a:xfrm>
      </p:grpSpPr>
      <p:pic>
        <p:nvPicPr>
          <p:cNvPr id="9218" name="Picture 2">
            <a:extLst>
              <a:ext uri="{FF2B5EF4-FFF2-40B4-BE49-F238E27FC236}">
                <a16:creationId xmlns:a16="http://schemas.microsoft.com/office/drawing/2014/main" id="{66C94432-E99B-A930-05F0-4D42D616713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82739" y="1234488"/>
            <a:ext cx="5923491" cy="4572000"/>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13E7ECA2-C264-030B-60F0-2E3A1B1A9BC4}"/>
              </a:ext>
            </a:extLst>
          </p:cNvPr>
          <p:cNvSpPr>
            <a:spLocks noGrp="1"/>
          </p:cNvSpPr>
          <p:nvPr>
            <p:ph type="title"/>
          </p:nvPr>
        </p:nvSpPr>
        <p:spPr/>
        <p:txBody>
          <a:bodyPr/>
          <a:lstStyle/>
          <a:p>
            <a:pPr marL="552450"/>
            <a:r>
              <a:rPr lang="en-US">
                <a:latin typeface="MarkOT-CondBlack"/>
              </a:rPr>
              <a:t>LBE Spend by location type </a:t>
            </a:r>
            <a:r>
              <a:rPr lang="en-US" cap="none">
                <a:latin typeface="MarkOT-CondBlack"/>
              </a:rPr>
              <a:t>vs</a:t>
            </a:r>
            <a:r>
              <a:rPr lang="en-US">
                <a:latin typeface="MarkOT-CondBlack"/>
              </a:rPr>
              <a:t> clicks</a:t>
            </a:r>
            <a:endParaRPr lang="en-US"/>
          </a:p>
        </p:txBody>
      </p:sp>
      <p:sp>
        <p:nvSpPr>
          <p:cNvPr id="4" name="TextBox 3">
            <a:extLst>
              <a:ext uri="{FF2B5EF4-FFF2-40B4-BE49-F238E27FC236}">
                <a16:creationId xmlns:a16="http://schemas.microsoft.com/office/drawing/2014/main" id="{3A52D33D-0CFA-8A76-E8D4-240447661F67}"/>
              </a:ext>
            </a:extLst>
          </p:cNvPr>
          <p:cNvSpPr txBox="1"/>
          <p:nvPr/>
        </p:nvSpPr>
        <p:spPr>
          <a:xfrm>
            <a:off x="571500" y="6283963"/>
            <a:ext cx="2702052" cy="307777"/>
          </a:xfrm>
          <a:prstGeom prst="rect">
            <a:avLst/>
          </a:prstGeom>
          <a:noFill/>
        </p:spPr>
        <p:txBody>
          <a:bodyPr wrap="square" rtlCol="0">
            <a:spAutoFit/>
          </a:bodyPr>
          <a:lstStyle/>
          <a:p>
            <a:r>
              <a:rPr lang="en-US" sz="1400"/>
              <a:t>Consideration Campaigns</a:t>
            </a:r>
          </a:p>
        </p:txBody>
      </p:sp>
      <p:sp>
        <p:nvSpPr>
          <p:cNvPr id="3" name="TextBox 2">
            <a:extLst>
              <a:ext uri="{FF2B5EF4-FFF2-40B4-BE49-F238E27FC236}">
                <a16:creationId xmlns:a16="http://schemas.microsoft.com/office/drawing/2014/main" id="{635E6EAE-4476-4069-363C-30711A06E922}"/>
              </a:ext>
            </a:extLst>
          </p:cNvPr>
          <p:cNvSpPr txBox="1"/>
          <p:nvPr/>
        </p:nvSpPr>
        <p:spPr>
          <a:xfrm>
            <a:off x="571500" y="5803004"/>
            <a:ext cx="5142747"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000" dirty="0">
                <a:solidFill>
                  <a:srgbClr val="000000"/>
                </a:solidFill>
              </a:rPr>
              <a:t>*Data covers Q2 2023 to Q2 2025</a:t>
            </a:r>
          </a:p>
          <a:p>
            <a:r>
              <a:rPr lang="en-US" sz="1000" dirty="0">
                <a:solidFill>
                  <a:srgbClr val="000000"/>
                </a:solidFill>
              </a:rPr>
              <a:t>*Data does not consider external factors such as weather, holidays</a:t>
            </a:r>
          </a:p>
        </p:txBody>
      </p:sp>
      <p:sp>
        <p:nvSpPr>
          <p:cNvPr id="7" name="TextBox 6">
            <a:extLst>
              <a:ext uri="{FF2B5EF4-FFF2-40B4-BE49-F238E27FC236}">
                <a16:creationId xmlns:a16="http://schemas.microsoft.com/office/drawing/2014/main" id="{AE208D34-BE73-3724-EE20-075CA3488AA2}"/>
              </a:ext>
            </a:extLst>
          </p:cNvPr>
          <p:cNvSpPr txBox="1"/>
          <p:nvPr/>
        </p:nvSpPr>
        <p:spPr>
          <a:xfrm>
            <a:off x="9374576" y="105565"/>
            <a:ext cx="2708566" cy="938719"/>
          </a:xfrm>
          <a:prstGeom prst="rect">
            <a:avLst/>
          </a:prstGeom>
          <a:noFill/>
        </p:spPr>
        <p:txBody>
          <a:bodyPr wrap="square" rtlCol="0">
            <a:spAutoFit/>
          </a:bodyPr>
          <a:lstStyle/>
          <a:p>
            <a:pPr algn="r"/>
            <a:r>
              <a:rPr lang="en-US" sz="1100"/>
              <a:t>HPL = High-performing locations</a:t>
            </a:r>
          </a:p>
          <a:p>
            <a:pPr algn="r"/>
            <a:r>
              <a:rPr lang="en-US" sz="1100"/>
              <a:t>LPL = Low-performing locations</a:t>
            </a:r>
          </a:p>
          <a:p>
            <a:pPr algn="r"/>
            <a:r>
              <a:rPr lang="en-US" sz="1100"/>
              <a:t>NL = New locations</a:t>
            </a:r>
          </a:p>
          <a:p>
            <a:pPr algn="r"/>
            <a:r>
              <a:rPr lang="en-US" sz="1100"/>
              <a:t>TRR = The Rec Room</a:t>
            </a:r>
          </a:p>
          <a:p>
            <a:pPr algn="r"/>
            <a:r>
              <a:rPr lang="en-US" sz="1100"/>
              <a:t>PDM = Playdium</a:t>
            </a:r>
          </a:p>
        </p:txBody>
      </p:sp>
      <p:sp>
        <p:nvSpPr>
          <p:cNvPr id="8" name="TextBox 7">
            <a:extLst>
              <a:ext uri="{FF2B5EF4-FFF2-40B4-BE49-F238E27FC236}">
                <a16:creationId xmlns:a16="http://schemas.microsoft.com/office/drawing/2014/main" id="{4EA19D28-7659-9A2F-41A2-42CEA0DE72F4}"/>
              </a:ext>
            </a:extLst>
          </p:cNvPr>
          <p:cNvSpPr txBox="1"/>
          <p:nvPr/>
        </p:nvSpPr>
        <p:spPr>
          <a:xfrm>
            <a:off x="7064830" y="1279811"/>
            <a:ext cx="4517570" cy="4031873"/>
          </a:xfrm>
          <a:prstGeom prst="rect">
            <a:avLst/>
          </a:prstGeom>
          <a:noFill/>
        </p:spPr>
        <p:txBody>
          <a:bodyPr wrap="square" lIns="91440" tIns="45720" rIns="91440" bIns="45720" rtlCol="0" anchor="t">
            <a:spAutoFit/>
          </a:bodyPr>
          <a:lstStyle/>
          <a:p>
            <a:pPr marL="285750" indent="-285750">
              <a:buFont typeface="Arial" panose="020B0604020202020204" pitchFamily="34" charset="0"/>
              <a:buChar char="•"/>
            </a:pPr>
            <a:r>
              <a:rPr lang="en-US" sz="1600" b="1" dirty="0"/>
              <a:t>High-Performing Location </a:t>
            </a:r>
            <a:r>
              <a:rPr lang="en-US" sz="1600" dirty="0"/>
              <a:t>campaigns accounted for 29% of the budget but brought in 45% of all clicks, indicating high efficiency in the location bucket.</a:t>
            </a:r>
          </a:p>
          <a:p>
            <a:pPr marL="285750" indent="-285750">
              <a:buFont typeface="Arial" panose="020B0604020202020204" pitchFamily="34" charset="0"/>
              <a:buChar char="•"/>
            </a:pPr>
            <a:endParaRPr lang="en-US" sz="1600" dirty="0"/>
          </a:p>
          <a:p>
            <a:pPr marL="285750" indent="-285750">
              <a:buFont typeface="Arial" panose="020B0604020202020204" pitchFamily="34" charset="0"/>
              <a:buChar char="•"/>
            </a:pPr>
            <a:r>
              <a:rPr lang="en-US" sz="1600" dirty="0"/>
              <a:t>Neither </a:t>
            </a:r>
            <a:r>
              <a:rPr lang="en-US" sz="1600" b="1" dirty="0"/>
              <a:t>Rec Room New Location </a:t>
            </a:r>
            <a:r>
              <a:rPr lang="en-US" sz="1600" dirty="0"/>
              <a:t>nor </a:t>
            </a:r>
            <a:r>
              <a:rPr lang="en-US" sz="1600" b="1" dirty="0"/>
              <a:t>Playdium New Location</a:t>
            </a:r>
            <a:r>
              <a:rPr lang="en-US" sz="1600" dirty="0"/>
              <a:t> had efficient consideration campaigns compared to other location types.</a:t>
            </a:r>
          </a:p>
          <a:p>
            <a:endParaRPr lang="en-US" sz="1600" dirty="0"/>
          </a:p>
          <a:p>
            <a:r>
              <a:rPr lang="en-US" sz="1600" u="sng" dirty="0"/>
              <a:t>Note:</a:t>
            </a:r>
          </a:p>
          <a:p>
            <a:pPr marL="285750" indent="-285750">
              <a:buFont typeface="Arial" panose="020B0604020202020204" pitchFamily="34" charset="0"/>
              <a:buChar char="•"/>
            </a:pPr>
            <a:r>
              <a:rPr lang="en-US" sz="1600" dirty="0"/>
              <a:t>“NL - TRR” includes:</a:t>
            </a:r>
          </a:p>
          <a:p>
            <a:pPr marL="742950" lvl="1" indent="-285750">
              <a:buFont typeface="Arial" panose="020B0604020202020204" pitchFamily="34" charset="0"/>
              <a:buChar char="•"/>
            </a:pPr>
            <a:r>
              <a:rPr lang="en-US" sz="1600" dirty="0"/>
              <a:t>Vancouver Granville</a:t>
            </a:r>
          </a:p>
          <a:p>
            <a:pPr marL="742950" lvl="1" indent="-285750">
              <a:buFont typeface="Arial" panose="020B0604020202020204" pitchFamily="34" charset="0"/>
              <a:buChar char="•"/>
            </a:pPr>
            <a:r>
              <a:rPr lang="en-US" sz="1600" dirty="0"/>
              <a:t>Montreal Royalmount</a:t>
            </a:r>
          </a:p>
          <a:p>
            <a:pPr marL="285750" indent="-285750">
              <a:buFont typeface="Arial" panose="020B0604020202020204" pitchFamily="34" charset="0"/>
              <a:buChar char="•"/>
            </a:pPr>
            <a:r>
              <a:rPr lang="en-US" sz="1600" dirty="0"/>
              <a:t>“NL - PDM” includes:</a:t>
            </a:r>
          </a:p>
          <a:p>
            <a:pPr marL="742950" lvl="1" indent="-285750">
              <a:buFont typeface="Arial" panose="020B0604020202020204" pitchFamily="34" charset="0"/>
              <a:buChar char="•"/>
            </a:pPr>
            <a:r>
              <a:rPr lang="en-US" sz="1600" dirty="0"/>
              <a:t>Toronto Fairview</a:t>
            </a:r>
          </a:p>
        </p:txBody>
      </p:sp>
    </p:spTree>
    <p:extLst>
      <p:ext uri="{BB962C8B-B14F-4D97-AF65-F5344CB8AC3E}">
        <p14:creationId xmlns:p14="http://schemas.microsoft.com/office/powerpoint/2010/main" val="104366995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42" name="Picture 2">
            <a:extLst>
              <a:ext uri="{FF2B5EF4-FFF2-40B4-BE49-F238E27FC236}">
                <a16:creationId xmlns:a16="http://schemas.microsoft.com/office/drawing/2014/main" id="{E965F0F5-2C59-C6D8-C4CA-CA687081172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2386" y="1231004"/>
            <a:ext cx="6124575" cy="4572000"/>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53A6B908-AFF6-F58F-1B6D-2D07CC5F8CEA}"/>
              </a:ext>
            </a:extLst>
          </p:cNvPr>
          <p:cNvSpPr>
            <a:spLocks noGrp="1"/>
          </p:cNvSpPr>
          <p:nvPr>
            <p:ph type="title"/>
          </p:nvPr>
        </p:nvSpPr>
        <p:spPr/>
        <p:txBody>
          <a:bodyPr/>
          <a:lstStyle/>
          <a:p>
            <a:r>
              <a:rPr lang="en-US"/>
              <a:t>LBE spend by week </a:t>
            </a:r>
            <a:r>
              <a:rPr lang="en-US" cap="none"/>
              <a:t>vs</a:t>
            </a:r>
            <a:r>
              <a:rPr lang="en-US"/>
              <a:t> Transactions</a:t>
            </a:r>
          </a:p>
        </p:txBody>
      </p:sp>
      <p:sp>
        <p:nvSpPr>
          <p:cNvPr id="6" name="TextBox 5">
            <a:extLst>
              <a:ext uri="{FF2B5EF4-FFF2-40B4-BE49-F238E27FC236}">
                <a16:creationId xmlns:a16="http://schemas.microsoft.com/office/drawing/2014/main" id="{82E5C30A-5E12-C16B-7D6E-2AC8111C920A}"/>
              </a:ext>
            </a:extLst>
          </p:cNvPr>
          <p:cNvSpPr txBox="1"/>
          <p:nvPr/>
        </p:nvSpPr>
        <p:spPr>
          <a:xfrm>
            <a:off x="7010401" y="1219200"/>
            <a:ext cx="4572000" cy="4401205"/>
          </a:xfrm>
          <a:prstGeom prst="rect">
            <a:avLst/>
          </a:prstGeom>
          <a:noFill/>
        </p:spPr>
        <p:txBody>
          <a:bodyPr wrap="square" lIns="91440" tIns="45720" rIns="91440" bIns="45720" rtlCol="0" anchor="t">
            <a:spAutoFit/>
          </a:bodyPr>
          <a:lstStyle/>
          <a:p>
            <a:pPr marL="285750" indent="-285750">
              <a:buFont typeface="Arial" panose="020B0604020202020204" pitchFamily="34" charset="0"/>
              <a:buChar char="•"/>
            </a:pPr>
            <a:r>
              <a:rPr lang="en-US" sz="1400" dirty="0"/>
              <a:t>Transactions follow a decreasing trend with spend staying around the same after Q1 2024, indicating a decrease in ROAS.</a:t>
            </a:r>
          </a:p>
          <a:p>
            <a:pPr marL="285750" indent="-285750">
              <a:buFont typeface="Arial" panose="020B0604020202020204" pitchFamily="34" charset="0"/>
              <a:buChar char="•"/>
            </a:pPr>
            <a:endParaRPr lang="en-US" sz="1400" dirty="0"/>
          </a:p>
          <a:p>
            <a:pPr marL="285750" indent="-285750">
              <a:buFont typeface="Arial" panose="020B0604020202020204" pitchFamily="34" charset="0"/>
              <a:buChar char="•"/>
            </a:pPr>
            <a:r>
              <a:rPr lang="en-US" sz="1400" dirty="0"/>
              <a:t>Indicates diminishing returns or that media is less effective without supporting conditions.</a:t>
            </a:r>
          </a:p>
          <a:p>
            <a:pPr marL="285750" indent="-285750">
              <a:buFont typeface="Arial" panose="020B0604020202020204" pitchFamily="34" charset="0"/>
              <a:buChar char="•"/>
            </a:pPr>
            <a:endParaRPr lang="en-US" sz="1400" dirty="0"/>
          </a:p>
          <a:p>
            <a:pPr marL="285750" indent="-285750">
              <a:buFont typeface="Arial" panose="020B0604020202020204" pitchFamily="34" charset="0"/>
              <a:buChar char="•"/>
            </a:pPr>
            <a:r>
              <a:rPr lang="en-US" sz="1400" dirty="0"/>
              <a:t>Holiday season spend usually sees a large uptick in transactions in following weeks.</a:t>
            </a:r>
          </a:p>
          <a:p>
            <a:pPr marL="285750" indent="-285750">
              <a:buFont typeface="Arial" panose="020B0604020202020204" pitchFamily="34" charset="0"/>
              <a:buChar char="•"/>
            </a:pPr>
            <a:endParaRPr lang="en-US" sz="1400" dirty="0"/>
          </a:p>
          <a:p>
            <a:pPr marL="285750" indent="-285750">
              <a:buFont typeface="Arial" panose="020B0604020202020204" pitchFamily="34" charset="0"/>
              <a:buChar char="•"/>
            </a:pPr>
            <a:r>
              <a:rPr lang="en-US" sz="1400" dirty="0"/>
              <a:t>During low or no media spend windows (mid-2024, early 2025), transaction volumes tend to decline or become erratic. Reinforces the dependence on media for driving demand.</a:t>
            </a:r>
          </a:p>
          <a:p>
            <a:endParaRPr lang="en-US" sz="1400" u="sng" dirty="0"/>
          </a:p>
          <a:p>
            <a:r>
              <a:rPr lang="en-US" sz="1400" u="sng" dirty="0"/>
              <a:t>Note:</a:t>
            </a:r>
          </a:p>
          <a:p>
            <a:pPr marL="285750" indent="-285750">
              <a:buFont typeface="Arial" panose="020B0604020202020204" pitchFamily="34" charset="0"/>
              <a:buChar char="•"/>
            </a:pPr>
            <a:r>
              <a:rPr lang="en-US" sz="1400" dirty="0"/>
              <a:t>There is a moderate correlation between spend and transactions during Q2 and low correlation between the variables in Q1 and Q3.</a:t>
            </a:r>
          </a:p>
        </p:txBody>
      </p:sp>
      <p:sp>
        <p:nvSpPr>
          <p:cNvPr id="3" name="TextBox 2">
            <a:extLst>
              <a:ext uri="{FF2B5EF4-FFF2-40B4-BE49-F238E27FC236}">
                <a16:creationId xmlns:a16="http://schemas.microsoft.com/office/drawing/2014/main" id="{40E8885B-DCBC-D10D-01A0-C8170A380601}"/>
              </a:ext>
            </a:extLst>
          </p:cNvPr>
          <p:cNvSpPr txBox="1"/>
          <p:nvPr/>
        </p:nvSpPr>
        <p:spPr>
          <a:xfrm>
            <a:off x="571500" y="6283963"/>
            <a:ext cx="2702052" cy="307777"/>
          </a:xfrm>
          <a:prstGeom prst="rect">
            <a:avLst/>
          </a:prstGeom>
          <a:noFill/>
        </p:spPr>
        <p:txBody>
          <a:bodyPr wrap="square" rtlCol="0">
            <a:spAutoFit/>
          </a:bodyPr>
          <a:lstStyle/>
          <a:p>
            <a:r>
              <a:rPr lang="en-US" sz="1400"/>
              <a:t>All Campaigns</a:t>
            </a:r>
          </a:p>
        </p:txBody>
      </p:sp>
      <p:sp>
        <p:nvSpPr>
          <p:cNvPr id="4" name="Rectangle 3">
            <a:extLst>
              <a:ext uri="{FF2B5EF4-FFF2-40B4-BE49-F238E27FC236}">
                <a16:creationId xmlns:a16="http://schemas.microsoft.com/office/drawing/2014/main" id="{5D43C578-57CE-D173-0C9C-657D9E214F6F}"/>
              </a:ext>
            </a:extLst>
          </p:cNvPr>
          <p:cNvSpPr/>
          <p:nvPr/>
        </p:nvSpPr>
        <p:spPr>
          <a:xfrm flipH="1">
            <a:off x="2971422" y="1365250"/>
            <a:ext cx="206753" cy="3978275"/>
          </a:xfrm>
          <a:prstGeom prst="rect">
            <a:avLst/>
          </a:prstGeom>
          <a:solidFill>
            <a:srgbClr val="808080">
              <a:alpha val="2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D1A2ECF1-1227-9835-7DAD-8FD09D4D117A}"/>
              </a:ext>
            </a:extLst>
          </p:cNvPr>
          <p:cNvSpPr txBox="1"/>
          <p:nvPr/>
        </p:nvSpPr>
        <p:spPr>
          <a:xfrm>
            <a:off x="571500" y="5803004"/>
            <a:ext cx="5142747"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000" dirty="0">
                <a:solidFill>
                  <a:srgbClr val="000000"/>
                </a:solidFill>
              </a:rPr>
              <a:t>*Data covers Q2 2023 to Q2 2025</a:t>
            </a:r>
          </a:p>
          <a:p>
            <a:r>
              <a:rPr lang="en-US" sz="1000" dirty="0">
                <a:solidFill>
                  <a:srgbClr val="000000"/>
                </a:solidFill>
              </a:rPr>
              <a:t>*Data does not consider external factors such as weather, holidays</a:t>
            </a:r>
          </a:p>
        </p:txBody>
      </p:sp>
      <p:sp>
        <p:nvSpPr>
          <p:cNvPr id="5" name="Rectangle 4">
            <a:extLst>
              <a:ext uri="{FF2B5EF4-FFF2-40B4-BE49-F238E27FC236}">
                <a16:creationId xmlns:a16="http://schemas.microsoft.com/office/drawing/2014/main" id="{DF08C5A8-41B4-4C58-1DD6-713CDA09329D}"/>
              </a:ext>
            </a:extLst>
          </p:cNvPr>
          <p:cNvSpPr/>
          <p:nvPr/>
        </p:nvSpPr>
        <p:spPr>
          <a:xfrm flipH="1">
            <a:off x="5079622" y="1365250"/>
            <a:ext cx="206753" cy="3978275"/>
          </a:xfrm>
          <a:prstGeom prst="rect">
            <a:avLst/>
          </a:prstGeom>
          <a:solidFill>
            <a:srgbClr val="808080">
              <a:alpha val="2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18628734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a:extLst>
              <a:ext uri="{FF2B5EF4-FFF2-40B4-BE49-F238E27FC236}">
                <a16:creationId xmlns:a16="http://schemas.microsoft.com/office/drawing/2014/main" id="{4DB93F6C-69C0-A5CD-2682-42FEE36D357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71500" y="1230086"/>
            <a:ext cx="6235700" cy="4572000"/>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142B08FC-C45F-11BE-8E2C-26611CADD1CC}"/>
              </a:ext>
            </a:extLst>
          </p:cNvPr>
          <p:cNvSpPr>
            <a:spLocks noGrp="1"/>
          </p:cNvSpPr>
          <p:nvPr>
            <p:ph type="title"/>
          </p:nvPr>
        </p:nvSpPr>
        <p:spPr/>
        <p:txBody>
          <a:bodyPr/>
          <a:lstStyle/>
          <a:p>
            <a:r>
              <a:rPr lang="en-US" dirty="0"/>
              <a:t>LBE Spend </a:t>
            </a:r>
            <a:r>
              <a:rPr lang="en-US" cap="none" dirty="0"/>
              <a:t>vs </a:t>
            </a:r>
            <a:r>
              <a:rPr lang="en-US" dirty="0"/>
              <a:t>transactions</a:t>
            </a:r>
          </a:p>
        </p:txBody>
      </p:sp>
      <p:sp>
        <p:nvSpPr>
          <p:cNvPr id="5" name="TextBox 4">
            <a:extLst>
              <a:ext uri="{FF2B5EF4-FFF2-40B4-BE49-F238E27FC236}">
                <a16:creationId xmlns:a16="http://schemas.microsoft.com/office/drawing/2014/main" id="{9075B68D-D17C-CA8C-FD57-EEE6C37C472E}"/>
              </a:ext>
            </a:extLst>
          </p:cNvPr>
          <p:cNvSpPr txBox="1"/>
          <p:nvPr/>
        </p:nvSpPr>
        <p:spPr>
          <a:xfrm>
            <a:off x="7010400" y="1225381"/>
            <a:ext cx="4572000" cy="3785652"/>
          </a:xfrm>
          <a:prstGeom prst="rect">
            <a:avLst/>
          </a:prstGeom>
          <a:noFill/>
        </p:spPr>
        <p:txBody>
          <a:bodyPr wrap="square" lIns="91440" tIns="45720" rIns="91440" bIns="45720" rtlCol="0" anchor="t">
            <a:spAutoFit/>
          </a:bodyPr>
          <a:lstStyle/>
          <a:p>
            <a:pPr marL="285750" indent="-285750">
              <a:buFont typeface="Arial" panose="020B0604020202020204" pitchFamily="34" charset="0"/>
              <a:buChar char="•"/>
            </a:pPr>
            <a:r>
              <a:rPr lang="en-US" sz="1600" dirty="0"/>
              <a:t>In general, higher spend translates to higher transactions.</a:t>
            </a:r>
          </a:p>
          <a:p>
            <a:pPr marL="285750" indent="-285750">
              <a:buFont typeface="Arial" panose="020B0604020202020204" pitchFamily="34" charset="0"/>
              <a:buChar char="•"/>
            </a:pPr>
            <a:endParaRPr lang="en-US" sz="1600" dirty="0"/>
          </a:p>
          <a:p>
            <a:r>
              <a:rPr lang="en-US" sz="1600" u="sng" dirty="0"/>
              <a:t>Note:</a:t>
            </a:r>
          </a:p>
          <a:p>
            <a:pPr marL="285750" indent="-285750">
              <a:buFont typeface="Arial" panose="020B0604020202020204" pitchFamily="34" charset="0"/>
              <a:buChar char="•"/>
            </a:pPr>
            <a:r>
              <a:rPr lang="en-US" sz="1600" dirty="0"/>
              <a:t>Correlation of 0.47, moderate</a:t>
            </a:r>
          </a:p>
          <a:p>
            <a:pPr marL="285750" indent="-285750">
              <a:buFont typeface="Arial" panose="020B0604020202020204" pitchFamily="34" charset="0"/>
              <a:buChar char="•"/>
            </a:pPr>
            <a:endParaRPr lang="en-US" sz="1600" dirty="0"/>
          </a:p>
          <a:p>
            <a:pPr marL="285750" indent="-285750">
              <a:buFont typeface="Arial" panose="020B0604020202020204" pitchFamily="34" charset="0"/>
              <a:buChar char="•"/>
            </a:pPr>
            <a:r>
              <a:rPr lang="en-US" sz="1600" dirty="0"/>
              <a:t>Weeks in this region had </a:t>
            </a:r>
            <a:r>
              <a:rPr lang="en-US" sz="1600" b="1" dirty="0"/>
              <a:t>New Location </a:t>
            </a:r>
            <a:r>
              <a:rPr lang="en-US" sz="1600" dirty="0"/>
              <a:t>campaigns with delayed effects and so transactions are not reflected immediately. This weighs down the correlation figure.</a:t>
            </a:r>
          </a:p>
          <a:p>
            <a:endParaRPr lang="en-US" sz="1600" dirty="0"/>
          </a:p>
          <a:p>
            <a:pPr marL="285750" indent="-285750">
              <a:buFont typeface="Arial" panose="020B0604020202020204" pitchFamily="34" charset="0"/>
              <a:buChar char="•"/>
            </a:pPr>
            <a:r>
              <a:rPr lang="en-US" sz="1600" dirty="0"/>
              <a:t>Highlighted region displays weeks with high spend and relatively low transactions (Dec 2024). </a:t>
            </a:r>
          </a:p>
        </p:txBody>
      </p:sp>
      <p:sp>
        <p:nvSpPr>
          <p:cNvPr id="3" name="TextBox 2">
            <a:extLst>
              <a:ext uri="{FF2B5EF4-FFF2-40B4-BE49-F238E27FC236}">
                <a16:creationId xmlns:a16="http://schemas.microsoft.com/office/drawing/2014/main" id="{805D1968-3A16-E10A-F4A1-EA2EF010BE5F}"/>
              </a:ext>
            </a:extLst>
          </p:cNvPr>
          <p:cNvSpPr txBox="1"/>
          <p:nvPr/>
        </p:nvSpPr>
        <p:spPr>
          <a:xfrm>
            <a:off x="571500" y="6283963"/>
            <a:ext cx="2702052" cy="307777"/>
          </a:xfrm>
          <a:prstGeom prst="rect">
            <a:avLst/>
          </a:prstGeom>
          <a:noFill/>
        </p:spPr>
        <p:txBody>
          <a:bodyPr wrap="square" rtlCol="0">
            <a:spAutoFit/>
          </a:bodyPr>
          <a:lstStyle/>
          <a:p>
            <a:r>
              <a:rPr lang="en-US" sz="1400"/>
              <a:t>All Campaigns</a:t>
            </a:r>
          </a:p>
        </p:txBody>
      </p:sp>
      <p:sp>
        <p:nvSpPr>
          <p:cNvPr id="6" name="TextBox 5">
            <a:extLst>
              <a:ext uri="{FF2B5EF4-FFF2-40B4-BE49-F238E27FC236}">
                <a16:creationId xmlns:a16="http://schemas.microsoft.com/office/drawing/2014/main" id="{4FF0C186-866F-C79E-FFAA-C5B7FF374DA8}"/>
              </a:ext>
            </a:extLst>
          </p:cNvPr>
          <p:cNvSpPr txBox="1"/>
          <p:nvPr/>
        </p:nvSpPr>
        <p:spPr>
          <a:xfrm>
            <a:off x="571500" y="5803004"/>
            <a:ext cx="5142747"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000" dirty="0">
                <a:solidFill>
                  <a:srgbClr val="000000"/>
                </a:solidFill>
              </a:rPr>
              <a:t>*Data covers Q2 2023 to Q2 2025</a:t>
            </a:r>
          </a:p>
          <a:p>
            <a:r>
              <a:rPr lang="en-US" sz="1000" dirty="0">
                <a:solidFill>
                  <a:srgbClr val="000000"/>
                </a:solidFill>
              </a:rPr>
              <a:t>*Data does not consider external factors such as weather, holidays</a:t>
            </a:r>
          </a:p>
        </p:txBody>
      </p:sp>
      <p:sp>
        <p:nvSpPr>
          <p:cNvPr id="4" name="Rectangle 3">
            <a:extLst>
              <a:ext uri="{FF2B5EF4-FFF2-40B4-BE49-F238E27FC236}">
                <a16:creationId xmlns:a16="http://schemas.microsoft.com/office/drawing/2014/main" id="{7031A85E-2F79-8399-2E41-A1362E578A0C}"/>
              </a:ext>
            </a:extLst>
          </p:cNvPr>
          <p:cNvSpPr/>
          <p:nvPr/>
        </p:nvSpPr>
        <p:spPr>
          <a:xfrm>
            <a:off x="4209910" y="4430487"/>
            <a:ext cx="1799004" cy="783769"/>
          </a:xfrm>
          <a:prstGeom prst="rect">
            <a:avLst/>
          </a:prstGeom>
          <a:noFill/>
          <a:ln w="19050">
            <a:solidFill>
              <a:srgbClr val="C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46389974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417272-21B2-38DA-0D9F-66CD8F0F80B5}"/>
            </a:ext>
          </a:extLst>
        </p:cNvPr>
        <p:cNvGrpSpPr/>
        <p:nvPr/>
      </p:nvGrpSpPr>
      <p:grpSpPr>
        <a:xfrm>
          <a:off x="0" y="0"/>
          <a:ext cx="0" cy="0"/>
          <a:chOff x="0" y="0"/>
          <a:chExt cx="0" cy="0"/>
        </a:xfrm>
      </p:grpSpPr>
      <p:pic>
        <p:nvPicPr>
          <p:cNvPr id="12290" name="Picture 2">
            <a:extLst>
              <a:ext uri="{FF2B5EF4-FFF2-40B4-BE49-F238E27FC236}">
                <a16:creationId xmlns:a16="http://schemas.microsoft.com/office/drawing/2014/main" id="{82F3BC0F-9D31-BD58-BC56-38251C11CD7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7030" y="1226820"/>
            <a:ext cx="6229350" cy="4572000"/>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1BACE1D7-4D1C-48BA-87EE-D51D149406D6}"/>
              </a:ext>
            </a:extLst>
          </p:cNvPr>
          <p:cNvSpPr txBox="1"/>
          <p:nvPr/>
        </p:nvSpPr>
        <p:spPr>
          <a:xfrm>
            <a:off x="2285649" y="1536248"/>
            <a:ext cx="381836" cy="261610"/>
          </a:xfrm>
          <a:prstGeom prst="rect">
            <a:avLst/>
          </a:prstGeom>
          <a:noFill/>
        </p:spPr>
        <p:txBody>
          <a:bodyPr wrap="none" rtlCol="0">
            <a:spAutoFit/>
          </a:bodyPr>
          <a:lstStyle/>
          <a:p>
            <a:r>
              <a:rPr lang="en-US" sz="1100">
                <a:solidFill>
                  <a:schemeClr val="tx2"/>
                </a:solidFill>
              </a:rPr>
              <a:t>(2)</a:t>
            </a:r>
          </a:p>
        </p:txBody>
      </p:sp>
      <p:sp>
        <p:nvSpPr>
          <p:cNvPr id="2" name="Title 1">
            <a:extLst>
              <a:ext uri="{FF2B5EF4-FFF2-40B4-BE49-F238E27FC236}">
                <a16:creationId xmlns:a16="http://schemas.microsoft.com/office/drawing/2014/main" id="{897F4C51-FD93-E88F-9FDE-355BA2234D1A}"/>
              </a:ext>
            </a:extLst>
          </p:cNvPr>
          <p:cNvSpPr>
            <a:spLocks noGrp="1"/>
          </p:cNvSpPr>
          <p:nvPr>
            <p:ph type="title"/>
          </p:nvPr>
        </p:nvSpPr>
        <p:spPr/>
        <p:txBody>
          <a:bodyPr/>
          <a:lstStyle/>
          <a:p>
            <a:r>
              <a:rPr lang="en-US" dirty="0" err="1"/>
              <a:t>granville</a:t>
            </a:r>
            <a:r>
              <a:rPr lang="en-US" dirty="0"/>
              <a:t> spend </a:t>
            </a:r>
            <a:r>
              <a:rPr lang="en-US" cap="none" dirty="0"/>
              <a:t>vs</a:t>
            </a:r>
            <a:r>
              <a:rPr lang="en-US" dirty="0"/>
              <a:t> clicks</a:t>
            </a:r>
          </a:p>
        </p:txBody>
      </p:sp>
      <p:cxnSp>
        <p:nvCxnSpPr>
          <p:cNvPr id="3" name="Straight Arrow Connector 2">
            <a:extLst>
              <a:ext uri="{FF2B5EF4-FFF2-40B4-BE49-F238E27FC236}">
                <a16:creationId xmlns:a16="http://schemas.microsoft.com/office/drawing/2014/main" id="{8A7011ED-D5DB-9399-DF5C-4CFEABA43BBC}"/>
              </a:ext>
            </a:extLst>
          </p:cNvPr>
          <p:cNvCxnSpPr>
            <a:cxnSpLocks/>
          </p:cNvCxnSpPr>
          <p:nvPr/>
        </p:nvCxnSpPr>
        <p:spPr>
          <a:xfrm>
            <a:off x="2526792" y="2070463"/>
            <a:ext cx="499872" cy="0"/>
          </a:xfrm>
          <a:prstGeom prst="straightConnector1">
            <a:avLst/>
          </a:prstGeom>
          <a:ln w="19050">
            <a:solidFill>
              <a:schemeClr val="tx2"/>
            </a:solidFill>
            <a:headEnd type="triangle"/>
            <a:tailEnd type="triangle"/>
          </a:ln>
          <a:effectLst/>
        </p:spPr>
        <p:style>
          <a:lnRef idx="2">
            <a:schemeClr val="accent1"/>
          </a:lnRef>
          <a:fillRef idx="0">
            <a:schemeClr val="accent1"/>
          </a:fillRef>
          <a:effectRef idx="1">
            <a:schemeClr val="accent1"/>
          </a:effectRef>
          <a:fontRef idx="minor">
            <a:schemeClr val="tx1"/>
          </a:fontRef>
        </p:style>
      </p:cxnSp>
      <p:sp>
        <p:nvSpPr>
          <p:cNvPr id="5" name="TextBox 4">
            <a:extLst>
              <a:ext uri="{FF2B5EF4-FFF2-40B4-BE49-F238E27FC236}">
                <a16:creationId xmlns:a16="http://schemas.microsoft.com/office/drawing/2014/main" id="{E91DABFF-1593-8081-54CB-3403BBF32AD9}"/>
              </a:ext>
            </a:extLst>
          </p:cNvPr>
          <p:cNvSpPr txBox="1"/>
          <p:nvPr/>
        </p:nvSpPr>
        <p:spPr>
          <a:xfrm>
            <a:off x="7064830" y="1279811"/>
            <a:ext cx="4517570" cy="3539430"/>
          </a:xfrm>
          <a:prstGeom prst="rect">
            <a:avLst/>
          </a:prstGeom>
          <a:noFill/>
        </p:spPr>
        <p:txBody>
          <a:bodyPr wrap="square" lIns="91440" tIns="45720" rIns="91440" bIns="45720" rtlCol="0" anchor="t">
            <a:spAutoFit/>
          </a:bodyPr>
          <a:lstStyle/>
          <a:p>
            <a:pPr marL="285750" indent="-285750">
              <a:buFont typeface="Arial" panose="020B0604020202020204" pitchFamily="34" charset="0"/>
              <a:buChar char="•"/>
            </a:pPr>
            <a:r>
              <a:rPr lang="en-US" sz="1600" dirty="0"/>
              <a:t>Media spend on Granville campaigns also has moderate correlation with clicks.</a:t>
            </a:r>
          </a:p>
          <a:p>
            <a:pPr marL="285750" indent="-285750">
              <a:buFont typeface="Arial" panose="020B0604020202020204" pitchFamily="34" charset="0"/>
              <a:buChar char="•"/>
            </a:pPr>
            <a:endParaRPr lang="en-US" sz="1600" dirty="0"/>
          </a:p>
          <a:p>
            <a:pPr marL="285750" indent="-285750">
              <a:buFont typeface="Arial" panose="020B0604020202020204" pitchFamily="34" charset="0"/>
              <a:buChar char="•"/>
            </a:pPr>
            <a:r>
              <a:rPr lang="en-US" sz="1600" dirty="0"/>
              <a:t>There is a delay in the effects of spend of around 4 to 5 weeks.</a:t>
            </a:r>
          </a:p>
          <a:p>
            <a:pPr marL="285750" indent="-285750">
              <a:buFont typeface="Arial" panose="020B0604020202020204" pitchFamily="34" charset="0"/>
              <a:buChar char="•"/>
            </a:pPr>
            <a:endParaRPr lang="en-US" sz="1600" dirty="0"/>
          </a:p>
          <a:p>
            <a:pPr marL="285750" indent="-285750">
              <a:buFont typeface="Arial" panose="020B0604020202020204" pitchFamily="34" charset="0"/>
              <a:buChar char="•"/>
            </a:pPr>
            <a:r>
              <a:rPr lang="en-US" sz="1600" dirty="0"/>
              <a:t>The initial spike in clicks is attributed to week where spend was almost $6K </a:t>
            </a:r>
            <a:r>
              <a:rPr lang="en-US" sz="1600" baseline="30000" dirty="0"/>
              <a:t>(1) </a:t>
            </a:r>
            <a:r>
              <a:rPr lang="en-US" sz="1600" dirty="0"/>
              <a:t>(a soft launch).</a:t>
            </a:r>
          </a:p>
          <a:p>
            <a:pPr marL="285750" indent="-285750">
              <a:buFont typeface="Arial" panose="020B0604020202020204" pitchFamily="34" charset="0"/>
              <a:buChar char="•"/>
            </a:pPr>
            <a:endParaRPr lang="en-US" sz="1600" dirty="0"/>
          </a:p>
          <a:p>
            <a:pPr marL="285750" indent="-285750">
              <a:buFont typeface="Arial" panose="020B0604020202020204" pitchFamily="34" charset="0"/>
              <a:buChar char="•"/>
            </a:pPr>
            <a:r>
              <a:rPr lang="en-US" sz="1600" dirty="0"/>
              <a:t>This was followed by a week with spend of more than $14K </a:t>
            </a:r>
            <a:r>
              <a:rPr lang="en-US" sz="1600" baseline="30000" dirty="0"/>
              <a:t>(2)</a:t>
            </a:r>
            <a:r>
              <a:rPr lang="en-US" sz="1600" dirty="0"/>
              <a:t> contributing to another spike.</a:t>
            </a:r>
          </a:p>
        </p:txBody>
      </p:sp>
      <p:sp>
        <p:nvSpPr>
          <p:cNvPr id="6" name="TextBox 5">
            <a:extLst>
              <a:ext uri="{FF2B5EF4-FFF2-40B4-BE49-F238E27FC236}">
                <a16:creationId xmlns:a16="http://schemas.microsoft.com/office/drawing/2014/main" id="{149C6888-B271-533C-91AD-7CE67374D774}"/>
              </a:ext>
            </a:extLst>
          </p:cNvPr>
          <p:cNvSpPr txBox="1"/>
          <p:nvPr/>
        </p:nvSpPr>
        <p:spPr>
          <a:xfrm>
            <a:off x="1810161" y="3675944"/>
            <a:ext cx="360996" cy="261610"/>
          </a:xfrm>
          <a:prstGeom prst="rect">
            <a:avLst/>
          </a:prstGeom>
          <a:noFill/>
        </p:spPr>
        <p:txBody>
          <a:bodyPr wrap="none" rtlCol="0">
            <a:spAutoFit/>
          </a:bodyPr>
          <a:lstStyle/>
          <a:p>
            <a:r>
              <a:rPr lang="en-US" sz="1100">
                <a:solidFill>
                  <a:schemeClr val="tx2"/>
                </a:solidFill>
              </a:rPr>
              <a:t>(1)</a:t>
            </a:r>
          </a:p>
        </p:txBody>
      </p:sp>
      <p:cxnSp>
        <p:nvCxnSpPr>
          <p:cNvPr id="8" name="Straight Arrow Connector 7">
            <a:extLst>
              <a:ext uri="{FF2B5EF4-FFF2-40B4-BE49-F238E27FC236}">
                <a16:creationId xmlns:a16="http://schemas.microsoft.com/office/drawing/2014/main" id="{58194AAD-37AD-3AC1-0AF8-16A990A389CD}"/>
              </a:ext>
            </a:extLst>
          </p:cNvPr>
          <p:cNvCxnSpPr>
            <a:cxnSpLocks/>
          </p:cNvCxnSpPr>
          <p:nvPr/>
        </p:nvCxnSpPr>
        <p:spPr>
          <a:xfrm>
            <a:off x="2045523" y="4375622"/>
            <a:ext cx="350205" cy="0"/>
          </a:xfrm>
          <a:prstGeom prst="straightConnector1">
            <a:avLst/>
          </a:prstGeom>
          <a:ln w="19050">
            <a:solidFill>
              <a:schemeClr val="tx2"/>
            </a:solidFill>
            <a:headEnd type="triangle"/>
            <a:tailEnd type="triangle"/>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87857979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D896E7-B2D5-26DF-A54A-E8BC1B2C0213}"/>
            </a:ext>
          </a:extLst>
        </p:cNvPr>
        <p:cNvGrpSpPr/>
        <p:nvPr/>
      </p:nvGrpSpPr>
      <p:grpSpPr>
        <a:xfrm>
          <a:off x="0" y="0"/>
          <a:ext cx="0" cy="0"/>
          <a:chOff x="0" y="0"/>
          <a:chExt cx="0" cy="0"/>
        </a:xfrm>
      </p:grpSpPr>
      <p:pic>
        <p:nvPicPr>
          <p:cNvPr id="13314" name="Picture 2">
            <a:extLst>
              <a:ext uri="{FF2B5EF4-FFF2-40B4-BE49-F238E27FC236}">
                <a16:creationId xmlns:a16="http://schemas.microsoft.com/office/drawing/2014/main" id="{F02AD663-8650-429A-D99B-A7D8DFC9226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5978" y="1228344"/>
            <a:ext cx="6229350" cy="4572000"/>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FEF4A9F6-27C3-CCED-D3B6-0C0633D85D43}"/>
              </a:ext>
            </a:extLst>
          </p:cNvPr>
          <p:cNvSpPr>
            <a:spLocks noGrp="1"/>
          </p:cNvSpPr>
          <p:nvPr>
            <p:ph type="title"/>
          </p:nvPr>
        </p:nvSpPr>
        <p:spPr/>
        <p:txBody>
          <a:bodyPr/>
          <a:lstStyle/>
          <a:p>
            <a:r>
              <a:rPr lang="en-US" dirty="0"/>
              <a:t>Royalmount spend </a:t>
            </a:r>
            <a:r>
              <a:rPr lang="en-US" cap="none" dirty="0"/>
              <a:t>vs</a:t>
            </a:r>
            <a:r>
              <a:rPr lang="en-US" dirty="0"/>
              <a:t> clicks</a:t>
            </a:r>
          </a:p>
        </p:txBody>
      </p:sp>
      <p:cxnSp>
        <p:nvCxnSpPr>
          <p:cNvPr id="4" name="Straight Arrow Connector 3">
            <a:extLst>
              <a:ext uri="{FF2B5EF4-FFF2-40B4-BE49-F238E27FC236}">
                <a16:creationId xmlns:a16="http://schemas.microsoft.com/office/drawing/2014/main" id="{7B5C2C94-87AF-69D7-98F7-4F4C56E35F51}"/>
              </a:ext>
            </a:extLst>
          </p:cNvPr>
          <p:cNvCxnSpPr>
            <a:cxnSpLocks/>
          </p:cNvCxnSpPr>
          <p:nvPr/>
        </p:nvCxnSpPr>
        <p:spPr>
          <a:xfrm>
            <a:off x="1924705" y="2186311"/>
            <a:ext cx="489311" cy="0"/>
          </a:xfrm>
          <a:prstGeom prst="straightConnector1">
            <a:avLst/>
          </a:prstGeom>
          <a:ln w="19050">
            <a:solidFill>
              <a:schemeClr val="tx2"/>
            </a:solidFill>
            <a:headEnd type="triangle"/>
            <a:tailEnd type="triangle"/>
          </a:ln>
          <a:effectLst/>
        </p:spPr>
        <p:style>
          <a:lnRef idx="2">
            <a:schemeClr val="accent1"/>
          </a:lnRef>
          <a:fillRef idx="0">
            <a:schemeClr val="accent1"/>
          </a:fillRef>
          <a:effectRef idx="1">
            <a:schemeClr val="accent1"/>
          </a:effectRef>
          <a:fontRef idx="minor">
            <a:schemeClr val="tx1"/>
          </a:fontRef>
        </p:style>
      </p:cxnSp>
      <p:sp>
        <p:nvSpPr>
          <p:cNvPr id="3" name="TextBox 2">
            <a:extLst>
              <a:ext uri="{FF2B5EF4-FFF2-40B4-BE49-F238E27FC236}">
                <a16:creationId xmlns:a16="http://schemas.microsoft.com/office/drawing/2014/main" id="{0860D6B7-300B-075C-913B-1517E5A649F7}"/>
              </a:ext>
            </a:extLst>
          </p:cNvPr>
          <p:cNvSpPr txBox="1"/>
          <p:nvPr/>
        </p:nvSpPr>
        <p:spPr>
          <a:xfrm>
            <a:off x="7064830" y="1279811"/>
            <a:ext cx="4517570" cy="2800767"/>
          </a:xfrm>
          <a:prstGeom prst="rect">
            <a:avLst/>
          </a:prstGeom>
          <a:noFill/>
        </p:spPr>
        <p:txBody>
          <a:bodyPr wrap="square" lIns="91440" tIns="45720" rIns="91440" bIns="45720" rtlCol="0" anchor="t">
            <a:spAutoFit/>
          </a:bodyPr>
          <a:lstStyle/>
          <a:p>
            <a:pPr marL="285750" indent="-285750">
              <a:buFont typeface="Arial" panose="020B0604020202020204" pitchFamily="34" charset="0"/>
              <a:buChar char="•"/>
            </a:pPr>
            <a:r>
              <a:rPr lang="en-US" sz="1600" dirty="0"/>
              <a:t>Media spend on Royalmount campaigns clicks has moderate correlation with clicks.</a:t>
            </a:r>
          </a:p>
          <a:p>
            <a:pPr marL="285750" indent="-285750">
              <a:buFont typeface="Arial" panose="020B0604020202020204" pitchFamily="34" charset="0"/>
              <a:buChar char="•"/>
            </a:pPr>
            <a:endParaRPr lang="en-US" sz="1600" dirty="0"/>
          </a:p>
          <a:p>
            <a:pPr marL="285750" indent="-285750">
              <a:buFont typeface="Arial" panose="020B0604020202020204" pitchFamily="34" charset="0"/>
              <a:buChar char="•"/>
            </a:pPr>
            <a:r>
              <a:rPr lang="en-US" sz="1600" dirty="0"/>
              <a:t>There is a delay in the effects of spend of around 4 to 5 weeks.</a:t>
            </a:r>
          </a:p>
          <a:p>
            <a:pPr marL="285750" indent="-285750">
              <a:buFont typeface="Arial" panose="020B0604020202020204" pitchFamily="34" charset="0"/>
              <a:buChar char="•"/>
            </a:pPr>
            <a:endParaRPr lang="en-US" sz="1600" dirty="0"/>
          </a:p>
          <a:p>
            <a:pPr marL="285750" indent="-285750">
              <a:buFont typeface="Arial" panose="020B0604020202020204" pitchFamily="34" charset="0"/>
              <a:buChar char="•"/>
            </a:pPr>
            <a:r>
              <a:rPr lang="en-US" sz="1600" dirty="0"/>
              <a:t>The initial spike in clicks is attributed to week where spend was almost $14K </a:t>
            </a:r>
            <a:r>
              <a:rPr lang="en-US" sz="1600" baseline="30000" dirty="0"/>
              <a:t>(1)</a:t>
            </a:r>
            <a:r>
              <a:rPr lang="en-US" sz="1600" dirty="0"/>
              <a:t>, followed by weeks with spend of almost $10K </a:t>
            </a:r>
            <a:r>
              <a:rPr lang="en-US" sz="1600" baseline="30000" dirty="0"/>
              <a:t>(2)</a:t>
            </a:r>
            <a:r>
              <a:rPr lang="en-US" sz="1600" dirty="0"/>
              <a:t> contributing to another spike.</a:t>
            </a:r>
          </a:p>
        </p:txBody>
      </p:sp>
      <p:cxnSp>
        <p:nvCxnSpPr>
          <p:cNvPr id="7" name="Straight Arrow Connector 6">
            <a:extLst>
              <a:ext uri="{FF2B5EF4-FFF2-40B4-BE49-F238E27FC236}">
                <a16:creationId xmlns:a16="http://schemas.microsoft.com/office/drawing/2014/main" id="{FAA4B06D-B7F0-CD86-5BCF-3F8B36BB5F78}"/>
              </a:ext>
            </a:extLst>
          </p:cNvPr>
          <p:cNvCxnSpPr>
            <a:cxnSpLocks/>
          </p:cNvCxnSpPr>
          <p:nvPr/>
        </p:nvCxnSpPr>
        <p:spPr>
          <a:xfrm>
            <a:off x="2513494" y="2244035"/>
            <a:ext cx="504026" cy="0"/>
          </a:xfrm>
          <a:prstGeom prst="straightConnector1">
            <a:avLst/>
          </a:prstGeom>
          <a:ln w="19050">
            <a:solidFill>
              <a:schemeClr val="tx2"/>
            </a:solidFill>
            <a:headEnd type="triangle"/>
            <a:tailEnd type="triangle"/>
          </a:ln>
          <a:effectLst/>
        </p:spPr>
        <p:style>
          <a:lnRef idx="2">
            <a:schemeClr val="accent1"/>
          </a:lnRef>
          <a:fillRef idx="0">
            <a:schemeClr val="accent1"/>
          </a:fillRef>
          <a:effectRef idx="1">
            <a:schemeClr val="accent1"/>
          </a:effectRef>
          <a:fontRef idx="minor">
            <a:schemeClr val="tx1"/>
          </a:fontRef>
        </p:style>
      </p:cxnSp>
      <p:sp>
        <p:nvSpPr>
          <p:cNvPr id="12" name="TextBox 11">
            <a:extLst>
              <a:ext uri="{FF2B5EF4-FFF2-40B4-BE49-F238E27FC236}">
                <a16:creationId xmlns:a16="http://schemas.microsoft.com/office/drawing/2014/main" id="{4FEC8559-E76D-73EE-6BD1-A2004968A829}"/>
              </a:ext>
            </a:extLst>
          </p:cNvPr>
          <p:cNvSpPr txBox="1"/>
          <p:nvPr/>
        </p:nvSpPr>
        <p:spPr>
          <a:xfrm>
            <a:off x="1691725" y="1655686"/>
            <a:ext cx="360996" cy="261610"/>
          </a:xfrm>
          <a:prstGeom prst="rect">
            <a:avLst/>
          </a:prstGeom>
          <a:noFill/>
        </p:spPr>
        <p:txBody>
          <a:bodyPr wrap="none" rtlCol="0">
            <a:spAutoFit/>
          </a:bodyPr>
          <a:lstStyle/>
          <a:p>
            <a:r>
              <a:rPr lang="en-US" sz="1100">
                <a:solidFill>
                  <a:schemeClr val="tx2"/>
                </a:solidFill>
              </a:rPr>
              <a:t>(1)</a:t>
            </a:r>
          </a:p>
        </p:txBody>
      </p:sp>
      <p:sp>
        <p:nvSpPr>
          <p:cNvPr id="13" name="TextBox 12">
            <a:extLst>
              <a:ext uri="{FF2B5EF4-FFF2-40B4-BE49-F238E27FC236}">
                <a16:creationId xmlns:a16="http://schemas.microsoft.com/office/drawing/2014/main" id="{D885C7DD-D2C7-FBEE-A50A-91E99BE64F41}"/>
              </a:ext>
            </a:extLst>
          </p:cNvPr>
          <p:cNvSpPr txBox="1"/>
          <p:nvPr/>
        </p:nvSpPr>
        <p:spPr>
          <a:xfrm>
            <a:off x="2286000" y="2831922"/>
            <a:ext cx="381836" cy="261610"/>
          </a:xfrm>
          <a:prstGeom prst="rect">
            <a:avLst/>
          </a:prstGeom>
          <a:noFill/>
        </p:spPr>
        <p:txBody>
          <a:bodyPr wrap="none" rtlCol="0">
            <a:spAutoFit/>
          </a:bodyPr>
          <a:lstStyle/>
          <a:p>
            <a:r>
              <a:rPr lang="en-US" sz="1100">
                <a:solidFill>
                  <a:schemeClr val="tx2"/>
                </a:solidFill>
              </a:rPr>
              <a:t>(2)</a:t>
            </a:r>
          </a:p>
        </p:txBody>
      </p:sp>
    </p:spTree>
    <p:extLst>
      <p:ext uri="{BB962C8B-B14F-4D97-AF65-F5344CB8AC3E}">
        <p14:creationId xmlns:p14="http://schemas.microsoft.com/office/powerpoint/2010/main" val="68281280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42" name="Picture 2">
            <a:extLst>
              <a:ext uri="{FF2B5EF4-FFF2-40B4-BE49-F238E27FC236}">
                <a16:creationId xmlns:a16="http://schemas.microsoft.com/office/drawing/2014/main" id="{ADCFD58D-CE22-4314-664F-6BBEC0B976A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6422" y="1227156"/>
            <a:ext cx="6122458" cy="4572000"/>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8751A9F1-1897-2F06-A946-AF647DA66E5B}"/>
              </a:ext>
            </a:extLst>
          </p:cNvPr>
          <p:cNvSpPr>
            <a:spLocks noGrp="1"/>
          </p:cNvSpPr>
          <p:nvPr>
            <p:ph type="title"/>
          </p:nvPr>
        </p:nvSpPr>
        <p:spPr/>
        <p:txBody>
          <a:bodyPr/>
          <a:lstStyle/>
          <a:p>
            <a:r>
              <a:rPr lang="en-US"/>
              <a:t>Flighting</a:t>
            </a:r>
          </a:p>
        </p:txBody>
      </p:sp>
      <p:sp>
        <p:nvSpPr>
          <p:cNvPr id="5" name="TextBox 4">
            <a:extLst>
              <a:ext uri="{FF2B5EF4-FFF2-40B4-BE49-F238E27FC236}">
                <a16:creationId xmlns:a16="http://schemas.microsoft.com/office/drawing/2014/main" id="{35BC818C-460B-E425-CB00-EC90D06912E3}"/>
              </a:ext>
            </a:extLst>
          </p:cNvPr>
          <p:cNvSpPr txBox="1"/>
          <p:nvPr/>
        </p:nvSpPr>
        <p:spPr>
          <a:xfrm>
            <a:off x="571500" y="6283963"/>
            <a:ext cx="2702052" cy="307777"/>
          </a:xfrm>
          <a:prstGeom prst="rect">
            <a:avLst/>
          </a:prstGeom>
          <a:noFill/>
        </p:spPr>
        <p:txBody>
          <a:bodyPr wrap="square" rtlCol="0">
            <a:spAutoFit/>
          </a:bodyPr>
          <a:lstStyle/>
          <a:p>
            <a:r>
              <a:rPr lang="en-US" sz="1400"/>
              <a:t>All Campaigns</a:t>
            </a:r>
          </a:p>
        </p:txBody>
      </p:sp>
      <p:sp>
        <p:nvSpPr>
          <p:cNvPr id="3" name="TextBox 2">
            <a:extLst>
              <a:ext uri="{FF2B5EF4-FFF2-40B4-BE49-F238E27FC236}">
                <a16:creationId xmlns:a16="http://schemas.microsoft.com/office/drawing/2014/main" id="{63F41EC0-19EB-86E3-0034-67AE438139FC}"/>
              </a:ext>
            </a:extLst>
          </p:cNvPr>
          <p:cNvSpPr txBox="1"/>
          <p:nvPr/>
        </p:nvSpPr>
        <p:spPr>
          <a:xfrm>
            <a:off x="571500" y="5803004"/>
            <a:ext cx="5142747"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000" dirty="0">
                <a:solidFill>
                  <a:srgbClr val="000000"/>
                </a:solidFill>
              </a:rPr>
              <a:t>* Data covers Q2 2023 to Q2 2025</a:t>
            </a:r>
          </a:p>
          <a:p>
            <a:r>
              <a:rPr lang="en-US" sz="1000" dirty="0">
                <a:solidFill>
                  <a:srgbClr val="000000"/>
                </a:solidFill>
              </a:rPr>
              <a:t>* Data does not consider external factors such as weather, holidays</a:t>
            </a:r>
          </a:p>
        </p:txBody>
      </p:sp>
      <p:sp>
        <p:nvSpPr>
          <p:cNvPr id="4" name="TextBox 3">
            <a:extLst>
              <a:ext uri="{FF2B5EF4-FFF2-40B4-BE49-F238E27FC236}">
                <a16:creationId xmlns:a16="http://schemas.microsoft.com/office/drawing/2014/main" id="{F18FF634-A378-EA8E-6615-E1CABD0A75FE}"/>
              </a:ext>
            </a:extLst>
          </p:cNvPr>
          <p:cNvSpPr txBox="1"/>
          <p:nvPr/>
        </p:nvSpPr>
        <p:spPr>
          <a:xfrm>
            <a:off x="9374576" y="105565"/>
            <a:ext cx="2708566" cy="938719"/>
          </a:xfrm>
          <a:prstGeom prst="rect">
            <a:avLst/>
          </a:prstGeom>
          <a:noFill/>
        </p:spPr>
        <p:txBody>
          <a:bodyPr wrap="square" rtlCol="0">
            <a:spAutoFit/>
          </a:bodyPr>
          <a:lstStyle/>
          <a:p>
            <a:pPr algn="r"/>
            <a:r>
              <a:rPr lang="en-US" sz="1100"/>
              <a:t>HPL = High-performing locations</a:t>
            </a:r>
          </a:p>
          <a:p>
            <a:pPr algn="r"/>
            <a:r>
              <a:rPr lang="en-US" sz="1100"/>
              <a:t>LPL = Low-performing locations</a:t>
            </a:r>
          </a:p>
          <a:p>
            <a:pPr algn="r"/>
            <a:r>
              <a:rPr lang="en-US" sz="1100"/>
              <a:t>NL = New locations</a:t>
            </a:r>
          </a:p>
          <a:p>
            <a:pPr algn="r"/>
            <a:r>
              <a:rPr lang="en-US" sz="1100"/>
              <a:t>TRR = The Rec Room</a:t>
            </a:r>
          </a:p>
          <a:p>
            <a:pPr algn="r"/>
            <a:r>
              <a:rPr lang="en-US" sz="1100"/>
              <a:t>PDM = Playdium</a:t>
            </a:r>
          </a:p>
        </p:txBody>
      </p:sp>
      <p:sp>
        <p:nvSpPr>
          <p:cNvPr id="7" name="TextBox 6">
            <a:extLst>
              <a:ext uri="{FF2B5EF4-FFF2-40B4-BE49-F238E27FC236}">
                <a16:creationId xmlns:a16="http://schemas.microsoft.com/office/drawing/2014/main" id="{FFCD671D-0B63-F070-E623-39F2F3B3D83B}"/>
              </a:ext>
            </a:extLst>
          </p:cNvPr>
          <p:cNvSpPr txBox="1"/>
          <p:nvPr/>
        </p:nvSpPr>
        <p:spPr>
          <a:xfrm>
            <a:off x="7010400" y="1225381"/>
            <a:ext cx="4572000" cy="3046988"/>
          </a:xfrm>
          <a:prstGeom prst="rect">
            <a:avLst/>
          </a:prstGeom>
          <a:noFill/>
        </p:spPr>
        <p:txBody>
          <a:bodyPr wrap="square" lIns="91440" tIns="45720" rIns="91440" bIns="45720" rtlCol="0" anchor="t">
            <a:spAutoFit/>
          </a:bodyPr>
          <a:lstStyle/>
          <a:p>
            <a:pPr marL="285750" indent="-285750">
              <a:buFont typeface="Arial" panose="020B0604020202020204" pitchFamily="34" charset="0"/>
              <a:buChar char="•"/>
            </a:pPr>
            <a:r>
              <a:rPr lang="en-US" sz="1600"/>
              <a:t>All location types have some form of Always On campaign, as seen by the continuous bars.</a:t>
            </a:r>
          </a:p>
          <a:p>
            <a:pPr marL="285750" indent="-285750">
              <a:buFont typeface="Arial" panose="020B0604020202020204" pitchFamily="34" charset="0"/>
              <a:buChar char="•"/>
            </a:pPr>
            <a:endParaRPr lang="en-US" sz="1600"/>
          </a:p>
          <a:p>
            <a:pPr marL="285750" indent="-285750">
              <a:buFont typeface="Arial" panose="020B0604020202020204" pitchFamily="34" charset="0"/>
              <a:buChar char="•"/>
            </a:pPr>
            <a:r>
              <a:rPr lang="en-US" sz="1600"/>
              <a:t>New location campaigns were started in Q4 2024, and have been allocated spend consistently before and shortly after opening</a:t>
            </a:r>
          </a:p>
          <a:p>
            <a:pPr marL="285750" indent="-285750">
              <a:buFont typeface="Arial" panose="020B0604020202020204" pitchFamily="34" charset="0"/>
              <a:buChar char="•"/>
            </a:pPr>
            <a:endParaRPr lang="en-US" sz="1600"/>
          </a:p>
          <a:p>
            <a:pPr marL="285750" indent="-285750">
              <a:buFont typeface="Arial" panose="020B0604020202020204" pitchFamily="34" charset="0"/>
              <a:buChar char="•"/>
            </a:pPr>
            <a:r>
              <a:rPr lang="en-US" sz="1600"/>
              <a:t>HPL had a campaign run during Q4 2024 in Toronto Roundhouse (Taylor Swift Concert Party)</a:t>
            </a:r>
          </a:p>
        </p:txBody>
      </p:sp>
    </p:spTree>
    <p:extLst>
      <p:ext uri="{BB962C8B-B14F-4D97-AF65-F5344CB8AC3E}">
        <p14:creationId xmlns:p14="http://schemas.microsoft.com/office/powerpoint/2010/main" val="172696425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a:extLst>
              <a:ext uri="{FF2B5EF4-FFF2-40B4-BE49-F238E27FC236}">
                <a16:creationId xmlns:a16="http://schemas.microsoft.com/office/drawing/2014/main" id="{74CDAD79-957E-D647-58D0-9DB0B1DFD4A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5318" y="1231004"/>
            <a:ext cx="6122458" cy="4572000"/>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12D860F7-B80E-E2BF-8958-269515D5FE3F}"/>
              </a:ext>
            </a:extLst>
          </p:cNvPr>
          <p:cNvSpPr>
            <a:spLocks noGrp="1"/>
          </p:cNvSpPr>
          <p:nvPr>
            <p:ph type="title"/>
          </p:nvPr>
        </p:nvSpPr>
        <p:spPr/>
        <p:txBody>
          <a:bodyPr/>
          <a:lstStyle/>
          <a:p>
            <a:r>
              <a:rPr lang="en-US" dirty="0"/>
              <a:t>Year-on-year change in revenue by location</a:t>
            </a:r>
          </a:p>
        </p:txBody>
      </p:sp>
      <p:sp>
        <p:nvSpPr>
          <p:cNvPr id="3" name="TextBox 2">
            <a:extLst>
              <a:ext uri="{FF2B5EF4-FFF2-40B4-BE49-F238E27FC236}">
                <a16:creationId xmlns:a16="http://schemas.microsoft.com/office/drawing/2014/main" id="{1A56D97D-C1A3-07CE-8CAF-285FD5A934CB}"/>
              </a:ext>
            </a:extLst>
          </p:cNvPr>
          <p:cNvSpPr txBox="1"/>
          <p:nvPr/>
        </p:nvSpPr>
        <p:spPr>
          <a:xfrm>
            <a:off x="571500" y="5803004"/>
            <a:ext cx="5615940"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000" dirty="0">
                <a:solidFill>
                  <a:srgbClr val="000000"/>
                </a:solidFill>
              </a:rPr>
              <a:t>*Data covers H1 2024 and H1 2025</a:t>
            </a:r>
          </a:p>
          <a:p>
            <a:r>
              <a:rPr lang="en-US" sz="1000" dirty="0">
                <a:solidFill>
                  <a:srgbClr val="000000"/>
                </a:solidFill>
              </a:rPr>
              <a:t>*New locations are not included since they were not open for the majority of 2024</a:t>
            </a:r>
          </a:p>
        </p:txBody>
      </p:sp>
      <p:sp>
        <p:nvSpPr>
          <p:cNvPr id="4" name="TextBox 3">
            <a:extLst>
              <a:ext uri="{FF2B5EF4-FFF2-40B4-BE49-F238E27FC236}">
                <a16:creationId xmlns:a16="http://schemas.microsoft.com/office/drawing/2014/main" id="{E0514417-6691-E02E-BF55-4601E894ADAB}"/>
              </a:ext>
            </a:extLst>
          </p:cNvPr>
          <p:cNvSpPr txBox="1"/>
          <p:nvPr/>
        </p:nvSpPr>
        <p:spPr>
          <a:xfrm>
            <a:off x="7010400" y="1231004"/>
            <a:ext cx="4572000" cy="3785652"/>
          </a:xfrm>
          <a:prstGeom prst="rect">
            <a:avLst/>
          </a:prstGeom>
          <a:noFill/>
        </p:spPr>
        <p:txBody>
          <a:bodyPr wrap="square" lIns="91440" tIns="45720" rIns="91440" bIns="45720" rtlCol="0" anchor="t">
            <a:spAutoFit/>
          </a:bodyPr>
          <a:lstStyle/>
          <a:p>
            <a:pPr marL="285750" indent="-285750">
              <a:buFont typeface="Arial" panose="020B0604020202020204" pitchFamily="34" charset="0"/>
              <a:buChar char="•"/>
            </a:pPr>
            <a:r>
              <a:rPr lang="en-US" sz="1500" b="1" dirty="0"/>
              <a:t>Strong positive performance for certain locations</a:t>
            </a:r>
          </a:p>
          <a:p>
            <a:pPr marL="742950" lvl="1" indent="-285750">
              <a:buFont typeface="Arial" panose="020B0604020202020204" pitchFamily="34" charset="0"/>
              <a:buChar char="•"/>
            </a:pPr>
            <a:r>
              <a:rPr lang="en-US" sz="1500" dirty="0"/>
              <a:t>TRR South Edmonton and TRR West Edmonton Mall stand out with the highest YoY revenue increases.</a:t>
            </a:r>
          </a:p>
          <a:p>
            <a:pPr marL="742950" lvl="1" indent="-285750">
              <a:buFont typeface="Arial" panose="020B0604020202020204" pitchFamily="34" charset="0"/>
              <a:buChar char="•"/>
            </a:pPr>
            <a:r>
              <a:rPr lang="en-US" sz="1500" dirty="0"/>
              <a:t>PDM Dartmouth and TRR Masonville had almost no change in revenue.</a:t>
            </a:r>
          </a:p>
          <a:p>
            <a:pPr marL="742950" lvl="1" indent="-285750">
              <a:buFont typeface="Arial" panose="020B0604020202020204" pitchFamily="34" charset="0"/>
              <a:buChar char="•"/>
            </a:pPr>
            <a:endParaRPr lang="en-US" sz="1500" dirty="0"/>
          </a:p>
          <a:p>
            <a:pPr marL="285750" indent="-285750">
              <a:buFont typeface="Arial" panose="020B0604020202020204" pitchFamily="34" charset="0"/>
              <a:buChar char="•"/>
            </a:pPr>
            <a:r>
              <a:rPr lang="en-US" sz="1500" b="1" dirty="0"/>
              <a:t>Significant declines in some locations</a:t>
            </a:r>
          </a:p>
          <a:p>
            <a:pPr marL="742950" lvl="1" indent="-285750">
              <a:buFont typeface="Arial" panose="020B0604020202020204" pitchFamily="34" charset="0"/>
              <a:buChar char="•"/>
            </a:pPr>
            <a:r>
              <a:rPr lang="en-US" sz="1500" dirty="0"/>
              <a:t>TRR Brentwood saw a sharp decline in revenue, with a YoY drop of around 17%. This indicates potential issues at this location that need addressing.</a:t>
            </a:r>
          </a:p>
          <a:p>
            <a:pPr marL="742950" lvl="1" indent="-285750">
              <a:buFont typeface="Arial" panose="020B0604020202020204" pitchFamily="34" charset="0"/>
              <a:buChar char="•"/>
            </a:pPr>
            <a:r>
              <a:rPr lang="en-US" sz="1500" dirty="0"/>
              <a:t>PDM Orion Gate also shows a significant YoY decrease, suggesting challenges in that location.</a:t>
            </a:r>
          </a:p>
        </p:txBody>
      </p:sp>
    </p:spTree>
    <p:extLst>
      <p:ext uri="{BB962C8B-B14F-4D97-AF65-F5344CB8AC3E}">
        <p14:creationId xmlns:p14="http://schemas.microsoft.com/office/powerpoint/2010/main" val="213027641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B06C2D-C106-2D34-164E-38447B7C231E}"/>
              </a:ext>
            </a:extLst>
          </p:cNvPr>
          <p:cNvSpPr>
            <a:spLocks noGrp="1"/>
          </p:cNvSpPr>
          <p:nvPr>
            <p:ph type="title"/>
          </p:nvPr>
        </p:nvSpPr>
        <p:spPr/>
        <p:txBody>
          <a:bodyPr/>
          <a:lstStyle/>
          <a:p>
            <a:r>
              <a:rPr lang="en-US" dirty="0"/>
              <a:t>Strategic Key Takeaways </a:t>
            </a:r>
          </a:p>
        </p:txBody>
      </p:sp>
      <p:sp>
        <p:nvSpPr>
          <p:cNvPr id="7" name="TextBox 6">
            <a:extLst>
              <a:ext uri="{FF2B5EF4-FFF2-40B4-BE49-F238E27FC236}">
                <a16:creationId xmlns:a16="http://schemas.microsoft.com/office/drawing/2014/main" id="{E6EE8A2E-AFF2-A8B4-0B4D-D0838F82BBF7}"/>
              </a:ext>
            </a:extLst>
          </p:cNvPr>
          <p:cNvSpPr txBox="1"/>
          <p:nvPr/>
        </p:nvSpPr>
        <p:spPr>
          <a:xfrm>
            <a:off x="571500" y="1231004"/>
            <a:ext cx="11010900" cy="4770537"/>
          </a:xfrm>
          <a:prstGeom prst="rect">
            <a:avLst/>
          </a:prstGeom>
          <a:noFill/>
        </p:spPr>
        <p:txBody>
          <a:bodyPr wrap="square">
            <a:spAutoFit/>
          </a:bodyPr>
          <a:lstStyle/>
          <a:p>
            <a:pPr marL="285750" indent="-285750">
              <a:buFont typeface="Arial" panose="020B0604020202020204" pitchFamily="34" charset="0"/>
              <a:buChar char="•"/>
            </a:pPr>
            <a:r>
              <a:rPr lang="en-US" sz="1600" b="1" dirty="0"/>
              <a:t>Balance Brand vs. Performance Spend: </a:t>
            </a:r>
          </a:p>
          <a:p>
            <a:pPr marL="742950" lvl="1" indent="-285750">
              <a:buFont typeface="Arial" panose="020B0604020202020204" pitchFamily="34" charset="0"/>
              <a:buChar char="•"/>
            </a:pPr>
            <a:r>
              <a:rPr lang="en-US" sz="1600" dirty="0"/>
              <a:t>Consider if low-conversion periods are better suited for direct response vs. awareness-building.</a:t>
            </a:r>
          </a:p>
          <a:p>
            <a:pPr marL="285750" indent="-285750">
              <a:buFont typeface="Arial" panose="020B0604020202020204" pitchFamily="34" charset="0"/>
              <a:buChar char="•"/>
            </a:pPr>
            <a:endParaRPr lang="en-US" sz="1600" dirty="0"/>
          </a:p>
          <a:p>
            <a:pPr marL="285750" indent="-285750">
              <a:buFont typeface="Arial" panose="020B0604020202020204" pitchFamily="34" charset="0"/>
              <a:buChar char="•"/>
            </a:pPr>
            <a:r>
              <a:rPr lang="en-US" sz="1600" b="1" dirty="0"/>
              <a:t>Optimize Consideration Campaigns: </a:t>
            </a:r>
          </a:p>
          <a:p>
            <a:pPr marL="742950" lvl="1" indent="-285750">
              <a:buFont typeface="Arial" panose="020B0604020202020204" pitchFamily="34" charset="0"/>
              <a:buChar char="•"/>
            </a:pPr>
            <a:r>
              <a:rPr lang="en-US" sz="1600" dirty="0"/>
              <a:t>Improve efficiency for NL-TRR and NL-PDM in consideration campaigns to match their awareness effectiveness.</a:t>
            </a:r>
          </a:p>
          <a:p>
            <a:pPr marL="285750" indent="-285750">
              <a:buFont typeface="Arial" panose="020B0604020202020204" pitchFamily="34" charset="0"/>
              <a:buChar char="•"/>
            </a:pPr>
            <a:endParaRPr lang="en-US" sz="1600" dirty="0"/>
          </a:p>
          <a:p>
            <a:pPr marL="285750" indent="-285750">
              <a:buFont typeface="Arial" panose="020B0604020202020204" pitchFamily="34" charset="0"/>
              <a:buChar char="•"/>
            </a:pPr>
            <a:r>
              <a:rPr lang="en-US" sz="1600" b="1" dirty="0"/>
              <a:t>Leverage Seasonal Peaks: </a:t>
            </a:r>
          </a:p>
          <a:p>
            <a:pPr marL="742950" lvl="1" indent="-285750">
              <a:buFont typeface="Arial" panose="020B0604020202020204" pitchFamily="34" charset="0"/>
              <a:buChar char="•"/>
            </a:pPr>
            <a:r>
              <a:rPr lang="en-US" sz="1600" dirty="0"/>
              <a:t>Capitalize on holiday season spikes by aligning increased media spend with seasonal trends for a stronger post-holiday boost.</a:t>
            </a:r>
          </a:p>
          <a:p>
            <a:pPr marL="285750" indent="-285750">
              <a:buFont typeface="Arial" panose="020B0604020202020204" pitchFamily="34" charset="0"/>
              <a:buChar char="•"/>
            </a:pPr>
            <a:endParaRPr lang="en-US" sz="1600" dirty="0"/>
          </a:p>
          <a:p>
            <a:pPr marL="285750" indent="-285750">
              <a:buFont typeface="Arial" panose="020B0604020202020204" pitchFamily="34" charset="0"/>
              <a:buChar char="•"/>
            </a:pPr>
            <a:r>
              <a:rPr lang="en-US" sz="1600" b="1" dirty="0"/>
              <a:t>Strategic Spend Allocation for New Locations: </a:t>
            </a:r>
          </a:p>
          <a:p>
            <a:pPr marL="742950" lvl="1" indent="-285750">
              <a:buFont typeface="Arial" panose="020B0604020202020204" pitchFamily="34" charset="0"/>
              <a:buChar char="•"/>
            </a:pPr>
            <a:r>
              <a:rPr lang="en-US" sz="1600" dirty="0"/>
              <a:t>Ensure that new location campaigns receive consistent budget allocation and tailored strategies to generate early momentum, as seen in Q4 2024.</a:t>
            </a:r>
          </a:p>
          <a:p>
            <a:pPr marL="285750" indent="-285750">
              <a:buFont typeface="Arial" panose="020B0604020202020204" pitchFamily="34" charset="0"/>
              <a:buChar char="•"/>
            </a:pPr>
            <a:endParaRPr lang="en-US" sz="1600" dirty="0"/>
          </a:p>
          <a:p>
            <a:pPr marL="285750" indent="-285750">
              <a:buFont typeface="Arial" panose="020B0604020202020204" pitchFamily="34" charset="0"/>
              <a:buChar char="•"/>
            </a:pPr>
            <a:r>
              <a:rPr lang="en-US" sz="1600" b="1" dirty="0"/>
              <a:t>Monitor Delayed Effects and Adjust Timelines:</a:t>
            </a:r>
          </a:p>
          <a:p>
            <a:pPr marL="742950" lvl="1" indent="-285750">
              <a:buFont typeface="Arial" panose="020B0604020202020204" pitchFamily="34" charset="0"/>
              <a:buChar char="•"/>
            </a:pPr>
            <a:r>
              <a:rPr lang="en-US" sz="1600" dirty="0"/>
              <a:t>Incorporate the delayed effects of spend into campaign strategy, especially for Granville and Royalmount locations. Plan campaigns with a 3-4 weeks lead time to better track and optimize the impact.</a:t>
            </a:r>
          </a:p>
        </p:txBody>
      </p:sp>
    </p:spTree>
    <p:extLst>
      <p:ext uri="{BB962C8B-B14F-4D97-AF65-F5344CB8AC3E}">
        <p14:creationId xmlns:p14="http://schemas.microsoft.com/office/powerpoint/2010/main" val="129597085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7466D0-AA82-24A9-5958-5A85F3A66B09}"/>
              </a:ext>
            </a:extLst>
          </p:cNvPr>
          <p:cNvSpPr>
            <a:spLocks noGrp="1"/>
          </p:cNvSpPr>
          <p:nvPr>
            <p:ph type="title"/>
          </p:nvPr>
        </p:nvSpPr>
        <p:spPr/>
        <p:txBody>
          <a:bodyPr/>
          <a:lstStyle/>
          <a:p>
            <a:r>
              <a:rPr lang="en-US"/>
              <a:t>Channels</a:t>
            </a:r>
          </a:p>
        </p:txBody>
      </p:sp>
    </p:spTree>
    <p:extLst>
      <p:ext uri="{BB962C8B-B14F-4D97-AF65-F5344CB8AC3E}">
        <p14:creationId xmlns:p14="http://schemas.microsoft.com/office/powerpoint/2010/main" val="342266299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51DF1B-1743-61FA-2AFD-520E9252C75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B985DBB-125F-9CCB-FC02-BD9AE5FED94C}"/>
              </a:ext>
            </a:extLst>
          </p:cNvPr>
          <p:cNvSpPr>
            <a:spLocks noGrp="1"/>
          </p:cNvSpPr>
          <p:nvPr>
            <p:ph type="title"/>
          </p:nvPr>
        </p:nvSpPr>
        <p:spPr>
          <a:xfrm>
            <a:off x="651947" y="2657462"/>
            <a:ext cx="10888105" cy="771538"/>
          </a:xfrm>
        </p:spPr>
        <p:txBody>
          <a:bodyPr/>
          <a:lstStyle/>
          <a:p>
            <a:pPr marL="0"/>
            <a:r>
              <a:rPr lang="en-US"/>
              <a:t>Channels summary</a:t>
            </a:r>
          </a:p>
        </p:txBody>
      </p:sp>
    </p:spTree>
    <p:extLst>
      <p:ext uri="{BB962C8B-B14F-4D97-AF65-F5344CB8AC3E}">
        <p14:creationId xmlns:p14="http://schemas.microsoft.com/office/powerpoint/2010/main" val="370311355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430E6F-2AF3-7BFC-F4CD-CA8D3C5E654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675F32B-E209-4542-3426-8BD0F2C0FA32}"/>
              </a:ext>
            </a:extLst>
          </p:cNvPr>
          <p:cNvSpPr>
            <a:spLocks noGrp="1"/>
          </p:cNvSpPr>
          <p:nvPr>
            <p:ph type="title"/>
          </p:nvPr>
        </p:nvSpPr>
        <p:spPr/>
        <p:txBody>
          <a:bodyPr/>
          <a:lstStyle/>
          <a:p>
            <a:pPr marL="552450"/>
            <a:r>
              <a:rPr lang="en-US" dirty="0">
                <a:latin typeface="MarkOT-CondBlack"/>
              </a:rPr>
              <a:t>The </a:t>
            </a:r>
            <a:r>
              <a:rPr lang="en-US">
                <a:latin typeface="MarkOT-CondBlack"/>
              </a:rPr>
              <a:t>Rec room Spend by channel </a:t>
            </a:r>
            <a:r>
              <a:rPr lang="en-US" cap="none">
                <a:latin typeface="MarkOT-CondBlack"/>
              </a:rPr>
              <a:t>vs</a:t>
            </a:r>
            <a:r>
              <a:rPr lang="en-US">
                <a:latin typeface="MarkOT-CondBlack"/>
              </a:rPr>
              <a:t> impressions</a:t>
            </a:r>
            <a:endParaRPr lang="en-US"/>
          </a:p>
        </p:txBody>
      </p:sp>
      <p:sp>
        <p:nvSpPr>
          <p:cNvPr id="4" name="TextBox 3">
            <a:extLst>
              <a:ext uri="{FF2B5EF4-FFF2-40B4-BE49-F238E27FC236}">
                <a16:creationId xmlns:a16="http://schemas.microsoft.com/office/drawing/2014/main" id="{84D7CAF9-FFCA-54F2-1463-61F4B5F66C71}"/>
              </a:ext>
            </a:extLst>
          </p:cNvPr>
          <p:cNvSpPr txBox="1"/>
          <p:nvPr/>
        </p:nvSpPr>
        <p:spPr>
          <a:xfrm>
            <a:off x="571500" y="6283963"/>
            <a:ext cx="2702052" cy="307777"/>
          </a:xfrm>
          <a:prstGeom prst="rect">
            <a:avLst/>
          </a:prstGeom>
          <a:noFill/>
        </p:spPr>
        <p:txBody>
          <a:bodyPr wrap="square" rtlCol="0">
            <a:spAutoFit/>
          </a:bodyPr>
          <a:lstStyle/>
          <a:p>
            <a:r>
              <a:rPr lang="en-US" sz="1400"/>
              <a:t>Awareness Campaigns</a:t>
            </a:r>
          </a:p>
        </p:txBody>
      </p:sp>
      <p:sp>
        <p:nvSpPr>
          <p:cNvPr id="5" name="TextBox 4">
            <a:extLst>
              <a:ext uri="{FF2B5EF4-FFF2-40B4-BE49-F238E27FC236}">
                <a16:creationId xmlns:a16="http://schemas.microsoft.com/office/drawing/2014/main" id="{502F1FE9-04EE-47AB-C5EC-CA8A0C09049A}"/>
              </a:ext>
            </a:extLst>
          </p:cNvPr>
          <p:cNvSpPr txBox="1"/>
          <p:nvPr/>
        </p:nvSpPr>
        <p:spPr>
          <a:xfrm>
            <a:off x="571500" y="5803004"/>
            <a:ext cx="5142747"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000" dirty="0">
                <a:solidFill>
                  <a:srgbClr val="000000"/>
                </a:solidFill>
              </a:rPr>
              <a:t>*Data covers Q2 2023 to Q2 2025</a:t>
            </a:r>
          </a:p>
          <a:p>
            <a:r>
              <a:rPr lang="en-US" sz="1000" dirty="0">
                <a:solidFill>
                  <a:srgbClr val="000000"/>
                </a:solidFill>
              </a:rPr>
              <a:t>*Data does not consider external factors such as weather, holidays</a:t>
            </a:r>
          </a:p>
        </p:txBody>
      </p:sp>
      <p:sp>
        <p:nvSpPr>
          <p:cNvPr id="3" name="TextBox 2">
            <a:extLst>
              <a:ext uri="{FF2B5EF4-FFF2-40B4-BE49-F238E27FC236}">
                <a16:creationId xmlns:a16="http://schemas.microsoft.com/office/drawing/2014/main" id="{3FCE9FC6-EC46-619A-A77D-D09A726AB568}"/>
              </a:ext>
            </a:extLst>
          </p:cNvPr>
          <p:cNvSpPr txBox="1"/>
          <p:nvPr/>
        </p:nvSpPr>
        <p:spPr>
          <a:xfrm>
            <a:off x="7032172" y="1236267"/>
            <a:ext cx="4200578" cy="4524315"/>
          </a:xfrm>
          <a:prstGeom prst="rect">
            <a:avLst/>
          </a:prstGeom>
          <a:noFill/>
        </p:spPr>
        <p:txBody>
          <a:bodyPr wrap="square" lIns="91440" tIns="45720" rIns="91440" bIns="45720" rtlCol="0" anchor="t">
            <a:spAutoFit/>
          </a:bodyPr>
          <a:lstStyle/>
          <a:p>
            <a:pPr marL="285750" indent="-285750">
              <a:buFont typeface="Arial" panose="020B0604020202020204" pitchFamily="34" charset="0"/>
              <a:buChar char="•"/>
            </a:pPr>
            <a:r>
              <a:rPr lang="en-US" sz="1600" dirty="0"/>
              <a:t>Meta had a spend proportion of 40% but brought in 52% of all impressions in TRR campaigns, meaning it was the most efficient channel for awareness.</a:t>
            </a:r>
          </a:p>
          <a:p>
            <a:pPr marL="285750" indent="-285750">
              <a:buFont typeface="Arial" panose="020B0604020202020204" pitchFamily="34" charset="0"/>
              <a:buChar char="•"/>
            </a:pPr>
            <a:endParaRPr lang="en-US" sz="1600" dirty="0"/>
          </a:p>
          <a:p>
            <a:pPr marL="285750" indent="-285750">
              <a:buFont typeface="Arial" panose="020B0604020202020204" pitchFamily="34" charset="0"/>
              <a:buChar char="•"/>
            </a:pPr>
            <a:r>
              <a:rPr lang="en-US" sz="1600" dirty="0"/>
              <a:t>OOH was another efficient channel.</a:t>
            </a:r>
          </a:p>
          <a:p>
            <a:endParaRPr lang="en-US" sz="1600" dirty="0"/>
          </a:p>
          <a:p>
            <a:pPr marL="285750" indent="-285750">
              <a:buFont typeface="Arial" panose="020B0604020202020204" pitchFamily="34" charset="0"/>
              <a:buChar char="•"/>
            </a:pPr>
            <a:r>
              <a:rPr lang="en-US" sz="1600" dirty="0"/>
              <a:t>Programmatic and SEM channels were the least efficient, with the proportion of impressions brought in lesser than budget allocation.</a:t>
            </a:r>
          </a:p>
          <a:p>
            <a:endParaRPr lang="en-US" sz="1600" dirty="0"/>
          </a:p>
          <a:p>
            <a:r>
              <a:rPr lang="en-US" sz="1600" dirty="0"/>
              <a:t>Note:</a:t>
            </a:r>
          </a:p>
          <a:p>
            <a:pPr marL="285750" indent="-285750">
              <a:buFont typeface="Arial" panose="020B0604020202020204" pitchFamily="34" charset="0"/>
              <a:buChar char="•"/>
            </a:pPr>
            <a:r>
              <a:rPr lang="en-US" sz="1600" dirty="0"/>
              <a:t>Snapchat had approximately 1% of the budget allocation, meaning spend was too small to determine efficiency.</a:t>
            </a:r>
          </a:p>
        </p:txBody>
      </p:sp>
      <p:pic>
        <p:nvPicPr>
          <p:cNvPr id="6146" name="Picture 2">
            <a:extLst>
              <a:ext uri="{FF2B5EF4-FFF2-40B4-BE49-F238E27FC236}">
                <a16:creationId xmlns:a16="http://schemas.microsoft.com/office/drawing/2014/main" id="{E5CD1823-2693-0996-7327-89FDADE9933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71500" y="1231004"/>
            <a:ext cx="5998633" cy="4572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9712191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427488-CEDA-AA19-4440-3DE4D83E3D89}"/>
            </a:ext>
          </a:extLst>
        </p:cNvPr>
        <p:cNvGrpSpPr/>
        <p:nvPr/>
      </p:nvGrpSpPr>
      <p:grpSpPr>
        <a:xfrm>
          <a:off x="0" y="0"/>
          <a:ext cx="0" cy="0"/>
          <a:chOff x="0" y="0"/>
          <a:chExt cx="0" cy="0"/>
        </a:xfrm>
      </p:grpSpPr>
      <p:pic>
        <p:nvPicPr>
          <p:cNvPr id="7170" name="Picture 2">
            <a:extLst>
              <a:ext uri="{FF2B5EF4-FFF2-40B4-BE49-F238E27FC236}">
                <a16:creationId xmlns:a16="http://schemas.microsoft.com/office/drawing/2014/main" id="{F1395195-E143-8BC3-F29E-E8EA5C97C80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71500" y="1231004"/>
            <a:ext cx="5998633" cy="4572000"/>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2B7CEFD4-CF50-EE1A-A391-A96AC1467BDB}"/>
              </a:ext>
            </a:extLst>
          </p:cNvPr>
          <p:cNvSpPr>
            <a:spLocks noGrp="1"/>
          </p:cNvSpPr>
          <p:nvPr>
            <p:ph type="title"/>
          </p:nvPr>
        </p:nvSpPr>
        <p:spPr/>
        <p:txBody>
          <a:bodyPr/>
          <a:lstStyle/>
          <a:p>
            <a:pPr marL="552450"/>
            <a:r>
              <a:rPr lang="en-US" dirty="0">
                <a:latin typeface="MarkOT-CondBlack"/>
              </a:rPr>
              <a:t>The </a:t>
            </a:r>
            <a:r>
              <a:rPr lang="en-US">
                <a:latin typeface="MarkOT-CondBlack"/>
              </a:rPr>
              <a:t>Rec room Spend by channel </a:t>
            </a:r>
            <a:r>
              <a:rPr lang="en-US" cap="none">
                <a:latin typeface="MarkOT-CondBlack"/>
              </a:rPr>
              <a:t>vs</a:t>
            </a:r>
            <a:r>
              <a:rPr lang="en-US">
                <a:latin typeface="MarkOT-CondBlack"/>
              </a:rPr>
              <a:t> clicks</a:t>
            </a:r>
            <a:endParaRPr lang="en-US"/>
          </a:p>
        </p:txBody>
      </p:sp>
      <p:sp>
        <p:nvSpPr>
          <p:cNvPr id="4" name="TextBox 3">
            <a:extLst>
              <a:ext uri="{FF2B5EF4-FFF2-40B4-BE49-F238E27FC236}">
                <a16:creationId xmlns:a16="http://schemas.microsoft.com/office/drawing/2014/main" id="{D851D81B-E24B-391F-2C74-462D44575085}"/>
              </a:ext>
            </a:extLst>
          </p:cNvPr>
          <p:cNvSpPr txBox="1"/>
          <p:nvPr/>
        </p:nvSpPr>
        <p:spPr>
          <a:xfrm>
            <a:off x="571500" y="6283963"/>
            <a:ext cx="2702052" cy="307777"/>
          </a:xfrm>
          <a:prstGeom prst="rect">
            <a:avLst/>
          </a:prstGeom>
          <a:noFill/>
        </p:spPr>
        <p:txBody>
          <a:bodyPr wrap="square" rtlCol="0">
            <a:spAutoFit/>
          </a:bodyPr>
          <a:lstStyle/>
          <a:p>
            <a:r>
              <a:rPr lang="en-US" sz="1400"/>
              <a:t>Consideration Campaigns</a:t>
            </a:r>
          </a:p>
        </p:txBody>
      </p:sp>
      <p:sp>
        <p:nvSpPr>
          <p:cNvPr id="5" name="TextBox 4">
            <a:extLst>
              <a:ext uri="{FF2B5EF4-FFF2-40B4-BE49-F238E27FC236}">
                <a16:creationId xmlns:a16="http://schemas.microsoft.com/office/drawing/2014/main" id="{D799FE82-00FC-3C27-59A7-2795148A066B}"/>
              </a:ext>
            </a:extLst>
          </p:cNvPr>
          <p:cNvSpPr txBox="1"/>
          <p:nvPr/>
        </p:nvSpPr>
        <p:spPr>
          <a:xfrm>
            <a:off x="571500" y="5803004"/>
            <a:ext cx="5142747"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000" dirty="0">
                <a:solidFill>
                  <a:srgbClr val="000000"/>
                </a:solidFill>
              </a:rPr>
              <a:t>*Data covers Q2 2023 to Q2 2025</a:t>
            </a:r>
          </a:p>
          <a:p>
            <a:r>
              <a:rPr lang="en-US" sz="1000" dirty="0">
                <a:solidFill>
                  <a:srgbClr val="000000"/>
                </a:solidFill>
              </a:rPr>
              <a:t>*Data does not consider external factors such as weather, holidays</a:t>
            </a:r>
          </a:p>
        </p:txBody>
      </p:sp>
      <p:sp>
        <p:nvSpPr>
          <p:cNvPr id="7" name="TextBox 6">
            <a:extLst>
              <a:ext uri="{FF2B5EF4-FFF2-40B4-BE49-F238E27FC236}">
                <a16:creationId xmlns:a16="http://schemas.microsoft.com/office/drawing/2014/main" id="{FA33F398-B912-A370-F751-223C7995BE1D}"/>
              </a:ext>
            </a:extLst>
          </p:cNvPr>
          <p:cNvSpPr txBox="1"/>
          <p:nvPr/>
        </p:nvSpPr>
        <p:spPr>
          <a:xfrm>
            <a:off x="7032172" y="1236267"/>
            <a:ext cx="4200578" cy="3539430"/>
          </a:xfrm>
          <a:prstGeom prst="rect">
            <a:avLst/>
          </a:prstGeom>
          <a:noFill/>
        </p:spPr>
        <p:txBody>
          <a:bodyPr wrap="square" lIns="91440" tIns="45720" rIns="91440" bIns="45720" rtlCol="0" anchor="t">
            <a:spAutoFit/>
          </a:bodyPr>
          <a:lstStyle/>
          <a:p>
            <a:pPr marL="285750" indent="-285750">
              <a:buFont typeface="Arial" panose="020B0604020202020204" pitchFamily="34" charset="0"/>
              <a:buChar char="•"/>
            </a:pPr>
            <a:r>
              <a:rPr lang="en-US" sz="1600" dirty="0"/>
              <a:t>SEM had a spend proportion of only 11% but brought in 35% of all clicks, meaning it was the by far the most efficient channel for consideration.</a:t>
            </a:r>
          </a:p>
          <a:p>
            <a:endParaRPr lang="en-US" sz="1600" dirty="0"/>
          </a:p>
          <a:p>
            <a:pPr marL="285750" indent="-285750">
              <a:buFont typeface="Arial" panose="020B0604020202020204" pitchFamily="34" charset="0"/>
              <a:buChar char="•"/>
            </a:pPr>
            <a:r>
              <a:rPr lang="en-US" sz="1600" dirty="0"/>
              <a:t>Programmatic was the least efficient, with only 7% of all consideration campaign clicks.</a:t>
            </a:r>
          </a:p>
          <a:p>
            <a:pPr marL="285750" indent="-285750">
              <a:buFont typeface="Arial" panose="020B0604020202020204" pitchFamily="34" charset="0"/>
              <a:buChar char="•"/>
            </a:pPr>
            <a:endParaRPr lang="en-US" sz="1600" dirty="0"/>
          </a:p>
          <a:p>
            <a:r>
              <a:rPr lang="en-US" sz="1600" u="sng" dirty="0"/>
              <a:t>Note:</a:t>
            </a:r>
          </a:p>
          <a:p>
            <a:pPr marL="285750" indent="-285750">
              <a:buFont typeface="Arial" panose="020B0604020202020204" pitchFamily="34" charset="0"/>
              <a:buChar char="•"/>
            </a:pPr>
            <a:r>
              <a:rPr lang="en-US" sz="1600" dirty="0"/>
              <a:t>Snapchat had approximately 2% of the budget allocation, meaning spend was too small to determine efficiency.</a:t>
            </a:r>
          </a:p>
        </p:txBody>
      </p:sp>
    </p:spTree>
    <p:extLst>
      <p:ext uri="{BB962C8B-B14F-4D97-AF65-F5344CB8AC3E}">
        <p14:creationId xmlns:p14="http://schemas.microsoft.com/office/powerpoint/2010/main" val="175013147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FC5C93-A670-AAAC-50D0-ECD41B86F827}"/>
            </a:ext>
          </a:extLst>
        </p:cNvPr>
        <p:cNvGrpSpPr/>
        <p:nvPr/>
      </p:nvGrpSpPr>
      <p:grpSpPr>
        <a:xfrm>
          <a:off x="0" y="0"/>
          <a:ext cx="0" cy="0"/>
          <a:chOff x="0" y="0"/>
          <a:chExt cx="0" cy="0"/>
        </a:xfrm>
      </p:grpSpPr>
      <p:pic>
        <p:nvPicPr>
          <p:cNvPr id="3074" name="Picture 2">
            <a:extLst>
              <a:ext uri="{FF2B5EF4-FFF2-40B4-BE49-F238E27FC236}">
                <a16:creationId xmlns:a16="http://schemas.microsoft.com/office/drawing/2014/main" id="{7DCA4F3D-50D3-87C5-7714-16B4FD4A0D1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82042" y="1227156"/>
            <a:ext cx="5998633" cy="4572000"/>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967F7A75-2C00-3EEE-C186-DF7AFE553C7C}"/>
              </a:ext>
            </a:extLst>
          </p:cNvPr>
          <p:cNvSpPr>
            <a:spLocks noGrp="1"/>
          </p:cNvSpPr>
          <p:nvPr>
            <p:ph type="title"/>
          </p:nvPr>
        </p:nvSpPr>
        <p:spPr/>
        <p:txBody>
          <a:bodyPr/>
          <a:lstStyle/>
          <a:p>
            <a:pPr marL="552450"/>
            <a:r>
              <a:rPr lang="en-US">
                <a:latin typeface="MarkOT-CondBlack"/>
              </a:rPr>
              <a:t>Playdium Spend by channel </a:t>
            </a:r>
            <a:r>
              <a:rPr lang="en-US" cap="none">
                <a:latin typeface="MarkOT-CondBlack"/>
              </a:rPr>
              <a:t>vs</a:t>
            </a:r>
            <a:r>
              <a:rPr lang="en-US">
                <a:latin typeface="MarkOT-CondBlack"/>
              </a:rPr>
              <a:t> impressions</a:t>
            </a:r>
            <a:endParaRPr lang="en-US"/>
          </a:p>
        </p:txBody>
      </p:sp>
      <p:sp>
        <p:nvSpPr>
          <p:cNvPr id="4" name="TextBox 3">
            <a:extLst>
              <a:ext uri="{FF2B5EF4-FFF2-40B4-BE49-F238E27FC236}">
                <a16:creationId xmlns:a16="http://schemas.microsoft.com/office/drawing/2014/main" id="{FD2C2B3E-2A51-7C23-7121-103CD88E145E}"/>
              </a:ext>
            </a:extLst>
          </p:cNvPr>
          <p:cNvSpPr txBox="1"/>
          <p:nvPr/>
        </p:nvSpPr>
        <p:spPr>
          <a:xfrm>
            <a:off x="571500" y="6283963"/>
            <a:ext cx="2702052" cy="307777"/>
          </a:xfrm>
          <a:prstGeom prst="rect">
            <a:avLst/>
          </a:prstGeom>
          <a:noFill/>
        </p:spPr>
        <p:txBody>
          <a:bodyPr wrap="square" rtlCol="0">
            <a:spAutoFit/>
          </a:bodyPr>
          <a:lstStyle/>
          <a:p>
            <a:r>
              <a:rPr lang="en-US" sz="1400"/>
              <a:t>Awareness Campaigns</a:t>
            </a:r>
          </a:p>
        </p:txBody>
      </p:sp>
      <p:sp>
        <p:nvSpPr>
          <p:cNvPr id="5" name="TextBox 4">
            <a:extLst>
              <a:ext uri="{FF2B5EF4-FFF2-40B4-BE49-F238E27FC236}">
                <a16:creationId xmlns:a16="http://schemas.microsoft.com/office/drawing/2014/main" id="{ECBCED93-D22A-58AE-E23D-88F4564D2681}"/>
              </a:ext>
            </a:extLst>
          </p:cNvPr>
          <p:cNvSpPr txBox="1"/>
          <p:nvPr/>
        </p:nvSpPr>
        <p:spPr>
          <a:xfrm>
            <a:off x="571500" y="5803004"/>
            <a:ext cx="5142747"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000" dirty="0">
                <a:solidFill>
                  <a:srgbClr val="000000"/>
                </a:solidFill>
              </a:rPr>
              <a:t>*Data covers Q2 2023 to Q2 2025</a:t>
            </a:r>
          </a:p>
          <a:p>
            <a:r>
              <a:rPr lang="en-US" sz="1000" dirty="0">
                <a:solidFill>
                  <a:srgbClr val="000000"/>
                </a:solidFill>
              </a:rPr>
              <a:t>*Data does not consider external factors such as weather, holidays</a:t>
            </a:r>
          </a:p>
        </p:txBody>
      </p:sp>
      <p:sp>
        <p:nvSpPr>
          <p:cNvPr id="6" name="TextBox 5">
            <a:extLst>
              <a:ext uri="{FF2B5EF4-FFF2-40B4-BE49-F238E27FC236}">
                <a16:creationId xmlns:a16="http://schemas.microsoft.com/office/drawing/2014/main" id="{752913E2-AAE5-9FDB-EC62-F7D2DE506816}"/>
              </a:ext>
            </a:extLst>
          </p:cNvPr>
          <p:cNvSpPr txBox="1"/>
          <p:nvPr/>
        </p:nvSpPr>
        <p:spPr>
          <a:xfrm>
            <a:off x="7032172" y="1236267"/>
            <a:ext cx="4200578" cy="3293209"/>
          </a:xfrm>
          <a:prstGeom prst="rect">
            <a:avLst/>
          </a:prstGeom>
          <a:noFill/>
        </p:spPr>
        <p:txBody>
          <a:bodyPr wrap="square" lIns="91440" tIns="45720" rIns="91440" bIns="45720" rtlCol="0" anchor="t">
            <a:spAutoFit/>
          </a:bodyPr>
          <a:lstStyle/>
          <a:p>
            <a:pPr marL="285750" indent="-285750">
              <a:buFont typeface="Arial" panose="020B0604020202020204" pitchFamily="34" charset="0"/>
              <a:buChar char="•"/>
            </a:pPr>
            <a:r>
              <a:rPr lang="en-US" sz="1600"/>
              <a:t>SEM had a spend proportion of 8% but brought in only 1% of all impressions in PDM campaigns, meaning it was the least efficient channel for awareness.</a:t>
            </a:r>
          </a:p>
          <a:p>
            <a:pPr marL="285750" indent="-285750">
              <a:buFont typeface="Arial" panose="020B0604020202020204" pitchFamily="34" charset="0"/>
              <a:buChar char="•"/>
            </a:pPr>
            <a:endParaRPr lang="en-US" sz="1600"/>
          </a:p>
          <a:p>
            <a:pPr marL="285750" indent="-285750">
              <a:buFont typeface="Arial" panose="020B0604020202020204" pitchFamily="34" charset="0"/>
              <a:buChar char="•"/>
            </a:pPr>
            <a:r>
              <a:rPr lang="en-US" sz="1600"/>
              <a:t>Programmatic was another channel that was inefficient.</a:t>
            </a:r>
          </a:p>
          <a:p>
            <a:endParaRPr lang="en-US" sz="1600"/>
          </a:p>
          <a:p>
            <a:pPr marL="285750" indent="-285750">
              <a:buFont typeface="Arial" panose="020B0604020202020204" pitchFamily="34" charset="0"/>
              <a:buChar char="•"/>
            </a:pPr>
            <a:r>
              <a:rPr lang="en-US" sz="1600"/>
              <a:t>TikTok and Meta channels were the most efficient, with the proportion of impressions brought in at 68% and 4%, respectively.</a:t>
            </a:r>
          </a:p>
        </p:txBody>
      </p:sp>
    </p:spTree>
    <p:extLst>
      <p:ext uri="{BB962C8B-B14F-4D97-AF65-F5344CB8AC3E}">
        <p14:creationId xmlns:p14="http://schemas.microsoft.com/office/powerpoint/2010/main" val="271192617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F262A0-6603-5880-3442-75AE5A0A41E4}"/>
            </a:ext>
          </a:extLst>
        </p:cNvPr>
        <p:cNvGrpSpPr/>
        <p:nvPr/>
      </p:nvGrpSpPr>
      <p:grpSpPr>
        <a:xfrm>
          <a:off x="0" y="0"/>
          <a:ext cx="0" cy="0"/>
          <a:chOff x="0" y="0"/>
          <a:chExt cx="0" cy="0"/>
        </a:xfrm>
      </p:grpSpPr>
      <p:pic>
        <p:nvPicPr>
          <p:cNvPr id="4098" name="Picture 2">
            <a:extLst>
              <a:ext uri="{FF2B5EF4-FFF2-40B4-BE49-F238E27FC236}">
                <a16:creationId xmlns:a16="http://schemas.microsoft.com/office/drawing/2014/main" id="{A9828E23-CC78-28D1-3DA5-B8910BB660D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84128" y="1221860"/>
            <a:ext cx="5998633" cy="4572000"/>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10F66902-FF37-4989-4D6D-9337D6CC6A34}"/>
              </a:ext>
            </a:extLst>
          </p:cNvPr>
          <p:cNvSpPr>
            <a:spLocks noGrp="1"/>
          </p:cNvSpPr>
          <p:nvPr>
            <p:ph type="title"/>
          </p:nvPr>
        </p:nvSpPr>
        <p:spPr/>
        <p:txBody>
          <a:bodyPr/>
          <a:lstStyle/>
          <a:p>
            <a:pPr marL="552450"/>
            <a:r>
              <a:rPr lang="en-US">
                <a:latin typeface="MarkOT-CondBlack"/>
              </a:rPr>
              <a:t>Playdium Spend by channel </a:t>
            </a:r>
            <a:r>
              <a:rPr lang="en-US" cap="none">
                <a:latin typeface="MarkOT-CondBlack"/>
              </a:rPr>
              <a:t>vs</a:t>
            </a:r>
            <a:r>
              <a:rPr lang="en-US">
                <a:latin typeface="MarkOT-CondBlack"/>
              </a:rPr>
              <a:t> clicks</a:t>
            </a:r>
            <a:endParaRPr lang="en-US"/>
          </a:p>
        </p:txBody>
      </p:sp>
      <p:sp>
        <p:nvSpPr>
          <p:cNvPr id="4" name="TextBox 3">
            <a:extLst>
              <a:ext uri="{FF2B5EF4-FFF2-40B4-BE49-F238E27FC236}">
                <a16:creationId xmlns:a16="http://schemas.microsoft.com/office/drawing/2014/main" id="{F5ABA595-89B1-A41A-525C-EFA01238F027}"/>
              </a:ext>
            </a:extLst>
          </p:cNvPr>
          <p:cNvSpPr txBox="1"/>
          <p:nvPr/>
        </p:nvSpPr>
        <p:spPr>
          <a:xfrm>
            <a:off x="571500" y="6283963"/>
            <a:ext cx="2702052" cy="307777"/>
          </a:xfrm>
          <a:prstGeom prst="rect">
            <a:avLst/>
          </a:prstGeom>
          <a:noFill/>
        </p:spPr>
        <p:txBody>
          <a:bodyPr wrap="square" rtlCol="0">
            <a:spAutoFit/>
          </a:bodyPr>
          <a:lstStyle/>
          <a:p>
            <a:r>
              <a:rPr lang="en-US" sz="1400"/>
              <a:t>Consideration Campaigns</a:t>
            </a:r>
          </a:p>
        </p:txBody>
      </p:sp>
      <p:sp>
        <p:nvSpPr>
          <p:cNvPr id="5" name="TextBox 4">
            <a:extLst>
              <a:ext uri="{FF2B5EF4-FFF2-40B4-BE49-F238E27FC236}">
                <a16:creationId xmlns:a16="http://schemas.microsoft.com/office/drawing/2014/main" id="{991162D0-31D8-ACA3-194D-07D1632679E3}"/>
              </a:ext>
            </a:extLst>
          </p:cNvPr>
          <p:cNvSpPr txBox="1"/>
          <p:nvPr/>
        </p:nvSpPr>
        <p:spPr>
          <a:xfrm>
            <a:off x="571500" y="5803004"/>
            <a:ext cx="5142747"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000" dirty="0">
                <a:solidFill>
                  <a:srgbClr val="000000"/>
                </a:solidFill>
              </a:rPr>
              <a:t>*Data covers Q2 2023 to Q2 2025</a:t>
            </a:r>
          </a:p>
          <a:p>
            <a:r>
              <a:rPr lang="en-US" sz="1000" dirty="0">
                <a:solidFill>
                  <a:srgbClr val="000000"/>
                </a:solidFill>
              </a:rPr>
              <a:t>*Data does not consider external factors such as weather, holidays</a:t>
            </a:r>
          </a:p>
        </p:txBody>
      </p:sp>
      <p:sp>
        <p:nvSpPr>
          <p:cNvPr id="3" name="TextBox 2">
            <a:extLst>
              <a:ext uri="{FF2B5EF4-FFF2-40B4-BE49-F238E27FC236}">
                <a16:creationId xmlns:a16="http://schemas.microsoft.com/office/drawing/2014/main" id="{45C8E8C1-43A1-0FBB-593E-2C3A5047BF54}"/>
              </a:ext>
            </a:extLst>
          </p:cNvPr>
          <p:cNvSpPr txBox="1"/>
          <p:nvPr/>
        </p:nvSpPr>
        <p:spPr>
          <a:xfrm>
            <a:off x="7032172" y="1236267"/>
            <a:ext cx="4200578" cy="2554545"/>
          </a:xfrm>
          <a:prstGeom prst="rect">
            <a:avLst/>
          </a:prstGeom>
          <a:noFill/>
        </p:spPr>
        <p:txBody>
          <a:bodyPr wrap="square" lIns="91440" tIns="45720" rIns="91440" bIns="45720" rtlCol="0" anchor="t">
            <a:spAutoFit/>
          </a:bodyPr>
          <a:lstStyle/>
          <a:p>
            <a:pPr marL="285750" indent="-285750">
              <a:buFont typeface="Arial" panose="020B0604020202020204" pitchFamily="34" charset="0"/>
              <a:buChar char="•"/>
            </a:pPr>
            <a:r>
              <a:rPr lang="en-US" sz="1600"/>
              <a:t>SEM had a spend proportion of only 8% but brought in 23% of all clicks, meaning it was the most efficient channel for consideration.</a:t>
            </a:r>
          </a:p>
          <a:p>
            <a:endParaRPr lang="en-US" sz="1600"/>
          </a:p>
          <a:p>
            <a:pPr marL="285750" indent="-285750">
              <a:buFont typeface="Arial" panose="020B0604020202020204" pitchFamily="34" charset="0"/>
              <a:buChar char="•"/>
            </a:pPr>
            <a:r>
              <a:rPr lang="en-US" sz="1600"/>
              <a:t>Programmatic was the least efficient campaign (like with TRR). It brought in only 12% of all consideration campaign clicks with 30% budget allocation.</a:t>
            </a:r>
          </a:p>
        </p:txBody>
      </p:sp>
    </p:spTree>
    <p:extLst>
      <p:ext uri="{BB962C8B-B14F-4D97-AF65-F5344CB8AC3E}">
        <p14:creationId xmlns:p14="http://schemas.microsoft.com/office/powerpoint/2010/main" val="209790556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02CD12-427A-3DC1-0DA2-F71B01A2112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F20537D-A8CA-18C4-BC91-719C6D9A5C4E}"/>
              </a:ext>
            </a:extLst>
          </p:cNvPr>
          <p:cNvSpPr>
            <a:spLocks noGrp="1"/>
          </p:cNvSpPr>
          <p:nvPr>
            <p:ph type="title"/>
          </p:nvPr>
        </p:nvSpPr>
        <p:spPr/>
        <p:txBody>
          <a:bodyPr/>
          <a:lstStyle/>
          <a:p>
            <a:pPr marL="552450"/>
            <a:r>
              <a:rPr lang="en-US" err="1">
                <a:latin typeface="MarkOT-CondBlack"/>
              </a:rPr>
              <a:t>Lbe</a:t>
            </a:r>
            <a:r>
              <a:rPr lang="en-US">
                <a:latin typeface="MarkOT-CondBlack"/>
              </a:rPr>
              <a:t> Spend by channel </a:t>
            </a:r>
            <a:r>
              <a:rPr lang="en-US" cap="none">
                <a:latin typeface="MarkOT-CondBlack"/>
              </a:rPr>
              <a:t>vs</a:t>
            </a:r>
            <a:r>
              <a:rPr lang="en-US">
                <a:latin typeface="MarkOT-CondBlack"/>
              </a:rPr>
              <a:t> ctr</a:t>
            </a:r>
            <a:endParaRPr lang="en-US"/>
          </a:p>
        </p:txBody>
      </p:sp>
      <p:sp>
        <p:nvSpPr>
          <p:cNvPr id="4" name="TextBox 3">
            <a:extLst>
              <a:ext uri="{FF2B5EF4-FFF2-40B4-BE49-F238E27FC236}">
                <a16:creationId xmlns:a16="http://schemas.microsoft.com/office/drawing/2014/main" id="{ABBB32D0-7CD1-B280-324E-4F0AC7758300}"/>
              </a:ext>
            </a:extLst>
          </p:cNvPr>
          <p:cNvSpPr txBox="1"/>
          <p:nvPr/>
        </p:nvSpPr>
        <p:spPr>
          <a:xfrm>
            <a:off x="571500" y="6283963"/>
            <a:ext cx="2702052" cy="307777"/>
          </a:xfrm>
          <a:prstGeom prst="rect">
            <a:avLst/>
          </a:prstGeom>
          <a:noFill/>
        </p:spPr>
        <p:txBody>
          <a:bodyPr wrap="square" rtlCol="0">
            <a:spAutoFit/>
          </a:bodyPr>
          <a:lstStyle/>
          <a:p>
            <a:r>
              <a:rPr lang="en-US" sz="1400"/>
              <a:t>Consideration Campaigns</a:t>
            </a:r>
          </a:p>
        </p:txBody>
      </p:sp>
      <p:sp>
        <p:nvSpPr>
          <p:cNvPr id="5" name="TextBox 4">
            <a:extLst>
              <a:ext uri="{FF2B5EF4-FFF2-40B4-BE49-F238E27FC236}">
                <a16:creationId xmlns:a16="http://schemas.microsoft.com/office/drawing/2014/main" id="{A9855D90-7138-D289-9A24-1B897E5F581B}"/>
              </a:ext>
            </a:extLst>
          </p:cNvPr>
          <p:cNvSpPr txBox="1"/>
          <p:nvPr/>
        </p:nvSpPr>
        <p:spPr>
          <a:xfrm>
            <a:off x="571500" y="5803004"/>
            <a:ext cx="5142747"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000" dirty="0">
                <a:solidFill>
                  <a:srgbClr val="000000"/>
                </a:solidFill>
              </a:rPr>
              <a:t>*Data covers Q2 2023 to Q2 2025</a:t>
            </a:r>
          </a:p>
          <a:p>
            <a:r>
              <a:rPr lang="en-US" sz="1000" dirty="0">
                <a:solidFill>
                  <a:srgbClr val="000000"/>
                </a:solidFill>
              </a:rPr>
              <a:t>*Data does not consider external factors such as weather, holidays</a:t>
            </a:r>
          </a:p>
        </p:txBody>
      </p:sp>
      <p:sp>
        <p:nvSpPr>
          <p:cNvPr id="6" name="TextBox 5">
            <a:extLst>
              <a:ext uri="{FF2B5EF4-FFF2-40B4-BE49-F238E27FC236}">
                <a16:creationId xmlns:a16="http://schemas.microsoft.com/office/drawing/2014/main" id="{9DF31F66-3A85-FFD9-4AC5-70196815EBA6}"/>
              </a:ext>
            </a:extLst>
          </p:cNvPr>
          <p:cNvSpPr txBox="1"/>
          <p:nvPr/>
        </p:nvSpPr>
        <p:spPr>
          <a:xfrm>
            <a:off x="7032172" y="1236267"/>
            <a:ext cx="4200578" cy="3539430"/>
          </a:xfrm>
          <a:prstGeom prst="rect">
            <a:avLst/>
          </a:prstGeom>
          <a:noFill/>
        </p:spPr>
        <p:txBody>
          <a:bodyPr wrap="square" lIns="91440" tIns="45720" rIns="91440" bIns="45720" rtlCol="0" anchor="t">
            <a:spAutoFit/>
          </a:bodyPr>
          <a:lstStyle/>
          <a:p>
            <a:pPr marL="285750" indent="-285750">
              <a:buFont typeface="Arial" panose="020B0604020202020204" pitchFamily="34" charset="0"/>
              <a:buChar char="•"/>
            </a:pPr>
            <a:r>
              <a:rPr lang="en-US" sz="1600" dirty="0"/>
              <a:t>Programmatic TRR had the second-highest spend at ~$1.2M but the lowest CTR (0.2%)</a:t>
            </a:r>
          </a:p>
          <a:p>
            <a:endParaRPr lang="en-US" sz="1600" dirty="0"/>
          </a:p>
          <a:p>
            <a:pPr marL="285750" indent="-285750">
              <a:buFont typeface="Arial" panose="020B0604020202020204" pitchFamily="34" charset="0"/>
              <a:buChar char="•"/>
            </a:pPr>
            <a:r>
              <a:rPr lang="en-US" sz="1600" dirty="0"/>
              <a:t>Meta TRR and PDM have similar click-through rates despite having a difference of ~$1.5M in spend.</a:t>
            </a:r>
          </a:p>
          <a:p>
            <a:endParaRPr lang="en-US" sz="1600" dirty="0"/>
          </a:p>
          <a:p>
            <a:r>
              <a:rPr lang="en-US" sz="1600" u="sng" dirty="0"/>
              <a:t>Note:</a:t>
            </a:r>
          </a:p>
          <a:p>
            <a:pPr marL="285750" indent="-285750">
              <a:buFont typeface="Arial" panose="020B0604020202020204" pitchFamily="34" charset="0"/>
              <a:buChar char="•"/>
            </a:pPr>
            <a:r>
              <a:rPr lang="en-US" sz="1600" dirty="0"/>
              <a:t>Bubble size = number of impressions</a:t>
            </a:r>
          </a:p>
          <a:p>
            <a:pPr marL="285750" indent="-285750">
              <a:buFont typeface="Arial" panose="020B0604020202020204" pitchFamily="34" charset="0"/>
              <a:buChar char="•"/>
            </a:pPr>
            <a:r>
              <a:rPr lang="en-US" sz="1600" dirty="0"/>
              <a:t>SEM outside chart limits</a:t>
            </a:r>
          </a:p>
          <a:p>
            <a:pPr marL="742950" lvl="1" indent="-285750">
              <a:buFont typeface="Arial" panose="020B0604020202020204" pitchFamily="34" charset="0"/>
              <a:buChar char="•"/>
            </a:pPr>
            <a:r>
              <a:rPr lang="en-US" sz="1600" dirty="0"/>
              <a:t>Combined TRR and PDM spend of 450k</a:t>
            </a:r>
          </a:p>
          <a:p>
            <a:pPr marL="742950" lvl="1" indent="-285750">
              <a:buFont typeface="Arial" panose="020B0604020202020204" pitchFamily="34" charset="0"/>
              <a:buChar char="•"/>
            </a:pPr>
            <a:r>
              <a:rPr lang="en-US" sz="1600" dirty="0"/>
              <a:t>CTR of 16.4%</a:t>
            </a:r>
          </a:p>
        </p:txBody>
      </p:sp>
      <p:pic>
        <p:nvPicPr>
          <p:cNvPr id="5122" name="Picture 2">
            <a:extLst>
              <a:ext uri="{FF2B5EF4-FFF2-40B4-BE49-F238E27FC236}">
                <a16:creationId xmlns:a16="http://schemas.microsoft.com/office/drawing/2014/main" id="{F59839AB-EA57-6F69-2BC0-D737521D410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80644" y="1228344"/>
            <a:ext cx="6128809" cy="4572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7518924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4A6002-9BBE-EC21-7D2B-947C001F4EB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E382755-9B99-FEAF-E16A-574E44F34CA4}"/>
              </a:ext>
            </a:extLst>
          </p:cNvPr>
          <p:cNvSpPr>
            <a:spLocks noGrp="1"/>
          </p:cNvSpPr>
          <p:nvPr>
            <p:ph type="title"/>
          </p:nvPr>
        </p:nvSpPr>
        <p:spPr/>
        <p:txBody>
          <a:bodyPr/>
          <a:lstStyle/>
          <a:p>
            <a:r>
              <a:rPr lang="en-US"/>
              <a:t>email</a:t>
            </a:r>
          </a:p>
        </p:txBody>
      </p:sp>
    </p:spTree>
    <p:extLst>
      <p:ext uri="{BB962C8B-B14F-4D97-AF65-F5344CB8AC3E}">
        <p14:creationId xmlns:p14="http://schemas.microsoft.com/office/powerpoint/2010/main" val="126523366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47F5DA-54E8-DD7F-562E-860AB6BF7EF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8D1BCF3-681C-7232-94CD-D476C907CE8B}"/>
              </a:ext>
            </a:extLst>
          </p:cNvPr>
          <p:cNvSpPr>
            <a:spLocks noGrp="1"/>
          </p:cNvSpPr>
          <p:nvPr>
            <p:ph type="title"/>
          </p:nvPr>
        </p:nvSpPr>
        <p:spPr/>
        <p:txBody>
          <a:bodyPr/>
          <a:lstStyle/>
          <a:p>
            <a:pPr marL="552450"/>
            <a:r>
              <a:rPr lang="en-US"/>
              <a:t>EMAIL USER Journey</a:t>
            </a:r>
          </a:p>
        </p:txBody>
      </p:sp>
      <p:sp>
        <p:nvSpPr>
          <p:cNvPr id="4" name="TextBox 3">
            <a:extLst>
              <a:ext uri="{FF2B5EF4-FFF2-40B4-BE49-F238E27FC236}">
                <a16:creationId xmlns:a16="http://schemas.microsoft.com/office/drawing/2014/main" id="{9E770FC5-2C19-F82F-5305-AD68AFB60B87}"/>
              </a:ext>
            </a:extLst>
          </p:cNvPr>
          <p:cNvSpPr txBox="1"/>
          <p:nvPr/>
        </p:nvSpPr>
        <p:spPr>
          <a:xfrm>
            <a:off x="571499" y="6283963"/>
            <a:ext cx="2835729" cy="307777"/>
          </a:xfrm>
          <a:prstGeom prst="rect">
            <a:avLst/>
          </a:prstGeom>
          <a:noFill/>
        </p:spPr>
        <p:txBody>
          <a:bodyPr wrap="square" rtlCol="0">
            <a:spAutoFit/>
          </a:bodyPr>
          <a:lstStyle/>
          <a:p>
            <a:r>
              <a:rPr lang="en-US" sz="1400"/>
              <a:t>Consideration Campaigns</a:t>
            </a:r>
          </a:p>
        </p:txBody>
      </p:sp>
      <p:sp>
        <p:nvSpPr>
          <p:cNvPr id="5" name="TextBox 4">
            <a:extLst>
              <a:ext uri="{FF2B5EF4-FFF2-40B4-BE49-F238E27FC236}">
                <a16:creationId xmlns:a16="http://schemas.microsoft.com/office/drawing/2014/main" id="{E905DCC3-BD58-9E73-EC7F-D5515973FB78}"/>
              </a:ext>
            </a:extLst>
          </p:cNvPr>
          <p:cNvSpPr txBox="1"/>
          <p:nvPr/>
        </p:nvSpPr>
        <p:spPr>
          <a:xfrm>
            <a:off x="571500" y="5803004"/>
            <a:ext cx="5142747"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endParaRPr lang="en-US" sz="1000" dirty="0">
              <a:solidFill>
                <a:srgbClr val="000000"/>
              </a:solidFill>
            </a:endParaRPr>
          </a:p>
          <a:p>
            <a:r>
              <a:rPr lang="en-US" sz="1000" dirty="0">
                <a:solidFill>
                  <a:srgbClr val="000000"/>
                </a:solidFill>
              </a:rPr>
              <a:t>*Data covers Q2 2023 to Q2 2025</a:t>
            </a:r>
          </a:p>
        </p:txBody>
      </p:sp>
      <p:pic>
        <p:nvPicPr>
          <p:cNvPr id="9220" name="Picture 4">
            <a:extLst>
              <a:ext uri="{FF2B5EF4-FFF2-40B4-BE49-F238E27FC236}">
                <a16:creationId xmlns:a16="http://schemas.microsoft.com/office/drawing/2014/main" id="{A65E9BD5-DF22-AEF3-2CF6-CA849BF1D07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38" y="1227156"/>
            <a:ext cx="5849409" cy="4572000"/>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F95DC88B-298B-F4D6-2D05-88245CC5A5EA}"/>
              </a:ext>
            </a:extLst>
          </p:cNvPr>
          <p:cNvSpPr txBox="1"/>
          <p:nvPr/>
        </p:nvSpPr>
        <p:spPr>
          <a:xfrm>
            <a:off x="7064830" y="1279811"/>
            <a:ext cx="4517570" cy="1815882"/>
          </a:xfrm>
          <a:prstGeom prst="rect">
            <a:avLst/>
          </a:prstGeom>
          <a:noFill/>
        </p:spPr>
        <p:txBody>
          <a:bodyPr wrap="square" lIns="91440" tIns="45720" rIns="91440" bIns="45720" rtlCol="0" anchor="t">
            <a:spAutoFit/>
          </a:bodyPr>
          <a:lstStyle/>
          <a:p>
            <a:pPr marL="285750" indent="-285750">
              <a:buFont typeface="Arial" panose="020B0604020202020204" pitchFamily="34" charset="0"/>
              <a:buChar char="•"/>
            </a:pPr>
            <a:r>
              <a:rPr lang="en-US" sz="1600" dirty="0"/>
              <a:t>Around 37% of emails sent are opened.</a:t>
            </a:r>
          </a:p>
          <a:p>
            <a:endParaRPr lang="en-US" sz="1600" dirty="0"/>
          </a:p>
          <a:p>
            <a:pPr marL="285750" indent="-285750">
              <a:buFont typeface="Arial" panose="020B0604020202020204" pitchFamily="34" charset="0"/>
              <a:buChar char="•"/>
            </a:pPr>
            <a:r>
              <a:rPr lang="en-US" sz="1600" dirty="0"/>
              <a:t>Around 1.7% of those opens turn into clicks.</a:t>
            </a:r>
          </a:p>
          <a:p>
            <a:endParaRPr lang="en-US" sz="1600" dirty="0"/>
          </a:p>
          <a:p>
            <a:pPr marL="285750" indent="-285750">
              <a:buFont typeface="Arial" panose="020B0604020202020204" pitchFamily="34" charset="0"/>
              <a:buChar char="•"/>
            </a:pPr>
            <a:r>
              <a:rPr lang="en-US" sz="1600" dirty="0"/>
              <a:t>Overall click-to-send rate is around 0.6%.</a:t>
            </a:r>
          </a:p>
        </p:txBody>
      </p:sp>
    </p:spTree>
    <p:extLst>
      <p:ext uri="{BB962C8B-B14F-4D97-AF65-F5344CB8AC3E}">
        <p14:creationId xmlns:p14="http://schemas.microsoft.com/office/powerpoint/2010/main" val="209242145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016AE5-324A-947C-9948-B6C2B08BD37E}"/>
            </a:ext>
          </a:extLst>
        </p:cNvPr>
        <p:cNvGrpSpPr/>
        <p:nvPr/>
      </p:nvGrpSpPr>
      <p:grpSpPr>
        <a:xfrm>
          <a:off x="0" y="0"/>
          <a:ext cx="0" cy="0"/>
          <a:chOff x="0" y="0"/>
          <a:chExt cx="0" cy="0"/>
        </a:xfrm>
      </p:grpSpPr>
      <p:sp>
        <p:nvSpPr>
          <p:cNvPr id="8" name="TextBox 7">
            <a:extLst>
              <a:ext uri="{FF2B5EF4-FFF2-40B4-BE49-F238E27FC236}">
                <a16:creationId xmlns:a16="http://schemas.microsoft.com/office/drawing/2014/main" id="{AC3C8DB0-D86D-AAA9-9BFE-2FA8CC518C9B}"/>
              </a:ext>
            </a:extLst>
          </p:cNvPr>
          <p:cNvSpPr txBox="1"/>
          <p:nvPr/>
        </p:nvSpPr>
        <p:spPr>
          <a:xfrm>
            <a:off x="571500" y="1219200"/>
            <a:ext cx="11010900" cy="4780924"/>
          </a:xfrm>
          <a:prstGeom prst="rect">
            <a:avLst/>
          </a:prstGeom>
          <a:noFill/>
        </p:spPr>
        <p:txBody>
          <a:bodyPr wrap="square">
            <a:spAutoFit/>
          </a:bodyPr>
          <a:lstStyle/>
          <a:p>
            <a:pPr marL="285750" marR="0" indent="-285750">
              <a:lnSpc>
                <a:spcPct val="115000"/>
              </a:lnSpc>
              <a:buFont typeface="Arial" panose="020B0604020202020204" pitchFamily="34" charset="0"/>
              <a:buChar char="•"/>
            </a:pPr>
            <a:r>
              <a:rPr lang="en-US" sz="1400" b="1" dirty="0"/>
              <a:t>Reallocate Budget to High-Performing Channels: </a:t>
            </a:r>
          </a:p>
          <a:p>
            <a:pPr marL="742950" lvl="1" indent="-285750">
              <a:lnSpc>
                <a:spcPct val="115000"/>
              </a:lnSpc>
              <a:buFont typeface="Arial" panose="020B0604020202020204" pitchFamily="34" charset="0"/>
              <a:buChar char="•"/>
            </a:pPr>
            <a:r>
              <a:rPr lang="en-US" sz="1400" dirty="0"/>
              <a:t>Increase investment in Meta for both awareness and consideration across campaigns, as it consistently delivers high returns. Boost spend on TikTok, especially for awareness campaigns, where it showed high efficiency in bringing in impressions.</a:t>
            </a:r>
          </a:p>
          <a:p>
            <a:pPr marL="742950" lvl="1" indent="-285750">
              <a:lnSpc>
                <a:spcPct val="115000"/>
              </a:lnSpc>
              <a:buFont typeface="Arial" panose="020B0604020202020204" pitchFamily="34" charset="0"/>
              <a:buChar char="•"/>
            </a:pPr>
            <a:endParaRPr lang="en-US" sz="1400" dirty="0"/>
          </a:p>
          <a:p>
            <a:pPr marL="285750" marR="0" indent="-285750">
              <a:lnSpc>
                <a:spcPct val="115000"/>
              </a:lnSpc>
              <a:buFont typeface="Arial" panose="020B0604020202020204" pitchFamily="34" charset="0"/>
              <a:buChar char="•"/>
            </a:pPr>
            <a:r>
              <a:rPr lang="en-US" sz="1400" b="1" dirty="0"/>
              <a:t>Address Underperforming Channels (Programmatic): </a:t>
            </a:r>
          </a:p>
          <a:p>
            <a:pPr marL="742950" lvl="1" indent="-285750">
              <a:lnSpc>
                <a:spcPct val="115000"/>
              </a:lnSpc>
              <a:buFont typeface="Arial" panose="020B0604020202020204" pitchFamily="34" charset="0"/>
              <a:buChar char="•"/>
            </a:pPr>
            <a:r>
              <a:rPr lang="en-US" sz="1400" dirty="0"/>
              <a:t>Revisit programmatic strategy – deeper dive into the tactics that work. Optimize between the video vs display tactics. </a:t>
            </a:r>
          </a:p>
          <a:p>
            <a:pPr marL="742950" lvl="1" indent="-285750">
              <a:lnSpc>
                <a:spcPct val="115000"/>
              </a:lnSpc>
              <a:buFont typeface="Arial" panose="020B0604020202020204" pitchFamily="34" charset="0"/>
              <a:buChar char="•"/>
            </a:pPr>
            <a:endParaRPr lang="en-US" sz="1400" dirty="0"/>
          </a:p>
          <a:p>
            <a:pPr marL="285750" marR="0" indent="-285750">
              <a:lnSpc>
                <a:spcPct val="115000"/>
              </a:lnSpc>
              <a:buFont typeface="Arial" panose="020B0604020202020204" pitchFamily="34" charset="0"/>
              <a:buChar char="•"/>
            </a:pPr>
            <a:r>
              <a:rPr lang="en-US" sz="1400" b="1" dirty="0"/>
              <a:t>Improve Low CTR Performance: </a:t>
            </a:r>
          </a:p>
          <a:p>
            <a:pPr marL="742950" lvl="1" indent="-285750">
              <a:lnSpc>
                <a:spcPct val="115000"/>
              </a:lnSpc>
              <a:buFont typeface="Arial" panose="020B0604020202020204" pitchFamily="34" charset="0"/>
              <a:buChar char="•"/>
            </a:pPr>
            <a:r>
              <a:rPr lang="en-US" sz="1400" dirty="0"/>
              <a:t>Analyze and optimize Meta's budget allocation for PDM campaigns to achieve better efficiency and higher CTR.</a:t>
            </a:r>
          </a:p>
          <a:p>
            <a:pPr marL="742950" lvl="1" indent="-285750">
              <a:lnSpc>
                <a:spcPct val="115000"/>
              </a:lnSpc>
              <a:buFont typeface="Arial" panose="020B0604020202020204" pitchFamily="34" charset="0"/>
              <a:buChar char="•"/>
            </a:pPr>
            <a:endParaRPr lang="en-US" sz="1400" dirty="0"/>
          </a:p>
          <a:p>
            <a:pPr marL="285750" marR="0" indent="-285750">
              <a:lnSpc>
                <a:spcPct val="115000"/>
              </a:lnSpc>
              <a:buFont typeface="Arial" panose="020B0604020202020204" pitchFamily="34" charset="0"/>
              <a:buChar char="•"/>
            </a:pPr>
            <a:r>
              <a:rPr lang="en-US" sz="1400" b="1" dirty="0"/>
              <a:t>Optimize Spend Proportions and Budget Allocation: </a:t>
            </a:r>
          </a:p>
          <a:p>
            <a:pPr marL="742950" lvl="1" indent="-285750">
              <a:lnSpc>
                <a:spcPct val="115000"/>
              </a:lnSpc>
              <a:buFont typeface="Arial" panose="020B0604020202020204" pitchFamily="34" charset="0"/>
              <a:buChar char="•"/>
            </a:pPr>
            <a:r>
              <a:rPr lang="en-US" sz="1400" dirty="0"/>
              <a:t>Increase SEM allocation for consideration while reducing reliance on programmatic for consideration if it continues to underperform.</a:t>
            </a:r>
          </a:p>
          <a:p>
            <a:pPr marL="742950" lvl="1" indent="-285750">
              <a:lnSpc>
                <a:spcPct val="115000"/>
              </a:lnSpc>
              <a:buFont typeface="Arial" panose="020B0604020202020204" pitchFamily="34" charset="0"/>
              <a:buChar char="•"/>
            </a:pPr>
            <a:endParaRPr lang="en-US" sz="1400" dirty="0"/>
          </a:p>
          <a:p>
            <a:pPr marL="285750" marR="0" indent="-285750">
              <a:lnSpc>
                <a:spcPct val="115000"/>
              </a:lnSpc>
              <a:buFont typeface="Arial" panose="020B0604020202020204" pitchFamily="34" charset="0"/>
              <a:buChar char="•"/>
            </a:pPr>
            <a:r>
              <a:rPr lang="en-US" sz="1400" b="1" dirty="0"/>
              <a:t>Continue Monitoring: </a:t>
            </a:r>
          </a:p>
          <a:p>
            <a:pPr marL="742950" lvl="1" indent="-285750">
              <a:lnSpc>
                <a:spcPct val="115000"/>
              </a:lnSpc>
              <a:buFont typeface="Arial" panose="020B0604020202020204" pitchFamily="34" charset="0"/>
              <a:buChar char="•"/>
            </a:pPr>
            <a:r>
              <a:rPr lang="en-US" sz="1400" dirty="0"/>
              <a:t>The bubble size (representing impressions) suggests that certain channels like SEM and Meta may be underfunded in relation to their performance.</a:t>
            </a:r>
          </a:p>
        </p:txBody>
      </p:sp>
      <p:sp>
        <p:nvSpPr>
          <p:cNvPr id="4" name="Title 3">
            <a:extLst>
              <a:ext uri="{FF2B5EF4-FFF2-40B4-BE49-F238E27FC236}">
                <a16:creationId xmlns:a16="http://schemas.microsoft.com/office/drawing/2014/main" id="{DDA72B84-6DA3-F5CF-D680-412B99180F7F}"/>
              </a:ext>
            </a:extLst>
          </p:cNvPr>
          <p:cNvSpPr>
            <a:spLocks noGrp="1"/>
          </p:cNvSpPr>
          <p:nvPr>
            <p:ph type="title"/>
          </p:nvPr>
        </p:nvSpPr>
        <p:spPr/>
        <p:txBody>
          <a:bodyPr/>
          <a:lstStyle/>
          <a:p>
            <a:r>
              <a:rPr lang="en-US" dirty="0"/>
              <a:t>Channels key takeaways</a:t>
            </a:r>
          </a:p>
        </p:txBody>
      </p:sp>
    </p:spTree>
    <p:extLst>
      <p:ext uri="{BB962C8B-B14F-4D97-AF65-F5344CB8AC3E}">
        <p14:creationId xmlns:p14="http://schemas.microsoft.com/office/powerpoint/2010/main" val="223193655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479E8C-BF12-3AEE-4266-775C96D24198}"/>
              </a:ext>
            </a:extLst>
          </p:cNvPr>
          <p:cNvSpPr>
            <a:spLocks noGrp="1"/>
          </p:cNvSpPr>
          <p:nvPr>
            <p:ph type="title"/>
          </p:nvPr>
        </p:nvSpPr>
        <p:spPr/>
        <p:txBody>
          <a:bodyPr/>
          <a:lstStyle/>
          <a:p>
            <a:r>
              <a:rPr lang="en-US"/>
              <a:t>Q&amp;A</a:t>
            </a:r>
          </a:p>
        </p:txBody>
      </p:sp>
    </p:spTree>
    <p:extLst>
      <p:ext uri="{BB962C8B-B14F-4D97-AF65-F5344CB8AC3E}">
        <p14:creationId xmlns:p14="http://schemas.microsoft.com/office/powerpoint/2010/main" val="390667203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DA2C885C-9421-9256-9535-CE0B9204EAE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5B77F0C-77D8-A43C-5079-7E2B5ECAB336}"/>
              </a:ext>
            </a:extLst>
          </p:cNvPr>
          <p:cNvSpPr>
            <a:spLocks noGrp="1"/>
          </p:cNvSpPr>
          <p:nvPr>
            <p:ph type="title"/>
          </p:nvPr>
        </p:nvSpPr>
        <p:spPr/>
        <p:txBody>
          <a:bodyPr/>
          <a:lstStyle/>
          <a:p>
            <a:r>
              <a:rPr lang="en-US" dirty="0"/>
              <a:t>appendix</a:t>
            </a:r>
          </a:p>
        </p:txBody>
      </p:sp>
    </p:spTree>
    <p:extLst>
      <p:ext uri="{BB962C8B-B14F-4D97-AF65-F5344CB8AC3E}">
        <p14:creationId xmlns:p14="http://schemas.microsoft.com/office/powerpoint/2010/main" val="148577272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E1747B-E2BA-ECE5-8117-416882B5DAC4}"/>
              </a:ext>
            </a:extLst>
          </p:cNvPr>
          <p:cNvSpPr>
            <a:spLocks noGrp="1"/>
          </p:cNvSpPr>
          <p:nvPr>
            <p:ph type="title"/>
          </p:nvPr>
        </p:nvSpPr>
        <p:spPr/>
        <p:txBody>
          <a:bodyPr/>
          <a:lstStyle/>
          <a:p>
            <a:r>
              <a:rPr lang="en-US" dirty="0"/>
              <a:t>Spend ceiling estimation process</a:t>
            </a:r>
          </a:p>
        </p:txBody>
      </p:sp>
      <p:pic>
        <p:nvPicPr>
          <p:cNvPr id="1026" name="Picture 2">
            <a:extLst>
              <a:ext uri="{FF2B5EF4-FFF2-40B4-BE49-F238E27FC236}">
                <a16:creationId xmlns:a16="http://schemas.microsoft.com/office/drawing/2014/main" id="{19B870DC-114B-D9A1-934E-981AEBFE017F}"/>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13977"/>
          <a:stretch>
            <a:fillRect/>
          </a:stretch>
        </p:blipFill>
        <p:spPr bwMode="auto">
          <a:xfrm>
            <a:off x="827786" y="1231004"/>
            <a:ext cx="4891668" cy="4114800"/>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8A84505F-241C-FE66-A08B-0AB18EEA9916}"/>
              </a:ext>
            </a:extLst>
          </p:cNvPr>
          <p:cNvSpPr txBox="1"/>
          <p:nvPr/>
        </p:nvSpPr>
        <p:spPr>
          <a:xfrm>
            <a:off x="6266986" y="1028343"/>
            <a:ext cx="5419492" cy="4524315"/>
          </a:xfrm>
          <a:prstGeom prst="rect">
            <a:avLst/>
          </a:prstGeom>
          <a:noFill/>
        </p:spPr>
        <p:txBody>
          <a:bodyPr wrap="square" rtlCol="0">
            <a:spAutoFit/>
          </a:bodyPr>
          <a:lstStyle/>
          <a:p>
            <a:r>
              <a:rPr lang="en-US" dirty="0"/>
              <a:t>This chart is showing how well the model predicts conversions based on how much we spend on Exhibition. The closer to zero on the vertical axis (y-axis), the better the model’s predictions match real results. </a:t>
            </a:r>
          </a:p>
          <a:p>
            <a:endParaRPr lang="en-US" dirty="0"/>
          </a:p>
          <a:p>
            <a:r>
              <a:rPr lang="en-US" dirty="0"/>
              <a:t>The lowest point on the curve is the best value.</a:t>
            </a:r>
          </a:p>
          <a:p>
            <a:endParaRPr lang="en-US" dirty="0"/>
          </a:p>
          <a:p>
            <a:r>
              <a:rPr lang="en-US" dirty="0"/>
              <a:t>A higher </a:t>
            </a:r>
            <a:r>
              <a:rPr lang="en-US" b="1" dirty="0"/>
              <a:t>lambda</a:t>
            </a:r>
            <a:r>
              <a:rPr lang="en-US" dirty="0"/>
              <a:t> means the model thinks extra spending stops being effective more quickly (we get diminishing returns faster).</a:t>
            </a:r>
          </a:p>
          <a:p>
            <a:endParaRPr lang="en-US" dirty="0"/>
          </a:p>
          <a:p>
            <a:r>
              <a:rPr lang="en-US" dirty="0"/>
              <a:t>In this example, choosing a </a:t>
            </a:r>
            <a:r>
              <a:rPr lang="en-US" b="1" dirty="0"/>
              <a:t>lambda</a:t>
            </a:r>
            <a:r>
              <a:rPr lang="en-US" dirty="0"/>
              <a:t> between 4 and 6 gives us the best results when we assume there’s a limit on how much we can spend.</a:t>
            </a:r>
          </a:p>
        </p:txBody>
      </p:sp>
    </p:spTree>
    <p:extLst>
      <p:ext uri="{BB962C8B-B14F-4D97-AF65-F5344CB8AC3E}">
        <p14:creationId xmlns:p14="http://schemas.microsoft.com/office/powerpoint/2010/main" val="3864694362"/>
      </p:ext>
    </p:extLst>
  </p:cSld>
  <p:clrMapOvr>
    <a:masterClrMapping/>
  </p:clrMapOvr>
</p:sld>
</file>

<file path=ppt/theme/theme1.xml><?xml version="1.0" encoding="utf-8"?>
<a:theme xmlns:a="http://schemas.openxmlformats.org/drawingml/2006/main" name="Cineplex">
  <a:themeElements>
    <a:clrScheme name="Custom 1">
      <a:dk1>
        <a:srgbClr val="0857C3"/>
      </a:dk1>
      <a:lt1>
        <a:srgbClr val="FFFFFF"/>
      </a:lt1>
      <a:dk2>
        <a:srgbClr val="000000"/>
      </a:dk2>
      <a:lt2>
        <a:srgbClr val="EFF7F9"/>
      </a:lt2>
      <a:accent1>
        <a:srgbClr val="307FE2"/>
      </a:accent1>
      <a:accent2>
        <a:srgbClr val="002F6C"/>
      </a:accent2>
      <a:accent3>
        <a:srgbClr val="FFD700"/>
      </a:accent3>
      <a:accent4>
        <a:srgbClr val="2F50E1"/>
      </a:accent4>
      <a:accent5>
        <a:srgbClr val="CC2E14"/>
      </a:accent5>
      <a:accent6>
        <a:srgbClr val="0ECC0A"/>
      </a:accent6>
      <a:hlink>
        <a:srgbClr val="F49100"/>
      </a:hlink>
      <a:folHlink>
        <a:srgbClr val="85DFD0"/>
      </a:folHlink>
    </a:clrScheme>
    <a:fontScheme name="Cineplex-Fonts">
      <a:majorFont>
        <a:latin typeface="MarkOT-Ultra"/>
        <a:ea typeface=""/>
        <a:cs typeface=""/>
      </a:majorFont>
      <a:minorFont>
        <a:latin typeface="MarkOT-Medium"/>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Cineplex" id="{7238D277-EAA0-453B-97E4-C7C599D25C85}" vid="{73186C4B-49AF-4F78-9066-B70DD4F91E5E}"/>
    </a:ext>
  </a:extLst>
</a:theme>
</file>

<file path=ppt/theme/theme2.xml><?xml version="1.0" encoding="utf-8"?>
<a:theme xmlns:a="http://schemas.openxmlformats.org/drawingml/2006/main" name="Cineplex-July2021-Master">
  <a:themeElements>
    <a:clrScheme name="Custom 1">
      <a:dk1>
        <a:srgbClr val="0857C3"/>
      </a:dk1>
      <a:lt1>
        <a:srgbClr val="FFFFFF"/>
      </a:lt1>
      <a:dk2>
        <a:srgbClr val="000000"/>
      </a:dk2>
      <a:lt2>
        <a:srgbClr val="EFF7F9"/>
      </a:lt2>
      <a:accent1>
        <a:srgbClr val="307FE2"/>
      </a:accent1>
      <a:accent2>
        <a:srgbClr val="002F6C"/>
      </a:accent2>
      <a:accent3>
        <a:srgbClr val="FFD700"/>
      </a:accent3>
      <a:accent4>
        <a:srgbClr val="2F50E1"/>
      </a:accent4>
      <a:accent5>
        <a:srgbClr val="CC2E14"/>
      </a:accent5>
      <a:accent6>
        <a:srgbClr val="0ECC0A"/>
      </a:accent6>
      <a:hlink>
        <a:srgbClr val="F49100"/>
      </a:hlink>
      <a:folHlink>
        <a:srgbClr val="85DFD0"/>
      </a:folHlink>
    </a:clrScheme>
    <a:fontScheme name="Cineplex-Fonts">
      <a:majorFont>
        <a:latin typeface="MarkOT-Ultra"/>
        <a:ea typeface=""/>
        <a:cs typeface=""/>
      </a:majorFont>
      <a:minorFont>
        <a:latin typeface="MarkOT-Medium"/>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Cineplex-July2021-Master" id="{610D5C34-64E5-444C-A97A-7999D3C4F9A9}" vid="{D512FBF2-EB0F-3246-A950-78A4B7315DE0}"/>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B2693E89D5881D448099A1C25A60F885" ma:contentTypeVersion="19" ma:contentTypeDescription="Create a new document." ma:contentTypeScope="" ma:versionID="05f9ab1cd396484fdc3c50caed31a1dd">
  <xsd:schema xmlns:xsd="http://www.w3.org/2001/XMLSchema" xmlns:xs="http://www.w3.org/2001/XMLSchema" xmlns:p="http://schemas.microsoft.com/office/2006/metadata/properties" xmlns:ns2="6aa31b7e-7481-49ec-8bb1-408cc1f2dd86" xmlns:ns3="460d1c98-09f0-4d10-953e-dd5e4d478daa" targetNamespace="http://schemas.microsoft.com/office/2006/metadata/properties" ma:root="true" ma:fieldsID="7d64b81c6b198d54d61d58975c71448e" ns2:_="" ns3:_="">
    <xsd:import namespace="6aa31b7e-7481-49ec-8bb1-408cc1f2dd86"/>
    <xsd:import namespace="460d1c98-09f0-4d10-953e-dd5e4d478daa"/>
    <xsd:element name="properties">
      <xsd:complexType>
        <xsd:sequence>
          <xsd:element name="documentManagement">
            <xsd:complexType>
              <xsd:all>
                <xsd:element ref="ns2:MediaServiceMetadata" minOccurs="0"/>
                <xsd:element ref="ns2:MediaServiceFastMetadata" minOccurs="0"/>
                <xsd:element ref="ns2:MediaServiceDateTaken" minOccurs="0"/>
                <xsd:element ref="ns2:MediaServiceAutoTags" minOccurs="0"/>
                <xsd:element ref="ns2:MediaServiceOCR" minOccurs="0"/>
                <xsd:element ref="ns2:MediaServiceGenerationTime" minOccurs="0"/>
                <xsd:element ref="ns2:MediaServiceEventHashCode" minOccurs="0"/>
                <xsd:element ref="ns3:SharedWithUsers" minOccurs="0"/>
                <xsd:element ref="ns3:SharedWithDetails" minOccurs="0"/>
                <xsd:element ref="ns2:MediaServiceAutoKeyPoints" minOccurs="0"/>
                <xsd:element ref="ns2:MediaServiceKeyPoints" minOccurs="0"/>
                <xsd:element ref="ns2:MediaLengthInSeconds" minOccurs="0"/>
                <xsd:element ref="ns2:MediaServiceSearchProperties" minOccurs="0"/>
                <xsd:element ref="ns2:lcf76f155ced4ddcb4097134ff3c332f" minOccurs="0"/>
                <xsd:element ref="ns3:TaxCatchAll" minOccurs="0"/>
                <xsd:element ref="ns2:MediaServiceObjectDetectorVersions" minOccurs="0"/>
                <xsd:element ref="ns2:MediaServiceLocation"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6aa31b7e-7481-49ec-8bb1-408cc1f2dd86" elementFormDefault="qualified">
    <xsd:import namespace="http://schemas.microsoft.com/office/2006/documentManagement/types"/>
    <xsd:import namespace="http://schemas.microsoft.com/office/infopath/2007/PartnerControls"/>
    <xsd:element name="MediaServiceMetadata" ma:index="8" nillable="true" ma:displayName="MediaServiceMetadata" ma:description="" ma:hidden="true" ma:internalName="MediaServiceMetadata" ma:readOnly="true">
      <xsd:simpleType>
        <xsd:restriction base="dms:Note"/>
      </xsd:simpleType>
    </xsd:element>
    <xsd:element name="MediaServiceFastMetadata" ma:index="9" nillable="true" ma:displayName="MediaServiceFastMetadata" ma:description="" ma:hidden="true" ma:internalName="MediaServiceFastMetadata" ma:readOnly="true">
      <xsd:simpleType>
        <xsd:restriction base="dms:Note"/>
      </xsd:simpleType>
    </xsd:element>
    <xsd:element name="MediaServiceDateTaken" ma:index="10" nillable="true" ma:displayName="MediaServiceDateTaken" ma:hidden="true" ma:internalName="MediaServiceDateTaken" ma:readOnly="true">
      <xsd:simpleType>
        <xsd:restriction base="dms:Text"/>
      </xsd:simpleType>
    </xsd:element>
    <xsd:element name="MediaServiceAutoTags" ma:index="11" nillable="true" ma:displayName="MediaServiceAutoTags" ma:internalName="MediaServiceAutoTags" ma:readOnly="true">
      <xsd:simpleType>
        <xsd:restriction base="dms:Text"/>
      </xsd:simpleType>
    </xsd:element>
    <xsd:element name="MediaServiceOCR" ma:index="12" nillable="true" ma:displayName="Extracted Text" ma:internalName="MediaServiceOCR" ma:readOnly="true">
      <xsd:simpleType>
        <xsd:restriction base="dms:Note">
          <xsd:maxLength value="255"/>
        </xsd:restriction>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MediaServiceAutoKeyPoints" ma:index="17" nillable="true" ma:displayName="MediaServiceAutoKeyPoints" ma:hidden="true" ma:internalName="MediaServiceAutoKeyPoints" ma:readOnly="true">
      <xsd:simpleType>
        <xsd:restriction base="dms:Note"/>
      </xsd:simpleType>
    </xsd:element>
    <xsd:element name="MediaServiceKeyPoints" ma:index="18" nillable="true" ma:displayName="KeyPoints" ma:internalName="MediaServiceKeyPoints" ma:readOnly="true">
      <xsd:simpleType>
        <xsd:restriction base="dms:Note">
          <xsd:maxLength value="255"/>
        </xsd:restriction>
      </xsd:simpleType>
    </xsd:element>
    <xsd:element name="MediaLengthInSeconds" ma:index="19" nillable="true" ma:displayName="Length (seconds)" ma:internalName="MediaLengthInSeconds" ma:readOnly="true">
      <xsd:simpleType>
        <xsd:restriction base="dms:Unknown"/>
      </xsd:simpleType>
    </xsd:element>
    <xsd:element name="MediaServiceSearchProperties" ma:index="20" nillable="true" ma:displayName="MediaServiceSearchProperties" ma:hidden="true" ma:internalName="MediaServiceSearchProperties" ma:readOnly="true">
      <xsd:simpleType>
        <xsd:restriction base="dms:Note"/>
      </xsd:simpleType>
    </xsd:element>
    <xsd:element name="lcf76f155ced4ddcb4097134ff3c332f" ma:index="22" nillable="true" ma:taxonomy="true" ma:internalName="lcf76f155ced4ddcb4097134ff3c332f" ma:taxonomyFieldName="MediaServiceImageTags" ma:displayName="Image Tags" ma:readOnly="false" ma:fieldId="{5cf76f15-5ced-4ddc-b409-7134ff3c332f}" ma:taxonomyMulti="true" ma:sspId="22bf20f3-1dad-4cf2-8a60-565a4b6c0a6c"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4" nillable="true" ma:displayName="MediaServiceObjectDetectorVersions" ma:hidden="true" ma:indexed="true" ma:internalName="MediaServiceObjectDetectorVersions" ma:readOnly="true">
      <xsd:simpleType>
        <xsd:restriction base="dms:Text"/>
      </xsd:simpleType>
    </xsd:element>
    <xsd:element name="MediaServiceLocation" ma:index="25" nillable="true" ma:displayName="Location" ma:indexed="true" ma:internalName="MediaServiceLocation" ma:readOnly="true">
      <xsd:simpleType>
        <xsd:restriction base="dms:Text"/>
      </xsd:simpleType>
    </xsd:element>
    <xsd:element name="MediaServiceBillingMetadata" ma:index="26"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460d1c98-09f0-4d10-953e-dd5e4d478daa" elementFormDefault="qualified">
    <xsd:import namespace="http://schemas.microsoft.com/office/2006/documentManagement/types"/>
    <xsd:import namespace="http://schemas.microsoft.com/office/infopath/2007/PartnerControls"/>
    <xsd:element name="SharedWithUsers" ma:index="15"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6" nillable="true" ma:displayName="Shared With Details" ma:internalName="SharedWithDetails" ma:readOnly="true">
      <xsd:simpleType>
        <xsd:restriction base="dms:Note">
          <xsd:maxLength value="255"/>
        </xsd:restriction>
      </xsd:simpleType>
    </xsd:element>
    <xsd:element name="TaxCatchAll" ma:index="23" nillable="true" ma:displayName="Taxonomy Catch All Column" ma:hidden="true" ma:list="{08242431-b9eb-46b4-8cbc-5028fbca96aa}" ma:internalName="TaxCatchAll" ma:showField="CatchAllData" ma:web="460d1c98-09f0-4d10-953e-dd5e4d478daa">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TaxCatchAll xmlns="460d1c98-09f0-4d10-953e-dd5e4d478daa" xsi:nil="true"/>
    <lcf76f155ced4ddcb4097134ff3c332f xmlns="6aa31b7e-7481-49ec-8bb1-408cc1f2dd86">
      <Terms xmlns="http://schemas.microsoft.com/office/infopath/2007/PartnerControls"/>
    </lcf76f155ced4ddcb4097134ff3c332f>
  </documentManagement>
</p:properties>
</file>

<file path=customXml/itemProps1.xml><?xml version="1.0" encoding="utf-8"?>
<ds:datastoreItem xmlns:ds="http://schemas.openxmlformats.org/officeDocument/2006/customXml" ds:itemID="{0049F394-B741-4B9F-8522-A693E28938CA}">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6aa31b7e-7481-49ec-8bb1-408cc1f2dd86"/>
    <ds:schemaRef ds:uri="460d1c98-09f0-4d10-953e-dd5e4d478daa"/>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AD081BA1-20D3-41FB-866F-148985B14B7E}">
  <ds:schemaRefs>
    <ds:schemaRef ds:uri="http://schemas.microsoft.com/sharepoint/v3/contenttype/forms"/>
  </ds:schemaRefs>
</ds:datastoreItem>
</file>

<file path=customXml/itemProps3.xml><?xml version="1.0" encoding="utf-8"?>
<ds:datastoreItem xmlns:ds="http://schemas.openxmlformats.org/officeDocument/2006/customXml" ds:itemID="{C395EE25-433B-4DCB-921B-438E1F2DEC00}">
  <ds:schemaRefs>
    <ds:schemaRef ds:uri="http://schemas.microsoft.com/office/2006/documentManagement/types"/>
    <ds:schemaRef ds:uri="6aa31b7e-7481-49ec-8bb1-408cc1f2dd86"/>
    <ds:schemaRef ds:uri="http://purl.org/dc/terms/"/>
    <ds:schemaRef ds:uri="460d1c98-09f0-4d10-953e-dd5e4d478daa"/>
    <ds:schemaRef ds:uri="http://purl.org/dc/elements/1.1/"/>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 ds:uri="http://purl.org/dc/dcmitype/"/>
  </ds:schemaRefs>
</ds:datastoreItem>
</file>

<file path=docProps/app.xml><?xml version="1.0" encoding="utf-8"?>
<Properties xmlns="http://schemas.openxmlformats.org/officeDocument/2006/extended-properties" xmlns:vt="http://schemas.openxmlformats.org/officeDocument/2006/docPropsVTypes">
  <Template>Cineplex</Template>
  <TotalTime>2093</TotalTime>
  <Words>3083</Words>
  <Application>Microsoft Office PowerPoint</Application>
  <PresentationFormat>Widescreen</PresentationFormat>
  <Paragraphs>480</Paragraphs>
  <Slides>34</Slides>
  <Notes>19</Notes>
  <HiddenSlides>2</HiddenSlides>
  <MMClips>0</MMClips>
  <ScaleCrop>false</ScaleCrop>
  <HeadingPairs>
    <vt:vector size="6" baseType="variant">
      <vt:variant>
        <vt:lpstr>Fonts Used</vt:lpstr>
      </vt:variant>
      <vt:variant>
        <vt:i4>9</vt:i4>
      </vt:variant>
      <vt:variant>
        <vt:lpstr>Theme</vt:lpstr>
      </vt:variant>
      <vt:variant>
        <vt:i4>2</vt:i4>
      </vt:variant>
      <vt:variant>
        <vt:lpstr>Slide Titles</vt:lpstr>
      </vt:variant>
      <vt:variant>
        <vt:i4>34</vt:i4>
      </vt:variant>
    </vt:vector>
  </HeadingPairs>
  <TitlesOfParts>
    <vt:vector size="45" baseType="lpstr">
      <vt:lpstr>Aptos</vt:lpstr>
      <vt:lpstr>Aptos Narrow</vt:lpstr>
      <vt:lpstr>Arial</vt:lpstr>
      <vt:lpstr>MarkOT</vt:lpstr>
      <vt:lpstr>MarkOT-CondBlack</vt:lpstr>
      <vt:lpstr>MarkOT-Medium</vt:lpstr>
      <vt:lpstr>MarkOT-Ultra</vt:lpstr>
      <vt:lpstr>Poppins Light</vt:lpstr>
      <vt:lpstr>Poppins SemiBold</vt:lpstr>
      <vt:lpstr>Cineplex</vt:lpstr>
      <vt:lpstr>Cineplex-July2021-Master</vt:lpstr>
      <vt:lpstr>Marketing mix modelling</vt:lpstr>
      <vt:lpstr>Opening scene: the agenda </vt:lpstr>
      <vt:lpstr>Summary OF OUTPUTS</vt:lpstr>
      <vt:lpstr>Scenario analysis methodology</vt:lpstr>
      <vt:lpstr>BUDGET SCENARIO analysis</vt:lpstr>
      <vt:lpstr>BUDGET SCENARIO analysis</vt:lpstr>
      <vt:lpstr>BUDGET SCENARIO analysis</vt:lpstr>
      <vt:lpstr>The Rec room BUDGET SUMMARY</vt:lpstr>
      <vt:lpstr>Playdium BUDGET SUMMARY</vt:lpstr>
      <vt:lpstr>Budget key takeaways </vt:lpstr>
      <vt:lpstr>Lines of business</vt:lpstr>
      <vt:lpstr>lob summary</vt:lpstr>
      <vt:lpstr>LBE Spend by location type vs impressions</vt:lpstr>
      <vt:lpstr>LBE Spend by location type vs clicks</vt:lpstr>
      <vt:lpstr>LBE spend by week vs Transactions</vt:lpstr>
      <vt:lpstr>LBE Spend vs transactions</vt:lpstr>
      <vt:lpstr>granville spend vs clicks</vt:lpstr>
      <vt:lpstr>Royalmount spend vs clicks</vt:lpstr>
      <vt:lpstr>Flighting</vt:lpstr>
      <vt:lpstr>Year-on-year change in revenue by location</vt:lpstr>
      <vt:lpstr>Strategic Key Takeaways </vt:lpstr>
      <vt:lpstr>Channels</vt:lpstr>
      <vt:lpstr>Channels summary</vt:lpstr>
      <vt:lpstr>The Rec room Spend by channel vs impressions</vt:lpstr>
      <vt:lpstr>The Rec room Spend by channel vs clicks</vt:lpstr>
      <vt:lpstr>Playdium Spend by channel vs impressions</vt:lpstr>
      <vt:lpstr>Playdium Spend by channel vs clicks</vt:lpstr>
      <vt:lpstr>Lbe Spend by channel vs ctr</vt:lpstr>
      <vt:lpstr>email</vt:lpstr>
      <vt:lpstr>EMAIL USER Journey</vt:lpstr>
      <vt:lpstr>Channels key takeaways</vt:lpstr>
      <vt:lpstr>Q&amp;A</vt:lpstr>
      <vt:lpstr>appendix</vt:lpstr>
      <vt:lpstr>Spend ceiling estimation process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Sameeck Bhatia</dc:creator>
  <cp:lastModifiedBy>Ranjan Mishra</cp:lastModifiedBy>
  <cp:revision>1</cp:revision>
  <dcterms:created xsi:type="dcterms:W3CDTF">2025-07-07T12:50:20Z</dcterms:created>
  <dcterms:modified xsi:type="dcterms:W3CDTF">2026-03-02T18:07:27Z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0x010100B2693E89D5881D448099A1C25A60F885</vt:lpwstr>
  </property>
  <property fmtid="{D5CDD505-2E9C-101B-9397-08002B2CF9AE}" pid="3" name="MediaServiceImageTags">
    <vt:lpwstr/>
  </property>
</Properties>
</file>